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2560320"/>
            <a:ext cx="12188952" cy="7315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822960"/>
            <a:ext cx="10360152" cy="1097280"/>
          </a:xfrm>
          <a:prstGeom prst="rect">
            <a:avLst/>
          </a:prstGeom>
          <a:noFill/>
        </p:spPr>
        <p:txBody>
          <a:bodyPr wrap="square">
            <a:spAutoFit/>
          </a:bodyPr>
          <a:lstStyle/>
          <a:p>
            <a:pPr algn="ctr"/>
            <a:r>
              <a:rPr sz="4200" b="1" i="0">
                <a:solidFill>
                  <a:srgbClr val="FFFFFF"/>
                </a:solidFill>
              </a:rPr>
              <a:t>調査パイプライン</a:t>
            </a:r>
          </a:p>
        </p:txBody>
      </p:sp>
      <p:sp>
        <p:nvSpPr>
          <p:cNvPr id="4" name="TextBox 3"/>
          <p:cNvSpPr txBox="1"/>
          <p:nvPr/>
        </p:nvSpPr>
        <p:spPr>
          <a:xfrm>
            <a:off x="914400" y="1874519"/>
            <a:ext cx="10360152" cy="640080"/>
          </a:xfrm>
          <a:prstGeom prst="rect">
            <a:avLst/>
          </a:prstGeom>
          <a:noFill/>
        </p:spPr>
        <p:txBody>
          <a:bodyPr wrap="square">
            <a:spAutoFit/>
          </a:bodyPr>
          <a:lstStyle/>
          <a:p>
            <a:pPr algn="ctr"/>
            <a:r>
              <a:rPr sz="2000" b="0" i="0">
                <a:solidFill>
                  <a:srgbClr val="2E86AB"/>
                </a:solidFill>
              </a:rPr>
              <a:t>マルチエージェント可観測性システム — 技術ドキュメント</a:t>
            </a:r>
          </a:p>
        </p:txBody>
      </p:sp>
      <p:sp>
        <p:nvSpPr>
          <p:cNvPr id="5" name="Rounded Rectangle 4"/>
          <p:cNvSpPr/>
          <p:nvPr/>
        </p:nvSpPr>
        <p:spPr>
          <a:xfrm>
            <a:off x="914400" y="2926080"/>
            <a:ext cx="1920240" cy="822960"/>
          </a:xfrm>
          <a:prstGeom prst="roundRect">
            <a:avLst/>
          </a:prstGeom>
          <a:solidFill>
            <a:srgbClr val="1A355E"/>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944368"/>
            <a:ext cx="1920240" cy="347472"/>
          </a:xfrm>
          <a:prstGeom prst="rect">
            <a:avLst/>
          </a:prstGeom>
          <a:noFill/>
        </p:spPr>
        <p:txBody>
          <a:bodyPr wrap="square">
            <a:spAutoFit/>
          </a:bodyPr>
          <a:lstStyle/>
          <a:p>
            <a:pPr algn="ctr"/>
            <a:r>
              <a:rPr sz="1600" b="1" i="0">
                <a:solidFill>
                  <a:srgbClr val="F39C12"/>
                </a:solidFill>
              </a:rPr>
              <a:t>1</a:t>
            </a:r>
          </a:p>
        </p:txBody>
      </p:sp>
      <p:sp>
        <p:nvSpPr>
          <p:cNvPr id="7" name="TextBox 6"/>
          <p:cNvSpPr txBox="1"/>
          <p:nvPr/>
        </p:nvSpPr>
        <p:spPr>
          <a:xfrm>
            <a:off x="914400" y="3273552"/>
            <a:ext cx="1920240" cy="384048"/>
          </a:xfrm>
          <a:prstGeom prst="rect">
            <a:avLst/>
          </a:prstGeom>
          <a:noFill/>
        </p:spPr>
        <p:txBody>
          <a:bodyPr wrap="square">
            <a:spAutoFit/>
          </a:bodyPr>
          <a:lstStyle/>
          <a:p>
            <a:pPr algn="ctr"/>
            <a:r>
              <a:rPr sz="1100" b="0" i="0">
                <a:solidFill>
                  <a:srgbClr val="FFFFFF"/>
                </a:solidFill>
              </a:rPr>
              <a:t>正規化</a:t>
            </a:r>
          </a:p>
        </p:txBody>
      </p:sp>
      <p:sp>
        <p:nvSpPr>
          <p:cNvPr id="8" name="TextBox 7"/>
          <p:cNvSpPr txBox="1"/>
          <p:nvPr/>
        </p:nvSpPr>
        <p:spPr>
          <a:xfrm>
            <a:off x="2834640" y="3200400"/>
            <a:ext cx="182880" cy="274320"/>
          </a:xfrm>
          <a:prstGeom prst="rect">
            <a:avLst/>
          </a:prstGeom>
          <a:noFill/>
        </p:spPr>
        <p:txBody>
          <a:bodyPr wrap="square">
            <a:spAutoFit/>
          </a:bodyPr>
          <a:lstStyle/>
          <a:p>
            <a:pPr algn="ctr"/>
            <a:r>
              <a:rPr sz="1800" b="1" i="0">
                <a:solidFill>
                  <a:srgbClr val="2E86AB"/>
                </a:solidFill>
              </a:rPr>
              <a:t>→</a:t>
            </a:r>
          </a:p>
        </p:txBody>
      </p:sp>
      <p:sp>
        <p:nvSpPr>
          <p:cNvPr id="9" name="Rounded Rectangle 8"/>
          <p:cNvSpPr/>
          <p:nvPr/>
        </p:nvSpPr>
        <p:spPr>
          <a:xfrm>
            <a:off x="2990088" y="2926080"/>
            <a:ext cx="1920240" cy="822960"/>
          </a:xfrm>
          <a:prstGeom prst="roundRect">
            <a:avLst/>
          </a:prstGeom>
          <a:solidFill>
            <a:srgbClr val="1A355E"/>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90088" y="2944368"/>
            <a:ext cx="1920240" cy="347472"/>
          </a:xfrm>
          <a:prstGeom prst="rect">
            <a:avLst/>
          </a:prstGeom>
          <a:noFill/>
        </p:spPr>
        <p:txBody>
          <a:bodyPr wrap="square">
            <a:spAutoFit/>
          </a:bodyPr>
          <a:lstStyle/>
          <a:p>
            <a:pPr algn="ctr"/>
            <a:r>
              <a:rPr sz="1600" b="1" i="0">
                <a:solidFill>
                  <a:srgbClr val="F39C12"/>
                </a:solidFill>
              </a:rPr>
              <a:t>2</a:t>
            </a:r>
          </a:p>
        </p:txBody>
      </p:sp>
      <p:sp>
        <p:nvSpPr>
          <p:cNvPr id="11" name="TextBox 10"/>
          <p:cNvSpPr txBox="1"/>
          <p:nvPr/>
        </p:nvSpPr>
        <p:spPr>
          <a:xfrm>
            <a:off x="2990088" y="3273552"/>
            <a:ext cx="1920240" cy="384048"/>
          </a:xfrm>
          <a:prstGeom prst="rect">
            <a:avLst/>
          </a:prstGeom>
          <a:noFill/>
        </p:spPr>
        <p:txBody>
          <a:bodyPr wrap="square">
            <a:spAutoFit/>
          </a:bodyPr>
          <a:lstStyle/>
          <a:p>
            <a:pPr algn="ctr"/>
            <a:r>
              <a:rPr sz="1100" b="0" i="0">
                <a:solidFill>
                  <a:srgbClr val="FFFFFF"/>
                </a:solidFill>
              </a:rPr>
              <a:t>相関分析</a:t>
            </a:r>
          </a:p>
        </p:txBody>
      </p:sp>
      <p:sp>
        <p:nvSpPr>
          <p:cNvPr id="12" name="TextBox 11"/>
          <p:cNvSpPr txBox="1"/>
          <p:nvPr/>
        </p:nvSpPr>
        <p:spPr>
          <a:xfrm>
            <a:off x="4910328" y="3200400"/>
            <a:ext cx="182880" cy="274320"/>
          </a:xfrm>
          <a:prstGeom prst="rect">
            <a:avLst/>
          </a:prstGeom>
          <a:noFill/>
        </p:spPr>
        <p:txBody>
          <a:bodyPr wrap="square">
            <a:spAutoFit/>
          </a:bodyPr>
          <a:lstStyle/>
          <a:p>
            <a:pPr algn="ctr"/>
            <a:r>
              <a:rPr sz="1800" b="1" i="0">
                <a:solidFill>
                  <a:srgbClr val="2E86AB"/>
                </a:solidFill>
              </a:rPr>
              <a:t>→</a:t>
            </a:r>
          </a:p>
        </p:txBody>
      </p:sp>
      <p:sp>
        <p:nvSpPr>
          <p:cNvPr id="13" name="Rounded Rectangle 12"/>
          <p:cNvSpPr/>
          <p:nvPr/>
        </p:nvSpPr>
        <p:spPr>
          <a:xfrm>
            <a:off x="5065776" y="2926080"/>
            <a:ext cx="1920240" cy="822960"/>
          </a:xfrm>
          <a:prstGeom prst="roundRect">
            <a:avLst/>
          </a:prstGeom>
          <a:solidFill>
            <a:srgbClr val="1A355E"/>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65776" y="2944368"/>
            <a:ext cx="1920240" cy="347472"/>
          </a:xfrm>
          <a:prstGeom prst="rect">
            <a:avLst/>
          </a:prstGeom>
          <a:noFill/>
        </p:spPr>
        <p:txBody>
          <a:bodyPr wrap="square">
            <a:spAutoFit/>
          </a:bodyPr>
          <a:lstStyle/>
          <a:p>
            <a:pPr algn="ctr"/>
            <a:r>
              <a:rPr sz="1600" b="1" i="0">
                <a:solidFill>
                  <a:srgbClr val="F39C12"/>
                </a:solidFill>
              </a:rPr>
              <a:t>3</a:t>
            </a:r>
          </a:p>
        </p:txBody>
      </p:sp>
      <p:sp>
        <p:nvSpPr>
          <p:cNvPr id="15" name="TextBox 14"/>
          <p:cNvSpPr txBox="1"/>
          <p:nvPr/>
        </p:nvSpPr>
        <p:spPr>
          <a:xfrm>
            <a:off x="5065776" y="3273552"/>
            <a:ext cx="1920240" cy="384048"/>
          </a:xfrm>
          <a:prstGeom prst="rect">
            <a:avLst/>
          </a:prstGeom>
          <a:noFill/>
        </p:spPr>
        <p:txBody>
          <a:bodyPr wrap="square">
            <a:spAutoFit/>
          </a:bodyPr>
          <a:lstStyle/>
          <a:p>
            <a:pPr algn="ctr"/>
            <a:r>
              <a:rPr sz="1100" b="0" i="0">
                <a:solidFill>
                  <a:srgbClr val="FFFFFF"/>
                </a:solidFill>
              </a:rPr>
              <a:t>エラー分析</a:t>
            </a:r>
          </a:p>
        </p:txBody>
      </p:sp>
      <p:sp>
        <p:nvSpPr>
          <p:cNvPr id="16" name="TextBox 15"/>
          <p:cNvSpPr txBox="1"/>
          <p:nvPr/>
        </p:nvSpPr>
        <p:spPr>
          <a:xfrm>
            <a:off x="6986016" y="3200400"/>
            <a:ext cx="182880" cy="274320"/>
          </a:xfrm>
          <a:prstGeom prst="rect">
            <a:avLst/>
          </a:prstGeom>
          <a:noFill/>
        </p:spPr>
        <p:txBody>
          <a:bodyPr wrap="square">
            <a:spAutoFit/>
          </a:bodyPr>
          <a:lstStyle/>
          <a:p>
            <a:pPr algn="ctr"/>
            <a:r>
              <a:rPr sz="1800" b="1" i="0">
                <a:solidFill>
                  <a:srgbClr val="2E86AB"/>
                </a:solidFill>
              </a:rPr>
              <a:t>→</a:t>
            </a:r>
          </a:p>
        </p:txBody>
      </p:sp>
      <p:sp>
        <p:nvSpPr>
          <p:cNvPr id="17" name="Rounded Rectangle 16"/>
          <p:cNvSpPr/>
          <p:nvPr/>
        </p:nvSpPr>
        <p:spPr>
          <a:xfrm>
            <a:off x="7141464" y="2926080"/>
            <a:ext cx="1920240" cy="822960"/>
          </a:xfrm>
          <a:prstGeom prst="roundRect">
            <a:avLst/>
          </a:prstGeom>
          <a:solidFill>
            <a:srgbClr val="1A355E"/>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41464" y="2944368"/>
            <a:ext cx="1920240" cy="347472"/>
          </a:xfrm>
          <a:prstGeom prst="rect">
            <a:avLst/>
          </a:prstGeom>
          <a:noFill/>
        </p:spPr>
        <p:txBody>
          <a:bodyPr wrap="square">
            <a:spAutoFit/>
          </a:bodyPr>
          <a:lstStyle/>
          <a:p>
            <a:pPr algn="ctr"/>
            <a:r>
              <a:rPr sz="1600" b="1" i="0">
                <a:solidFill>
                  <a:srgbClr val="F39C12"/>
                </a:solidFill>
              </a:rPr>
              <a:t>4</a:t>
            </a:r>
          </a:p>
        </p:txBody>
      </p:sp>
      <p:sp>
        <p:nvSpPr>
          <p:cNvPr id="19" name="TextBox 18"/>
          <p:cNvSpPr txBox="1"/>
          <p:nvPr/>
        </p:nvSpPr>
        <p:spPr>
          <a:xfrm>
            <a:off x="7141464" y="3273552"/>
            <a:ext cx="1920240" cy="384048"/>
          </a:xfrm>
          <a:prstGeom prst="rect">
            <a:avLst/>
          </a:prstGeom>
          <a:noFill/>
        </p:spPr>
        <p:txBody>
          <a:bodyPr wrap="square">
            <a:spAutoFit/>
          </a:bodyPr>
          <a:lstStyle/>
          <a:p>
            <a:pPr algn="ctr"/>
            <a:r>
              <a:rPr sz="1100" b="0" i="0">
                <a:solidFill>
                  <a:srgbClr val="FFFFFF"/>
                </a:solidFill>
              </a:rPr>
              <a:t>根本原因分析</a:t>
            </a:r>
          </a:p>
        </p:txBody>
      </p:sp>
      <p:sp>
        <p:nvSpPr>
          <p:cNvPr id="20" name="TextBox 19"/>
          <p:cNvSpPr txBox="1"/>
          <p:nvPr/>
        </p:nvSpPr>
        <p:spPr>
          <a:xfrm>
            <a:off x="9061704" y="3200400"/>
            <a:ext cx="182880" cy="274320"/>
          </a:xfrm>
          <a:prstGeom prst="rect">
            <a:avLst/>
          </a:prstGeom>
          <a:noFill/>
        </p:spPr>
        <p:txBody>
          <a:bodyPr wrap="square">
            <a:spAutoFit/>
          </a:bodyPr>
          <a:lstStyle/>
          <a:p>
            <a:pPr algn="ctr"/>
            <a:r>
              <a:rPr sz="1800" b="1" i="0">
                <a:solidFill>
                  <a:srgbClr val="2E86AB"/>
                </a:solidFill>
              </a:rPr>
              <a:t>→</a:t>
            </a:r>
          </a:p>
        </p:txBody>
      </p:sp>
      <p:sp>
        <p:nvSpPr>
          <p:cNvPr id="21" name="Rounded Rectangle 20"/>
          <p:cNvSpPr/>
          <p:nvPr/>
        </p:nvSpPr>
        <p:spPr>
          <a:xfrm>
            <a:off x="9217152" y="2926080"/>
            <a:ext cx="1920240" cy="822960"/>
          </a:xfrm>
          <a:prstGeom prst="roundRect">
            <a:avLst/>
          </a:prstGeom>
          <a:solidFill>
            <a:srgbClr val="1A355E"/>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17152" y="2944368"/>
            <a:ext cx="1920240" cy="347472"/>
          </a:xfrm>
          <a:prstGeom prst="rect">
            <a:avLst/>
          </a:prstGeom>
          <a:noFill/>
        </p:spPr>
        <p:txBody>
          <a:bodyPr wrap="square">
            <a:spAutoFit/>
          </a:bodyPr>
          <a:lstStyle/>
          <a:p>
            <a:pPr algn="ctr"/>
            <a:r>
              <a:rPr sz="1600" b="1" i="0">
                <a:solidFill>
                  <a:srgbClr val="F39C12"/>
                </a:solidFill>
              </a:rPr>
              <a:t>5</a:t>
            </a:r>
          </a:p>
        </p:txBody>
      </p:sp>
      <p:sp>
        <p:nvSpPr>
          <p:cNvPr id="23" name="TextBox 22"/>
          <p:cNvSpPr txBox="1"/>
          <p:nvPr/>
        </p:nvSpPr>
        <p:spPr>
          <a:xfrm>
            <a:off x="9217152" y="3273552"/>
            <a:ext cx="1920240" cy="384048"/>
          </a:xfrm>
          <a:prstGeom prst="rect">
            <a:avLst/>
          </a:prstGeom>
          <a:noFill/>
        </p:spPr>
        <p:txBody>
          <a:bodyPr wrap="square">
            <a:spAutoFit/>
          </a:bodyPr>
          <a:lstStyle/>
          <a:p>
            <a:pPr algn="ctr"/>
            <a:r>
              <a:rPr sz="1100" b="0" i="0">
                <a:solidFill>
                  <a:srgbClr val="FFFFFF"/>
                </a:solidFill>
              </a:rPr>
              <a:t>推奨</a:t>
            </a:r>
          </a:p>
        </p:txBody>
      </p:sp>
      <p:sp>
        <p:nvSpPr>
          <p:cNvPr id="24" name="TextBox 23"/>
          <p:cNvSpPr txBox="1"/>
          <p:nvPr/>
        </p:nvSpPr>
        <p:spPr>
          <a:xfrm>
            <a:off x="914400" y="3977639"/>
            <a:ext cx="10360152" cy="365760"/>
          </a:xfrm>
          <a:prstGeom prst="rect">
            <a:avLst/>
          </a:prstGeom>
          <a:noFill/>
        </p:spPr>
        <p:txBody>
          <a:bodyPr wrap="square">
            <a:spAutoFit/>
          </a:bodyPr>
          <a:lstStyle/>
          <a:p>
            <a:pPr algn="ctr"/>
            <a:r>
              <a:rPr sz="1300" b="0" i="0">
                <a:solidFill>
                  <a:srgbClr val="CCD6E0"/>
                </a:solidFill>
              </a:rPr>
              <a:t>Langfuse  ·  Prometheus  ·  GPT-4o  ·  Pydantic  ·  FastAPI</a:t>
            </a:r>
          </a:p>
        </p:txBody>
      </p:sp>
      <p:sp>
        <p:nvSpPr>
          <p:cNvPr id="25" name="TextBox 24"/>
          <p:cNvSpPr txBox="1"/>
          <p:nvPr/>
        </p:nvSpPr>
        <p:spPr>
          <a:xfrm>
            <a:off x="457200" y="6309360"/>
            <a:ext cx="11274552" cy="320040"/>
          </a:xfrm>
          <a:prstGeom prst="rect">
            <a:avLst/>
          </a:prstGeom>
          <a:noFill/>
        </p:spPr>
        <p:txBody>
          <a:bodyPr wrap="square">
            <a:spAutoFit/>
          </a:bodyPr>
          <a:lstStyle/>
          <a:p>
            <a:pPr algn="ctr"/>
            <a:r>
              <a:rPr sz="1000" b="0" i="1">
                <a:solidFill>
                  <a:srgbClr val="CCD6E0"/>
                </a:solidFill>
              </a:rPr>
              <a:t>Prodapt  ·  AI可観測性チーム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685800"/>
          </a:xfrm>
          <a:prstGeom prst="rect">
            <a:avLst/>
          </a:prstGeom>
          <a:solidFill>
            <a:srgbClr val="1A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502920"/>
          </a:xfrm>
          <a:prstGeom prst="rect">
            <a:avLst/>
          </a:prstGeom>
          <a:noFill/>
        </p:spPr>
        <p:txBody>
          <a:bodyPr wrap="square">
            <a:spAutoFit/>
          </a:bodyPr>
          <a:lstStyle/>
          <a:p>
            <a:pPr algn="l"/>
            <a:r>
              <a:rPr sz="2000" b="1" i="0">
                <a:solidFill>
                  <a:srgbClr val="2E86AB"/>
                </a:solidFill>
              </a:rPr>
              <a:t>アジェンダ</a:t>
            </a:r>
          </a:p>
        </p:txBody>
      </p:sp>
      <p:sp>
        <p:nvSpPr>
          <p:cNvPr id="4" name="Rectangle 3"/>
          <p:cNvSpPr/>
          <p:nvPr/>
        </p:nvSpPr>
        <p:spPr>
          <a:xfrm>
            <a:off x="365760" y="960120"/>
            <a:ext cx="457200" cy="475488"/>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033272"/>
            <a:ext cx="457200" cy="320040"/>
          </a:xfrm>
          <a:prstGeom prst="rect">
            <a:avLst/>
          </a:prstGeom>
          <a:noFill/>
        </p:spPr>
        <p:txBody>
          <a:bodyPr wrap="square">
            <a:spAutoFit/>
          </a:bodyPr>
          <a:lstStyle/>
          <a:p>
            <a:pPr algn="ctr"/>
            <a:r>
              <a:rPr sz="1100" b="1" i="0">
                <a:solidFill>
                  <a:srgbClr val="FFFFFF"/>
                </a:solidFill>
              </a:rPr>
              <a:t>01</a:t>
            </a:r>
          </a:p>
        </p:txBody>
      </p:sp>
      <p:sp>
        <p:nvSpPr>
          <p:cNvPr id="6" name="Rectangle 5"/>
          <p:cNvSpPr/>
          <p:nvPr/>
        </p:nvSpPr>
        <p:spPr>
          <a:xfrm>
            <a:off x="822960" y="960120"/>
            <a:ext cx="10881360" cy="475488"/>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996696"/>
            <a:ext cx="3474720" cy="237744"/>
          </a:xfrm>
          <a:prstGeom prst="rect">
            <a:avLst/>
          </a:prstGeom>
          <a:noFill/>
        </p:spPr>
        <p:txBody>
          <a:bodyPr wrap="square">
            <a:spAutoFit/>
          </a:bodyPr>
          <a:lstStyle/>
          <a:p>
            <a:pPr algn="l"/>
            <a:r>
              <a:rPr sz="1200" b="1" i="0">
                <a:solidFill>
                  <a:srgbClr val="FFFFFF"/>
                </a:solidFill>
              </a:rPr>
              <a:t>システム概要</a:t>
            </a:r>
          </a:p>
        </p:txBody>
      </p:sp>
      <p:sp>
        <p:nvSpPr>
          <p:cNvPr id="8" name="TextBox 7"/>
          <p:cNvSpPr txBox="1"/>
          <p:nvPr/>
        </p:nvSpPr>
        <p:spPr>
          <a:xfrm>
            <a:off x="960120" y="1216152"/>
            <a:ext cx="10058400" cy="201168"/>
          </a:xfrm>
          <a:prstGeom prst="rect">
            <a:avLst/>
          </a:prstGeom>
          <a:noFill/>
        </p:spPr>
        <p:txBody>
          <a:bodyPr wrap="square">
            <a:spAutoFit/>
          </a:bodyPr>
          <a:lstStyle/>
          <a:p>
            <a:pPr algn="l"/>
            <a:r>
              <a:rPr sz="950" b="0" i="0">
                <a:solidFill>
                  <a:srgbClr val="CCD6E0"/>
                </a:solidFill>
              </a:rPr>
              <a:t>アーキテクチャ、主要原則、技術スタック</a:t>
            </a:r>
          </a:p>
        </p:txBody>
      </p:sp>
      <p:sp>
        <p:nvSpPr>
          <p:cNvPr id="9" name="Rectangle 8"/>
          <p:cNvSpPr/>
          <p:nvPr/>
        </p:nvSpPr>
        <p:spPr>
          <a:xfrm>
            <a:off x="365760" y="1508760"/>
            <a:ext cx="457200" cy="475488"/>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81912"/>
            <a:ext cx="457200" cy="320040"/>
          </a:xfrm>
          <a:prstGeom prst="rect">
            <a:avLst/>
          </a:prstGeom>
          <a:noFill/>
        </p:spPr>
        <p:txBody>
          <a:bodyPr wrap="square">
            <a:spAutoFit/>
          </a:bodyPr>
          <a:lstStyle/>
          <a:p>
            <a:pPr algn="ctr"/>
            <a:r>
              <a:rPr sz="1100" b="1" i="0">
                <a:solidFill>
                  <a:srgbClr val="FFFFFF"/>
                </a:solidFill>
              </a:rPr>
              <a:t>02</a:t>
            </a:r>
          </a:p>
        </p:txBody>
      </p:sp>
      <p:sp>
        <p:nvSpPr>
          <p:cNvPr id="11" name="Rectangle 10"/>
          <p:cNvSpPr/>
          <p:nvPr/>
        </p:nvSpPr>
        <p:spPr>
          <a:xfrm>
            <a:off x="822960" y="1508760"/>
            <a:ext cx="10881360" cy="475488"/>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545336"/>
            <a:ext cx="3474720" cy="237744"/>
          </a:xfrm>
          <a:prstGeom prst="rect">
            <a:avLst/>
          </a:prstGeom>
          <a:noFill/>
        </p:spPr>
        <p:txBody>
          <a:bodyPr wrap="square">
            <a:spAutoFit/>
          </a:bodyPr>
          <a:lstStyle/>
          <a:p>
            <a:pPr algn="l"/>
            <a:r>
              <a:rPr sz="1200" b="1" i="0">
                <a:solidFill>
                  <a:srgbClr val="FFFFFF"/>
                </a:solidFill>
              </a:rPr>
              <a:t>データソース</a:t>
            </a:r>
          </a:p>
        </p:txBody>
      </p:sp>
      <p:sp>
        <p:nvSpPr>
          <p:cNvPr id="13" name="TextBox 12"/>
          <p:cNvSpPr txBox="1"/>
          <p:nvPr/>
        </p:nvSpPr>
        <p:spPr>
          <a:xfrm>
            <a:off x="960120" y="1764792"/>
            <a:ext cx="10058400" cy="201168"/>
          </a:xfrm>
          <a:prstGeom prst="rect">
            <a:avLst/>
          </a:prstGeom>
          <a:noFill/>
        </p:spPr>
        <p:txBody>
          <a:bodyPr wrap="square">
            <a:spAutoFit/>
          </a:bodyPr>
          <a:lstStyle/>
          <a:p>
            <a:pPr algn="l"/>
            <a:r>
              <a:rPr sz="950" b="0" i="0">
                <a:solidFill>
                  <a:srgbClr val="CCD6E0"/>
                </a:solidFill>
              </a:rPr>
              <a:t>Langfuse（AIトレース）とPrometheus（インフラメトリクス）</a:t>
            </a:r>
          </a:p>
        </p:txBody>
      </p:sp>
      <p:sp>
        <p:nvSpPr>
          <p:cNvPr id="14" name="Rectangle 13"/>
          <p:cNvSpPr/>
          <p:nvPr/>
        </p:nvSpPr>
        <p:spPr>
          <a:xfrm>
            <a:off x="365760" y="2057400"/>
            <a:ext cx="457200" cy="475488"/>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2130552"/>
            <a:ext cx="457200" cy="320040"/>
          </a:xfrm>
          <a:prstGeom prst="rect">
            <a:avLst/>
          </a:prstGeom>
          <a:noFill/>
        </p:spPr>
        <p:txBody>
          <a:bodyPr wrap="square">
            <a:spAutoFit/>
          </a:bodyPr>
          <a:lstStyle/>
          <a:p>
            <a:pPr algn="ctr"/>
            <a:r>
              <a:rPr sz="1100" b="1" i="0">
                <a:solidFill>
                  <a:srgbClr val="FFFFFF"/>
                </a:solidFill>
              </a:rPr>
              <a:t>03</a:t>
            </a:r>
          </a:p>
        </p:txBody>
      </p:sp>
      <p:sp>
        <p:nvSpPr>
          <p:cNvPr id="16" name="Rectangle 15"/>
          <p:cNvSpPr/>
          <p:nvPr/>
        </p:nvSpPr>
        <p:spPr>
          <a:xfrm>
            <a:off x="822960" y="2057400"/>
            <a:ext cx="10881360" cy="475488"/>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2093976"/>
            <a:ext cx="3474720" cy="237744"/>
          </a:xfrm>
          <a:prstGeom prst="rect">
            <a:avLst/>
          </a:prstGeom>
          <a:noFill/>
        </p:spPr>
        <p:txBody>
          <a:bodyPr wrap="square">
            <a:spAutoFit/>
          </a:bodyPr>
          <a:lstStyle/>
          <a:p>
            <a:pPr algn="l"/>
            <a:r>
              <a:rPr sz="1200" b="1" i="0">
                <a:solidFill>
                  <a:srgbClr val="FFFFFF"/>
                </a:solidFill>
              </a:rPr>
              <a:t>エージェント1 — 正規化</a:t>
            </a:r>
          </a:p>
        </p:txBody>
      </p:sp>
      <p:sp>
        <p:nvSpPr>
          <p:cNvPr id="18" name="TextBox 17"/>
          <p:cNvSpPr txBox="1"/>
          <p:nvPr/>
        </p:nvSpPr>
        <p:spPr>
          <a:xfrm>
            <a:off x="960120" y="2313432"/>
            <a:ext cx="10058400" cy="201168"/>
          </a:xfrm>
          <a:prstGeom prst="rect">
            <a:avLst/>
          </a:prstGeom>
          <a:noFill/>
        </p:spPr>
        <p:txBody>
          <a:bodyPr wrap="square">
            <a:spAutoFit/>
          </a:bodyPr>
          <a:lstStyle/>
          <a:p>
            <a:pPr algn="l"/>
            <a:r>
              <a:rPr sz="950" b="0" i="0">
                <a:solidFill>
                  <a:srgbClr val="CCD6E0"/>
                </a:solidFill>
              </a:rPr>
              <a:t>生ログ取り込み、エラー分類、NO_ERROR短絡処理</a:t>
            </a:r>
          </a:p>
        </p:txBody>
      </p:sp>
      <p:sp>
        <p:nvSpPr>
          <p:cNvPr id="19" name="Rectangle 18"/>
          <p:cNvSpPr/>
          <p:nvPr/>
        </p:nvSpPr>
        <p:spPr>
          <a:xfrm>
            <a:off x="365760" y="2606040"/>
            <a:ext cx="457200" cy="475488"/>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2679192"/>
            <a:ext cx="457200" cy="320040"/>
          </a:xfrm>
          <a:prstGeom prst="rect">
            <a:avLst/>
          </a:prstGeom>
          <a:noFill/>
        </p:spPr>
        <p:txBody>
          <a:bodyPr wrap="square">
            <a:spAutoFit/>
          </a:bodyPr>
          <a:lstStyle/>
          <a:p>
            <a:pPr algn="ctr"/>
            <a:r>
              <a:rPr sz="1100" b="1" i="0">
                <a:solidFill>
                  <a:srgbClr val="FFFFFF"/>
                </a:solidFill>
              </a:rPr>
              <a:t>04</a:t>
            </a:r>
          </a:p>
        </p:txBody>
      </p:sp>
      <p:sp>
        <p:nvSpPr>
          <p:cNvPr id="21" name="Rectangle 20"/>
          <p:cNvSpPr/>
          <p:nvPr/>
        </p:nvSpPr>
        <p:spPr>
          <a:xfrm>
            <a:off x="822960" y="2606040"/>
            <a:ext cx="10881360" cy="475488"/>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2642616"/>
            <a:ext cx="3474720" cy="237744"/>
          </a:xfrm>
          <a:prstGeom prst="rect">
            <a:avLst/>
          </a:prstGeom>
          <a:noFill/>
        </p:spPr>
        <p:txBody>
          <a:bodyPr wrap="square">
            <a:spAutoFit/>
          </a:bodyPr>
          <a:lstStyle/>
          <a:p>
            <a:pPr algn="l"/>
            <a:r>
              <a:rPr sz="1200" b="1" i="0">
                <a:solidFill>
                  <a:srgbClr val="FFFFFF"/>
                </a:solidFill>
              </a:rPr>
              <a:t>エージェント2 — 相関分析</a:t>
            </a:r>
          </a:p>
        </p:txBody>
      </p:sp>
      <p:sp>
        <p:nvSpPr>
          <p:cNvPr id="23" name="TextBox 22"/>
          <p:cNvSpPr txBox="1"/>
          <p:nvPr/>
        </p:nvSpPr>
        <p:spPr>
          <a:xfrm>
            <a:off x="960120" y="2862072"/>
            <a:ext cx="10058400" cy="201168"/>
          </a:xfrm>
          <a:prstGeom prst="rect">
            <a:avLst/>
          </a:prstGeom>
          <a:noFill/>
        </p:spPr>
        <p:txBody>
          <a:bodyPr wrap="square">
            <a:spAutoFit/>
          </a:bodyPr>
          <a:lstStyle/>
          <a:p>
            <a:pPr algn="l"/>
            <a:r>
              <a:rPr sz="950" b="0" i="0">
                <a:solidFill>
                  <a:srgbClr val="CCD6E0"/>
                </a:solidFill>
              </a:rPr>
              <a:t>クロスシステム因果グラフ、analysis_targetルーティング</a:t>
            </a:r>
          </a:p>
        </p:txBody>
      </p:sp>
      <p:sp>
        <p:nvSpPr>
          <p:cNvPr id="24" name="Rectangle 23"/>
          <p:cNvSpPr/>
          <p:nvPr/>
        </p:nvSpPr>
        <p:spPr>
          <a:xfrm>
            <a:off x="365760" y="3154680"/>
            <a:ext cx="457200" cy="475488"/>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3227832"/>
            <a:ext cx="457200" cy="320040"/>
          </a:xfrm>
          <a:prstGeom prst="rect">
            <a:avLst/>
          </a:prstGeom>
          <a:noFill/>
        </p:spPr>
        <p:txBody>
          <a:bodyPr wrap="square">
            <a:spAutoFit/>
          </a:bodyPr>
          <a:lstStyle/>
          <a:p>
            <a:pPr algn="ctr"/>
            <a:r>
              <a:rPr sz="1100" b="1" i="0">
                <a:solidFill>
                  <a:srgbClr val="FFFFFF"/>
                </a:solidFill>
              </a:rPr>
              <a:t>05</a:t>
            </a:r>
          </a:p>
        </p:txBody>
      </p:sp>
      <p:sp>
        <p:nvSpPr>
          <p:cNvPr id="26" name="Rectangle 25"/>
          <p:cNvSpPr/>
          <p:nvPr/>
        </p:nvSpPr>
        <p:spPr>
          <a:xfrm>
            <a:off x="822960" y="3154680"/>
            <a:ext cx="10881360" cy="475488"/>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20" y="3191256"/>
            <a:ext cx="3474720" cy="237744"/>
          </a:xfrm>
          <a:prstGeom prst="rect">
            <a:avLst/>
          </a:prstGeom>
          <a:noFill/>
        </p:spPr>
        <p:txBody>
          <a:bodyPr wrap="square">
            <a:spAutoFit/>
          </a:bodyPr>
          <a:lstStyle/>
          <a:p>
            <a:pPr algn="l"/>
            <a:r>
              <a:rPr sz="1200" b="1" i="0">
                <a:solidFill>
                  <a:srgbClr val="FFFFFF"/>
                </a:solidFill>
              </a:rPr>
              <a:t>エージェント3 — エラー分析</a:t>
            </a:r>
          </a:p>
        </p:txBody>
      </p:sp>
      <p:sp>
        <p:nvSpPr>
          <p:cNvPr id="28" name="TextBox 27"/>
          <p:cNvSpPr txBox="1"/>
          <p:nvPr/>
        </p:nvSpPr>
        <p:spPr>
          <a:xfrm>
            <a:off x="960120" y="3410712"/>
            <a:ext cx="10058400" cy="201168"/>
          </a:xfrm>
          <a:prstGeom prst="rect">
            <a:avLst/>
          </a:prstGeom>
          <a:noFill/>
        </p:spPr>
        <p:txBody>
          <a:bodyPr wrap="square">
            <a:spAutoFit/>
          </a:bodyPr>
          <a:lstStyle/>
          <a:p>
            <a:pPr algn="l"/>
            <a:r>
              <a:rPr sz="950" b="0" i="0">
                <a:solidFill>
                  <a:srgbClr val="CCD6E0"/>
                </a:solidFill>
              </a:rPr>
              <a:t>詳細エラー抽出、パターン検出、エラーID付与</a:t>
            </a:r>
          </a:p>
        </p:txBody>
      </p:sp>
      <p:sp>
        <p:nvSpPr>
          <p:cNvPr id="29" name="Rectangle 28"/>
          <p:cNvSpPr/>
          <p:nvPr/>
        </p:nvSpPr>
        <p:spPr>
          <a:xfrm>
            <a:off x="365760" y="3703320"/>
            <a:ext cx="457200" cy="475488"/>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5760" y="3776472"/>
            <a:ext cx="457200" cy="320040"/>
          </a:xfrm>
          <a:prstGeom prst="rect">
            <a:avLst/>
          </a:prstGeom>
          <a:noFill/>
        </p:spPr>
        <p:txBody>
          <a:bodyPr wrap="square">
            <a:spAutoFit/>
          </a:bodyPr>
          <a:lstStyle/>
          <a:p>
            <a:pPr algn="ctr"/>
            <a:r>
              <a:rPr sz="1100" b="1" i="0">
                <a:solidFill>
                  <a:srgbClr val="FFFFFF"/>
                </a:solidFill>
              </a:rPr>
              <a:t>06</a:t>
            </a:r>
          </a:p>
        </p:txBody>
      </p:sp>
      <p:sp>
        <p:nvSpPr>
          <p:cNvPr id="31" name="Rectangle 30"/>
          <p:cNvSpPr/>
          <p:nvPr/>
        </p:nvSpPr>
        <p:spPr>
          <a:xfrm>
            <a:off x="822960" y="3703320"/>
            <a:ext cx="10881360" cy="475488"/>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0120" y="3739896"/>
            <a:ext cx="3474720" cy="237744"/>
          </a:xfrm>
          <a:prstGeom prst="rect">
            <a:avLst/>
          </a:prstGeom>
          <a:noFill/>
        </p:spPr>
        <p:txBody>
          <a:bodyPr wrap="square">
            <a:spAutoFit/>
          </a:bodyPr>
          <a:lstStyle/>
          <a:p>
            <a:pPr algn="l"/>
            <a:r>
              <a:rPr sz="1200" b="1" i="0">
                <a:solidFill>
                  <a:srgbClr val="FFFFFF"/>
                </a:solidFill>
              </a:rPr>
              <a:t>エージェント4 — 根本原因分析</a:t>
            </a:r>
          </a:p>
        </p:txBody>
      </p:sp>
      <p:sp>
        <p:nvSpPr>
          <p:cNvPr id="33" name="TextBox 32"/>
          <p:cNvSpPr txBox="1"/>
          <p:nvPr/>
        </p:nvSpPr>
        <p:spPr>
          <a:xfrm>
            <a:off x="960120" y="3959352"/>
            <a:ext cx="10058400" cy="201168"/>
          </a:xfrm>
          <a:prstGeom prst="rect">
            <a:avLst/>
          </a:prstGeom>
          <a:noFill/>
        </p:spPr>
        <p:txBody>
          <a:bodyPr wrap="square">
            <a:spAutoFit/>
          </a:bodyPr>
          <a:lstStyle/>
          <a:p>
            <a:pPr algn="l"/>
            <a:r>
              <a:rPr sz="950" b="0" i="0">
                <a:solidFill>
                  <a:srgbClr val="CCD6E0"/>
                </a:solidFill>
              </a:rPr>
              <a:t>根本原因特定、因果連鎖、5つのなぜ分析</a:t>
            </a:r>
          </a:p>
        </p:txBody>
      </p:sp>
      <p:sp>
        <p:nvSpPr>
          <p:cNvPr id="34" name="Rectangle 33"/>
          <p:cNvSpPr/>
          <p:nvPr/>
        </p:nvSpPr>
        <p:spPr>
          <a:xfrm>
            <a:off x="365760" y="4251959"/>
            <a:ext cx="457200" cy="475488"/>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5760" y="4325112"/>
            <a:ext cx="457200" cy="320040"/>
          </a:xfrm>
          <a:prstGeom prst="rect">
            <a:avLst/>
          </a:prstGeom>
          <a:noFill/>
        </p:spPr>
        <p:txBody>
          <a:bodyPr wrap="square">
            <a:spAutoFit/>
          </a:bodyPr>
          <a:lstStyle/>
          <a:p>
            <a:pPr algn="ctr"/>
            <a:r>
              <a:rPr sz="1100" b="1" i="0">
                <a:solidFill>
                  <a:srgbClr val="FFFFFF"/>
                </a:solidFill>
              </a:rPr>
              <a:t>07</a:t>
            </a:r>
          </a:p>
        </p:txBody>
      </p:sp>
      <p:sp>
        <p:nvSpPr>
          <p:cNvPr id="36" name="Rectangle 35"/>
          <p:cNvSpPr/>
          <p:nvPr/>
        </p:nvSpPr>
        <p:spPr>
          <a:xfrm>
            <a:off x="822960" y="4251959"/>
            <a:ext cx="10881360" cy="475488"/>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0120" y="4288536"/>
            <a:ext cx="3474720" cy="237744"/>
          </a:xfrm>
          <a:prstGeom prst="rect">
            <a:avLst/>
          </a:prstGeom>
          <a:noFill/>
        </p:spPr>
        <p:txBody>
          <a:bodyPr wrap="square">
            <a:spAutoFit/>
          </a:bodyPr>
          <a:lstStyle/>
          <a:p>
            <a:pPr algn="l"/>
            <a:r>
              <a:rPr sz="1200" b="1" i="0">
                <a:solidFill>
                  <a:srgbClr val="FFFFFF"/>
                </a:solidFill>
              </a:rPr>
              <a:t>エージェント5 — 推奨</a:t>
            </a:r>
          </a:p>
        </p:txBody>
      </p:sp>
      <p:sp>
        <p:nvSpPr>
          <p:cNvPr id="38" name="TextBox 37"/>
          <p:cNvSpPr txBox="1"/>
          <p:nvPr/>
        </p:nvSpPr>
        <p:spPr>
          <a:xfrm>
            <a:off x="960120" y="4507992"/>
            <a:ext cx="10058400" cy="201168"/>
          </a:xfrm>
          <a:prstGeom prst="rect">
            <a:avLst/>
          </a:prstGeom>
          <a:noFill/>
        </p:spPr>
        <p:txBody>
          <a:bodyPr wrap="square">
            <a:spAutoFit/>
          </a:bodyPr>
          <a:lstStyle/>
          <a:p>
            <a:pPr algn="l"/>
            <a:r>
              <a:rPr sz="950" b="0" i="0">
                <a:solidFill>
                  <a:srgbClr val="CCD6E0"/>
                </a:solidFill>
              </a:rPr>
              <a:t>ランク付けされた実行可能ソリューション、工数見積</a:t>
            </a:r>
          </a:p>
        </p:txBody>
      </p:sp>
      <p:sp>
        <p:nvSpPr>
          <p:cNvPr id="39" name="Rectangle 38"/>
          <p:cNvSpPr/>
          <p:nvPr/>
        </p:nvSpPr>
        <p:spPr>
          <a:xfrm>
            <a:off x="365760" y="4800599"/>
            <a:ext cx="457200" cy="475488"/>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4873751"/>
            <a:ext cx="457200" cy="320040"/>
          </a:xfrm>
          <a:prstGeom prst="rect">
            <a:avLst/>
          </a:prstGeom>
          <a:noFill/>
        </p:spPr>
        <p:txBody>
          <a:bodyPr wrap="square">
            <a:spAutoFit/>
          </a:bodyPr>
          <a:lstStyle/>
          <a:p>
            <a:pPr algn="ctr"/>
            <a:r>
              <a:rPr sz="1100" b="1" i="0">
                <a:solidFill>
                  <a:srgbClr val="FFFFFF"/>
                </a:solidFill>
              </a:rPr>
              <a:t>08</a:t>
            </a:r>
          </a:p>
        </p:txBody>
      </p:sp>
      <p:sp>
        <p:nvSpPr>
          <p:cNvPr id="41" name="Rectangle 40"/>
          <p:cNvSpPr/>
          <p:nvPr/>
        </p:nvSpPr>
        <p:spPr>
          <a:xfrm>
            <a:off x="822960" y="4800599"/>
            <a:ext cx="10881360" cy="475488"/>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60120" y="4837175"/>
            <a:ext cx="3474720" cy="237744"/>
          </a:xfrm>
          <a:prstGeom prst="rect">
            <a:avLst/>
          </a:prstGeom>
          <a:noFill/>
        </p:spPr>
        <p:txBody>
          <a:bodyPr wrap="square">
            <a:spAutoFit/>
          </a:bodyPr>
          <a:lstStyle/>
          <a:p>
            <a:pPr algn="l"/>
            <a:r>
              <a:rPr sz="1200" b="1" i="0">
                <a:solidFill>
                  <a:srgbClr val="FFFFFF"/>
                </a:solidFill>
              </a:rPr>
              <a:t>パイプラインデータフロー</a:t>
            </a:r>
          </a:p>
        </p:txBody>
      </p:sp>
      <p:sp>
        <p:nvSpPr>
          <p:cNvPr id="43" name="TextBox 42"/>
          <p:cNvSpPr txBox="1"/>
          <p:nvPr/>
        </p:nvSpPr>
        <p:spPr>
          <a:xfrm>
            <a:off x="960120" y="5056631"/>
            <a:ext cx="10058400" cy="201168"/>
          </a:xfrm>
          <a:prstGeom prst="rect">
            <a:avLst/>
          </a:prstGeom>
          <a:noFill/>
        </p:spPr>
        <p:txBody>
          <a:bodyPr wrap="square">
            <a:spAutoFit/>
          </a:bodyPr>
          <a:lstStyle/>
          <a:p>
            <a:pPr algn="l"/>
            <a:r>
              <a:rPr sz="950" b="0" i="0">
                <a:solidFill>
                  <a:srgbClr val="CCD6E0"/>
                </a:solidFill>
              </a:rPr>
              <a:t>エージェント間のエンドツーエンドデータ受け渡し</a:t>
            </a:r>
          </a:p>
        </p:txBody>
      </p:sp>
      <p:sp>
        <p:nvSpPr>
          <p:cNvPr id="44" name="Rectangle 43"/>
          <p:cNvSpPr/>
          <p:nvPr/>
        </p:nvSpPr>
        <p:spPr>
          <a:xfrm>
            <a:off x="365760" y="5349239"/>
            <a:ext cx="457200" cy="475488"/>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65760" y="5422391"/>
            <a:ext cx="457200" cy="320040"/>
          </a:xfrm>
          <a:prstGeom prst="rect">
            <a:avLst/>
          </a:prstGeom>
          <a:noFill/>
        </p:spPr>
        <p:txBody>
          <a:bodyPr wrap="square">
            <a:spAutoFit/>
          </a:bodyPr>
          <a:lstStyle/>
          <a:p>
            <a:pPr algn="ctr"/>
            <a:r>
              <a:rPr sz="1100" b="1" i="0">
                <a:solidFill>
                  <a:srgbClr val="FFFFFF"/>
                </a:solidFill>
              </a:rPr>
              <a:t>09</a:t>
            </a:r>
          </a:p>
        </p:txBody>
      </p:sp>
      <p:sp>
        <p:nvSpPr>
          <p:cNvPr id="46" name="Rectangle 45"/>
          <p:cNvSpPr/>
          <p:nvPr/>
        </p:nvSpPr>
        <p:spPr>
          <a:xfrm>
            <a:off x="822960" y="5349239"/>
            <a:ext cx="10881360" cy="475488"/>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0120" y="5385815"/>
            <a:ext cx="3474720" cy="237744"/>
          </a:xfrm>
          <a:prstGeom prst="rect">
            <a:avLst/>
          </a:prstGeom>
          <a:noFill/>
        </p:spPr>
        <p:txBody>
          <a:bodyPr wrap="square">
            <a:spAutoFit/>
          </a:bodyPr>
          <a:lstStyle/>
          <a:p>
            <a:pPr algn="l"/>
            <a:r>
              <a:rPr sz="1200" b="1" i="0">
                <a:solidFill>
                  <a:srgbClr val="FFFFFF"/>
                </a:solidFill>
              </a:rPr>
              <a:t>効率性・設計方針</a:t>
            </a:r>
          </a:p>
        </p:txBody>
      </p:sp>
      <p:sp>
        <p:nvSpPr>
          <p:cNvPr id="48" name="TextBox 47"/>
          <p:cNvSpPr txBox="1"/>
          <p:nvPr/>
        </p:nvSpPr>
        <p:spPr>
          <a:xfrm>
            <a:off x="960120" y="5605271"/>
            <a:ext cx="10058400" cy="201168"/>
          </a:xfrm>
          <a:prstGeom prst="rect">
            <a:avLst/>
          </a:prstGeom>
          <a:noFill/>
        </p:spPr>
        <p:txBody>
          <a:bodyPr wrap="square">
            <a:spAutoFit/>
          </a:bodyPr>
          <a:lstStyle/>
          <a:p>
            <a:pPr algn="l"/>
            <a:r>
              <a:rPr sz="950" b="0" i="0">
                <a:solidFill>
                  <a:srgbClr val="CCD6E0"/>
                </a:solidFill>
              </a:rPr>
              <a:t>スキーマ契約、短絡処理、グレースフルデグラデーション</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685800"/>
          </a:xfrm>
          <a:prstGeom prst="rect">
            <a:avLst/>
          </a:prstGeom>
          <a:solidFill>
            <a:srgbClr val="1A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502920"/>
          </a:xfrm>
          <a:prstGeom prst="rect">
            <a:avLst/>
          </a:prstGeom>
          <a:noFill/>
        </p:spPr>
        <p:txBody>
          <a:bodyPr wrap="square">
            <a:spAutoFit/>
          </a:bodyPr>
          <a:lstStyle/>
          <a:p>
            <a:pPr algn="l"/>
            <a:r>
              <a:rPr sz="2000" b="1" i="0">
                <a:solidFill>
                  <a:srgbClr val="2E86AB"/>
                </a:solidFill>
              </a:rPr>
              <a:t>システム概要</a:t>
            </a:r>
          </a:p>
        </p:txBody>
      </p:sp>
      <p:sp>
        <p:nvSpPr>
          <p:cNvPr id="4" name="TextBox 3"/>
          <p:cNvSpPr txBox="1"/>
          <p:nvPr/>
        </p:nvSpPr>
        <p:spPr>
          <a:xfrm>
            <a:off x="274320" y="713232"/>
            <a:ext cx="11430000" cy="320040"/>
          </a:xfrm>
          <a:prstGeom prst="rect">
            <a:avLst/>
          </a:prstGeom>
          <a:noFill/>
        </p:spPr>
        <p:txBody>
          <a:bodyPr wrap="square">
            <a:spAutoFit/>
          </a:bodyPr>
          <a:lstStyle/>
          <a:p>
            <a:pPr algn="l"/>
            <a:r>
              <a:rPr sz="1100" b="0" i="1">
                <a:solidFill>
                  <a:srgbClr val="CCD6E0"/>
                </a:solidFill>
              </a:rPr>
              <a:t>順次実行の5エージェントパイプライン — 各エージェントは明確に範囲が定義された1つの責務を担う</a:t>
            </a:r>
          </a:p>
        </p:txBody>
      </p:sp>
      <p:sp>
        <p:nvSpPr>
          <p:cNvPr id="5" name="Rounded Rectangle 4"/>
          <p:cNvSpPr/>
          <p:nvPr/>
        </p:nvSpPr>
        <p:spPr>
          <a:xfrm>
            <a:off x="274320" y="1005840"/>
            <a:ext cx="2148840" cy="1463040"/>
          </a:xfrm>
          <a:prstGeom prst="roundRect">
            <a:avLst/>
          </a:prstGeom>
          <a:solidFill>
            <a:srgbClr val="16273E"/>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005840"/>
            <a:ext cx="2148840" cy="34747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024128"/>
            <a:ext cx="2148840" cy="320040"/>
          </a:xfrm>
          <a:prstGeom prst="rect">
            <a:avLst/>
          </a:prstGeom>
          <a:noFill/>
        </p:spPr>
        <p:txBody>
          <a:bodyPr wrap="square">
            <a:spAutoFit/>
          </a:bodyPr>
          <a:lstStyle/>
          <a:p>
            <a:pPr algn="ctr"/>
            <a:r>
              <a:rPr sz="1100" b="1" i="0">
                <a:solidFill>
                  <a:srgbClr val="FFFFFF"/>
                </a:solidFill>
              </a:rPr>
              <a:t>ステップ1  •  正規化</a:t>
            </a:r>
          </a:p>
        </p:txBody>
      </p:sp>
      <p:sp>
        <p:nvSpPr>
          <p:cNvPr id="8" name="TextBox 7"/>
          <p:cNvSpPr txBox="1"/>
          <p:nvPr/>
        </p:nvSpPr>
        <p:spPr>
          <a:xfrm>
            <a:off x="365760" y="1417320"/>
            <a:ext cx="1965960" cy="822960"/>
          </a:xfrm>
          <a:prstGeom prst="rect">
            <a:avLst/>
          </a:prstGeom>
          <a:noFill/>
        </p:spPr>
        <p:txBody>
          <a:bodyPr wrap="square">
            <a:spAutoFit/>
          </a:bodyPr>
          <a:lstStyle/>
          <a:p>
            <a:pPr algn="ctr"/>
            <a:r>
              <a:rPr sz="950" b="0" i="0">
                <a:solidFill>
                  <a:srgbClr val="CCD6E0"/>
                </a:solidFill>
              </a:rPr>
              <a:t>エラー種別分類
信号抽出</a:t>
            </a:r>
          </a:p>
        </p:txBody>
      </p:sp>
      <p:sp>
        <p:nvSpPr>
          <p:cNvPr id="9" name="TextBox 8"/>
          <p:cNvSpPr txBox="1"/>
          <p:nvPr/>
        </p:nvSpPr>
        <p:spPr>
          <a:xfrm>
            <a:off x="2423160" y="1572768"/>
            <a:ext cx="228600" cy="274320"/>
          </a:xfrm>
          <a:prstGeom prst="rect">
            <a:avLst/>
          </a:prstGeom>
          <a:noFill/>
        </p:spPr>
        <p:txBody>
          <a:bodyPr wrap="square">
            <a:spAutoFit/>
          </a:bodyPr>
          <a:lstStyle/>
          <a:p>
            <a:pPr algn="ctr"/>
            <a:r>
              <a:rPr sz="1800" b="1" i="0">
                <a:solidFill>
                  <a:srgbClr val="F39C12"/>
                </a:solidFill>
              </a:rPr>
              <a:t>→</a:t>
            </a:r>
          </a:p>
        </p:txBody>
      </p:sp>
      <p:sp>
        <p:nvSpPr>
          <p:cNvPr id="10" name="Rounded Rectangle 9"/>
          <p:cNvSpPr/>
          <p:nvPr/>
        </p:nvSpPr>
        <p:spPr>
          <a:xfrm>
            <a:off x="2651760" y="1005840"/>
            <a:ext cx="2148840" cy="1463040"/>
          </a:xfrm>
          <a:prstGeom prst="roundRect">
            <a:avLst/>
          </a:prstGeom>
          <a:solidFill>
            <a:srgbClr val="16273E"/>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651760" y="1005840"/>
            <a:ext cx="2148840" cy="34747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51760" y="1024128"/>
            <a:ext cx="2148840" cy="320040"/>
          </a:xfrm>
          <a:prstGeom prst="rect">
            <a:avLst/>
          </a:prstGeom>
          <a:noFill/>
        </p:spPr>
        <p:txBody>
          <a:bodyPr wrap="square">
            <a:spAutoFit/>
          </a:bodyPr>
          <a:lstStyle/>
          <a:p>
            <a:pPr algn="ctr"/>
            <a:r>
              <a:rPr sz="1100" b="1" i="0">
                <a:solidFill>
                  <a:srgbClr val="FFFFFF"/>
                </a:solidFill>
              </a:rPr>
              <a:t>ステップ2  •  相関分析</a:t>
            </a:r>
          </a:p>
        </p:txBody>
      </p:sp>
      <p:sp>
        <p:nvSpPr>
          <p:cNvPr id="13" name="TextBox 12"/>
          <p:cNvSpPr txBox="1"/>
          <p:nvPr/>
        </p:nvSpPr>
        <p:spPr>
          <a:xfrm>
            <a:off x="2743200" y="1417320"/>
            <a:ext cx="1965960" cy="822960"/>
          </a:xfrm>
          <a:prstGeom prst="rect">
            <a:avLst/>
          </a:prstGeom>
          <a:noFill/>
        </p:spPr>
        <p:txBody>
          <a:bodyPr wrap="square">
            <a:spAutoFit/>
          </a:bodyPr>
          <a:lstStyle/>
          <a:p>
            <a:pPr algn="ctr"/>
            <a:r>
              <a:rPr sz="950" b="0" i="0">
                <a:solidFill>
                  <a:srgbClr val="CCD6E0"/>
                </a:solidFill>
              </a:rPr>
              <a:t>因果グラフ構築
分析ルーティング</a:t>
            </a:r>
          </a:p>
        </p:txBody>
      </p:sp>
      <p:sp>
        <p:nvSpPr>
          <p:cNvPr id="14" name="TextBox 13"/>
          <p:cNvSpPr txBox="1"/>
          <p:nvPr/>
        </p:nvSpPr>
        <p:spPr>
          <a:xfrm>
            <a:off x="4800600" y="1572768"/>
            <a:ext cx="228600" cy="274320"/>
          </a:xfrm>
          <a:prstGeom prst="rect">
            <a:avLst/>
          </a:prstGeom>
          <a:noFill/>
        </p:spPr>
        <p:txBody>
          <a:bodyPr wrap="square">
            <a:spAutoFit/>
          </a:bodyPr>
          <a:lstStyle/>
          <a:p>
            <a:pPr algn="ctr"/>
            <a:r>
              <a:rPr sz="1800" b="1" i="0">
                <a:solidFill>
                  <a:srgbClr val="F39C12"/>
                </a:solidFill>
              </a:rPr>
              <a:t>→</a:t>
            </a:r>
          </a:p>
        </p:txBody>
      </p:sp>
      <p:sp>
        <p:nvSpPr>
          <p:cNvPr id="15" name="Rounded Rectangle 14"/>
          <p:cNvSpPr/>
          <p:nvPr/>
        </p:nvSpPr>
        <p:spPr>
          <a:xfrm>
            <a:off x="5029200" y="1005840"/>
            <a:ext cx="2148840" cy="1463040"/>
          </a:xfrm>
          <a:prstGeom prst="roundRect">
            <a:avLst/>
          </a:prstGeom>
          <a:solidFill>
            <a:srgbClr val="16273E"/>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0" y="1005840"/>
            <a:ext cx="2148840" cy="34747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0" y="1024128"/>
            <a:ext cx="2148840" cy="320040"/>
          </a:xfrm>
          <a:prstGeom prst="rect">
            <a:avLst/>
          </a:prstGeom>
          <a:noFill/>
        </p:spPr>
        <p:txBody>
          <a:bodyPr wrap="square">
            <a:spAutoFit/>
          </a:bodyPr>
          <a:lstStyle/>
          <a:p>
            <a:pPr algn="ctr"/>
            <a:r>
              <a:rPr sz="1100" b="1" i="0">
                <a:solidFill>
                  <a:srgbClr val="FFFFFF"/>
                </a:solidFill>
              </a:rPr>
              <a:t>ステップ3  •  エラー分析</a:t>
            </a:r>
          </a:p>
        </p:txBody>
      </p:sp>
      <p:sp>
        <p:nvSpPr>
          <p:cNvPr id="18" name="TextBox 17"/>
          <p:cNvSpPr txBox="1"/>
          <p:nvPr/>
        </p:nvSpPr>
        <p:spPr>
          <a:xfrm>
            <a:off x="5120640" y="1417320"/>
            <a:ext cx="1965960" cy="822960"/>
          </a:xfrm>
          <a:prstGeom prst="rect">
            <a:avLst/>
          </a:prstGeom>
          <a:noFill/>
        </p:spPr>
        <p:txBody>
          <a:bodyPr wrap="square">
            <a:spAutoFit/>
          </a:bodyPr>
          <a:lstStyle/>
          <a:p>
            <a:pPr algn="ctr"/>
            <a:r>
              <a:rPr sz="950" b="0" i="0">
                <a:solidFill>
                  <a:srgbClr val="CCD6E0"/>
                </a:solidFill>
              </a:rPr>
              <a:t>エラー抽出・ID付与
パターン検出</a:t>
            </a:r>
          </a:p>
        </p:txBody>
      </p:sp>
      <p:sp>
        <p:nvSpPr>
          <p:cNvPr id="19" name="TextBox 18"/>
          <p:cNvSpPr txBox="1"/>
          <p:nvPr/>
        </p:nvSpPr>
        <p:spPr>
          <a:xfrm>
            <a:off x="7178040" y="1572768"/>
            <a:ext cx="228600" cy="274320"/>
          </a:xfrm>
          <a:prstGeom prst="rect">
            <a:avLst/>
          </a:prstGeom>
          <a:noFill/>
        </p:spPr>
        <p:txBody>
          <a:bodyPr wrap="square">
            <a:spAutoFit/>
          </a:bodyPr>
          <a:lstStyle/>
          <a:p>
            <a:pPr algn="ctr"/>
            <a:r>
              <a:rPr sz="1800" b="1" i="0">
                <a:solidFill>
                  <a:srgbClr val="F39C12"/>
                </a:solidFill>
              </a:rPr>
              <a:t>→</a:t>
            </a:r>
          </a:p>
        </p:txBody>
      </p:sp>
      <p:sp>
        <p:nvSpPr>
          <p:cNvPr id="20" name="Rounded Rectangle 19"/>
          <p:cNvSpPr/>
          <p:nvPr/>
        </p:nvSpPr>
        <p:spPr>
          <a:xfrm>
            <a:off x="7406640" y="1005840"/>
            <a:ext cx="2148840" cy="1463040"/>
          </a:xfrm>
          <a:prstGeom prst="roundRect">
            <a:avLst/>
          </a:prstGeom>
          <a:solidFill>
            <a:srgbClr val="16273E"/>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06640" y="1005840"/>
            <a:ext cx="2148840" cy="34747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1024128"/>
            <a:ext cx="2148840" cy="320040"/>
          </a:xfrm>
          <a:prstGeom prst="rect">
            <a:avLst/>
          </a:prstGeom>
          <a:noFill/>
        </p:spPr>
        <p:txBody>
          <a:bodyPr wrap="square">
            <a:spAutoFit/>
          </a:bodyPr>
          <a:lstStyle/>
          <a:p>
            <a:pPr algn="ctr"/>
            <a:r>
              <a:rPr sz="1100" b="1" i="0">
                <a:solidFill>
                  <a:srgbClr val="FFFFFF"/>
                </a:solidFill>
              </a:rPr>
              <a:t>ステップ4  •  根本原因分析</a:t>
            </a:r>
          </a:p>
        </p:txBody>
      </p:sp>
      <p:sp>
        <p:nvSpPr>
          <p:cNvPr id="23" name="TextBox 22"/>
          <p:cNvSpPr txBox="1"/>
          <p:nvPr/>
        </p:nvSpPr>
        <p:spPr>
          <a:xfrm>
            <a:off x="7498079" y="1417320"/>
            <a:ext cx="1965960" cy="822960"/>
          </a:xfrm>
          <a:prstGeom prst="rect">
            <a:avLst/>
          </a:prstGeom>
          <a:noFill/>
        </p:spPr>
        <p:txBody>
          <a:bodyPr wrap="square">
            <a:spAutoFit/>
          </a:bodyPr>
          <a:lstStyle/>
          <a:p>
            <a:pPr algn="ctr"/>
            <a:r>
              <a:rPr sz="950" b="0" i="0">
                <a:solidFill>
                  <a:srgbClr val="CCD6E0"/>
                </a:solidFill>
              </a:rPr>
              <a:t>根本原因特定
5つのなぜ分析</a:t>
            </a:r>
          </a:p>
        </p:txBody>
      </p:sp>
      <p:sp>
        <p:nvSpPr>
          <p:cNvPr id="24" name="TextBox 23"/>
          <p:cNvSpPr txBox="1"/>
          <p:nvPr/>
        </p:nvSpPr>
        <p:spPr>
          <a:xfrm>
            <a:off x="9555480" y="1572768"/>
            <a:ext cx="228600" cy="274320"/>
          </a:xfrm>
          <a:prstGeom prst="rect">
            <a:avLst/>
          </a:prstGeom>
          <a:noFill/>
        </p:spPr>
        <p:txBody>
          <a:bodyPr wrap="square">
            <a:spAutoFit/>
          </a:bodyPr>
          <a:lstStyle/>
          <a:p>
            <a:pPr algn="ctr"/>
            <a:r>
              <a:rPr sz="1800" b="1" i="0">
                <a:solidFill>
                  <a:srgbClr val="F39C12"/>
                </a:solidFill>
              </a:rPr>
              <a:t>→</a:t>
            </a:r>
          </a:p>
        </p:txBody>
      </p:sp>
      <p:sp>
        <p:nvSpPr>
          <p:cNvPr id="25" name="Rounded Rectangle 24"/>
          <p:cNvSpPr/>
          <p:nvPr/>
        </p:nvSpPr>
        <p:spPr>
          <a:xfrm>
            <a:off x="9784080" y="1005840"/>
            <a:ext cx="2148840" cy="1463040"/>
          </a:xfrm>
          <a:prstGeom prst="roundRect">
            <a:avLst/>
          </a:prstGeom>
          <a:solidFill>
            <a:srgbClr val="16273E"/>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84080" y="1005840"/>
            <a:ext cx="2148840" cy="34747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84080" y="1024128"/>
            <a:ext cx="2148840" cy="320040"/>
          </a:xfrm>
          <a:prstGeom prst="rect">
            <a:avLst/>
          </a:prstGeom>
          <a:noFill/>
        </p:spPr>
        <p:txBody>
          <a:bodyPr wrap="square">
            <a:spAutoFit/>
          </a:bodyPr>
          <a:lstStyle/>
          <a:p>
            <a:pPr algn="ctr"/>
            <a:r>
              <a:rPr sz="1100" b="1" i="0">
                <a:solidFill>
                  <a:srgbClr val="FFFFFF"/>
                </a:solidFill>
              </a:rPr>
              <a:t>ステップ5  •  推奨</a:t>
            </a:r>
          </a:p>
        </p:txBody>
      </p:sp>
      <p:sp>
        <p:nvSpPr>
          <p:cNvPr id="28" name="TextBox 27"/>
          <p:cNvSpPr txBox="1"/>
          <p:nvPr/>
        </p:nvSpPr>
        <p:spPr>
          <a:xfrm>
            <a:off x="9875519" y="1417320"/>
            <a:ext cx="1965960" cy="822960"/>
          </a:xfrm>
          <a:prstGeom prst="rect">
            <a:avLst/>
          </a:prstGeom>
          <a:noFill/>
        </p:spPr>
        <p:txBody>
          <a:bodyPr wrap="square">
            <a:spAutoFit/>
          </a:bodyPr>
          <a:lstStyle/>
          <a:p>
            <a:pPr algn="ctr"/>
            <a:r>
              <a:rPr sz="950" b="0" i="0">
                <a:solidFill>
                  <a:srgbClr val="CCD6E0"/>
                </a:solidFill>
              </a:rPr>
              <a:t>ランク付き
実行可能ソリューション（1〜4件）</a:t>
            </a:r>
          </a:p>
        </p:txBody>
      </p:sp>
      <p:sp>
        <p:nvSpPr>
          <p:cNvPr id="29" name="TextBox 28"/>
          <p:cNvSpPr txBox="1"/>
          <p:nvPr/>
        </p:nvSpPr>
        <p:spPr>
          <a:xfrm>
            <a:off x="274320" y="2651760"/>
            <a:ext cx="11612880" cy="274320"/>
          </a:xfrm>
          <a:prstGeom prst="rect">
            <a:avLst/>
          </a:prstGeom>
          <a:noFill/>
        </p:spPr>
        <p:txBody>
          <a:bodyPr wrap="square">
            <a:spAutoFit/>
          </a:bodyPr>
          <a:lstStyle/>
          <a:p>
            <a:pPr algn="l"/>
            <a:r>
              <a:rPr sz="1000" b="1" i="0">
                <a:solidFill>
                  <a:srgbClr val="2E86AB"/>
                </a:solidFill>
              </a:rPr>
              <a:t>主要原則</a:t>
            </a:r>
          </a:p>
        </p:txBody>
      </p:sp>
      <p:sp>
        <p:nvSpPr>
          <p:cNvPr id="30" name="Rectangle 29"/>
          <p:cNvSpPr/>
          <p:nvPr/>
        </p:nvSpPr>
        <p:spPr>
          <a:xfrm>
            <a:off x="274320" y="2788920"/>
            <a:ext cx="5760720" cy="749808"/>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74320" y="2788920"/>
            <a:ext cx="73152" cy="7498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2843784"/>
            <a:ext cx="5486400" cy="256032"/>
          </a:xfrm>
          <a:prstGeom prst="rect">
            <a:avLst/>
          </a:prstGeom>
          <a:noFill/>
        </p:spPr>
        <p:txBody>
          <a:bodyPr wrap="square">
            <a:spAutoFit/>
          </a:bodyPr>
          <a:lstStyle/>
          <a:p>
            <a:pPr algn="l"/>
            <a:r>
              <a:rPr sz="1100" b="1" i="0">
                <a:solidFill>
                  <a:srgbClr val="27AE60"/>
                </a:solidFill>
              </a:rPr>
              <a:t>決定論的</a:t>
            </a:r>
          </a:p>
        </p:txBody>
      </p:sp>
      <p:sp>
        <p:nvSpPr>
          <p:cNvPr id="33" name="TextBox 32"/>
          <p:cNvSpPr txBox="1"/>
          <p:nvPr/>
        </p:nvSpPr>
        <p:spPr>
          <a:xfrm>
            <a:off x="457200" y="3118103"/>
            <a:ext cx="5486400" cy="347472"/>
          </a:xfrm>
          <a:prstGeom prst="rect">
            <a:avLst/>
          </a:prstGeom>
          <a:noFill/>
        </p:spPr>
        <p:txBody>
          <a:bodyPr wrap="square">
            <a:spAutoFit/>
          </a:bodyPr>
          <a:lstStyle/>
          <a:p>
            <a:pPr algn="l"/>
            <a:r>
              <a:rPr sz="950" b="0" i="0">
                <a:solidFill>
                  <a:srgbClr val="CCD6E0"/>
                </a:solidFill>
              </a:rPr>
              <a:t>全LLM呼び出しにtemperature=0.0 — 再現可能な出力</a:t>
            </a:r>
          </a:p>
        </p:txBody>
      </p:sp>
      <p:sp>
        <p:nvSpPr>
          <p:cNvPr id="34" name="Rectangle 33"/>
          <p:cNvSpPr/>
          <p:nvPr/>
        </p:nvSpPr>
        <p:spPr>
          <a:xfrm>
            <a:off x="6263640" y="2788920"/>
            <a:ext cx="5760720" cy="749808"/>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63640" y="2788920"/>
            <a:ext cx="73152" cy="7498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46520" y="2843784"/>
            <a:ext cx="5486400" cy="256032"/>
          </a:xfrm>
          <a:prstGeom prst="rect">
            <a:avLst/>
          </a:prstGeom>
          <a:noFill/>
        </p:spPr>
        <p:txBody>
          <a:bodyPr wrap="square">
            <a:spAutoFit/>
          </a:bodyPr>
          <a:lstStyle/>
          <a:p>
            <a:pPr algn="l"/>
            <a:r>
              <a:rPr sz="1100" b="1" i="0">
                <a:solidFill>
                  <a:srgbClr val="27AE60"/>
                </a:solidFill>
              </a:rPr>
              <a:t>スキーマ駆動</a:t>
            </a:r>
          </a:p>
        </p:txBody>
      </p:sp>
      <p:sp>
        <p:nvSpPr>
          <p:cNvPr id="37" name="TextBox 36"/>
          <p:cNvSpPr txBox="1"/>
          <p:nvPr/>
        </p:nvSpPr>
        <p:spPr>
          <a:xfrm>
            <a:off x="6446520" y="3118103"/>
            <a:ext cx="5486400" cy="347472"/>
          </a:xfrm>
          <a:prstGeom prst="rect">
            <a:avLst/>
          </a:prstGeom>
          <a:noFill/>
        </p:spPr>
        <p:txBody>
          <a:bodyPr wrap="square">
            <a:spAutoFit/>
          </a:bodyPr>
          <a:lstStyle/>
          <a:p>
            <a:pPr algn="l"/>
            <a:r>
              <a:rPr sz="950" b="0" i="0">
                <a:solidFill>
                  <a:srgbClr val="CCD6E0"/>
                </a:solidFill>
              </a:rPr>
              <a:t>Pydanticモデルが各プロンプトに注入するJSONスキーマを自動生成</a:t>
            </a:r>
          </a:p>
        </p:txBody>
      </p:sp>
      <p:sp>
        <p:nvSpPr>
          <p:cNvPr id="38" name="Rectangle 37"/>
          <p:cNvSpPr/>
          <p:nvPr/>
        </p:nvSpPr>
        <p:spPr>
          <a:xfrm>
            <a:off x="274320" y="3657600"/>
            <a:ext cx="5760720" cy="749808"/>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274320" y="3657600"/>
            <a:ext cx="73152" cy="7498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3712463"/>
            <a:ext cx="5486400" cy="256032"/>
          </a:xfrm>
          <a:prstGeom prst="rect">
            <a:avLst/>
          </a:prstGeom>
          <a:noFill/>
        </p:spPr>
        <p:txBody>
          <a:bodyPr wrap="square">
            <a:spAutoFit/>
          </a:bodyPr>
          <a:lstStyle/>
          <a:p>
            <a:pPr algn="l"/>
            <a:r>
              <a:rPr sz="1100" b="1" i="0">
                <a:solidFill>
                  <a:srgbClr val="27AE60"/>
                </a:solidFill>
              </a:rPr>
              <a:t>グレースフル</a:t>
            </a:r>
          </a:p>
        </p:txBody>
      </p:sp>
      <p:sp>
        <p:nvSpPr>
          <p:cNvPr id="41" name="TextBox 40"/>
          <p:cNvSpPr txBox="1"/>
          <p:nvPr/>
        </p:nvSpPr>
        <p:spPr>
          <a:xfrm>
            <a:off x="457200" y="3986784"/>
            <a:ext cx="5486400" cy="347472"/>
          </a:xfrm>
          <a:prstGeom prst="rect">
            <a:avLst/>
          </a:prstGeom>
          <a:noFill/>
        </p:spPr>
        <p:txBody>
          <a:bodyPr wrap="square">
            <a:spAutoFit/>
          </a:bodyPr>
          <a:lstStyle/>
          <a:p>
            <a:pPr algn="l"/>
            <a:r>
              <a:rPr sz="950" b="0" i="0">
                <a:solidFill>
                  <a:srgbClr val="CCD6E0"/>
                </a:solidFill>
              </a:rPr>
              <a:t>全ての外部障害はWARNプレースホルダーを生成 — エージェントはクラッシュしない</a:t>
            </a:r>
          </a:p>
        </p:txBody>
      </p:sp>
      <p:sp>
        <p:nvSpPr>
          <p:cNvPr id="42" name="Rectangle 41"/>
          <p:cNvSpPr/>
          <p:nvPr/>
        </p:nvSpPr>
        <p:spPr>
          <a:xfrm>
            <a:off x="6263640" y="3657600"/>
            <a:ext cx="5760720" cy="749808"/>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63640" y="3657600"/>
            <a:ext cx="73152" cy="7498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46520" y="3712463"/>
            <a:ext cx="5486400" cy="256032"/>
          </a:xfrm>
          <a:prstGeom prst="rect">
            <a:avLst/>
          </a:prstGeom>
          <a:noFill/>
        </p:spPr>
        <p:txBody>
          <a:bodyPr wrap="square">
            <a:spAutoFit/>
          </a:bodyPr>
          <a:lstStyle/>
          <a:p>
            <a:pPr algn="l"/>
            <a:r>
              <a:rPr sz="1100" b="1" i="0">
                <a:solidFill>
                  <a:srgbClr val="27AE60"/>
                </a:solidFill>
              </a:rPr>
              <a:t>分離型</a:t>
            </a:r>
          </a:p>
        </p:txBody>
      </p:sp>
      <p:sp>
        <p:nvSpPr>
          <p:cNvPr id="45" name="TextBox 44"/>
          <p:cNvSpPr txBox="1"/>
          <p:nvPr/>
        </p:nvSpPr>
        <p:spPr>
          <a:xfrm>
            <a:off x="6446520" y="3986784"/>
            <a:ext cx="5486400" cy="347472"/>
          </a:xfrm>
          <a:prstGeom prst="rect">
            <a:avLst/>
          </a:prstGeom>
          <a:noFill/>
        </p:spPr>
        <p:txBody>
          <a:bodyPr wrap="square">
            <a:spAutoFit/>
          </a:bodyPr>
          <a:lstStyle/>
          <a:p>
            <a:pPr algn="l"/>
            <a:r>
              <a:rPr sz="950" b="0" i="0">
                <a:solidFill>
                  <a:srgbClr val="CCD6E0"/>
                </a:solidFill>
              </a:rPr>
              <a:t>各エージェントは直前のエージェント出力のみ参照 — 共有状態なし</a:t>
            </a:r>
          </a:p>
        </p:txBody>
      </p:sp>
      <p:sp>
        <p:nvSpPr>
          <p:cNvPr id="46" name="TextBox 45"/>
          <p:cNvSpPr txBox="1"/>
          <p:nvPr/>
        </p:nvSpPr>
        <p:spPr>
          <a:xfrm>
            <a:off x="274320" y="6263640"/>
            <a:ext cx="11430000" cy="256032"/>
          </a:xfrm>
          <a:prstGeom prst="rect">
            <a:avLst/>
          </a:prstGeom>
          <a:noFill/>
        </p:spPr>
        <p:txBody>
          <a:bodyPr wrap="square">
            <a:spAutoFit/>
          </a:bodyPr>
          <a:lstStyle/>
          <a:p>
            <a:pPr algn="ctr"/>
            <a:r>
              <a:rPr sz="900" b="0" i="1">
                <a:solidFill>
                  <a:srgbClr val="CCD6E0"/>
                </a:solidFill>
              </a:rPr>
              <a:t>技術スタック:  GPT-4o  ·  FastAPI  ·  Pydantic v2  ·  AsyncOpenAI  ·  httpx  ·  SQLite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685800"/>
          </a:xfrm>
          <a:prstGeom prst="rect">
            <a:avLst/>
          </a:prstGeom>
          <a:solidFill>
            <a:srgbClr val="1A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502920"/>
          </a:xfrm>
          <a:prstGeom prst="rect">
            <a:avLst/>
          </a:prstGeom>
          <a:noFill/>
        </p:spPr>
        <p:txBody>
          <a:bodyPr wrap="square">
            <a:spAutoFit/>
          </a:bodyPr>
          <a:lstStyle/>
          <a:p>
            <a:pPr algn="l"/>
            <a:r>
              <a:rPr sz="2000" b="1" i="0">
                <a:solidFill>
                  <a:srgbClr val="2E86AB"/>
                </a:solidFill>
              </a:rPr>
              <a:t>データソース1 — Langfuse（AIエージェントトレース）</a:t>
            </a:r>
          </a:p>
        </p:txBody>
      </p:sp>
      <p:sp>
        <p:nvSpPr>
          <p:cNvPr id="4" name="Rectangle 3"/>
          <p:cNvSpPr/>
          <p:nvPr/>
        </p:nvSpPr>
        <p:spPr>
          <a:xfrm>
            <a:off x="274320" y="914400"/>
            <a:ext cx="5394960" cy="53035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60120"/>
            <a:ext cx="5120640" cy="274320"/>
          </a:xfrm>
          <a:prstGeom prst="rect">
            <a:avLst/>
          </a:prstGeom>
          <a:noFill/>
        </p:spPr>
        <p:txBody>
          <a:bodyPr wrap="square">
            <a:spAutoFit/>
          </a:bodyPr>
          <a:lstStyle/>
          <a:p>
            <a:pPr algn="l"/>
            <a:r>
              <a:rPr sz="1000" b="1" i="0">
                <a:solidFill>
                  <a:srgbClr val="2E86AB"/>
                </a:solidFill>
              </a:rPr>
              <a:t>概要</a:t>
            </a:r>
          </a:p>
        </p:txBody>
      </p:sp>
      <p:sp>
        <p:nvSpPr>
          <p:cNvPr id="6" name="TextBox 5"/>
          <p:cNvSpPr txBox="1"/>
          <p:nvPr/>
        </p:nvSpPr>
        <p:spPr>
          <a:xfrm>
            <a:off x="457200" y="1234440"/>
            <a:ext cx="5120640" cy="502920"/>
          </a:xfrm>
          <a:prstGeom prst="rect">
            <a:avLst/>
          </a:prstGeom>
          <a:noFill/>
        </p:spPr>
        <p:txBody>
          <a:bodyPr wrap="square">
            <a:spAutoFit/>
          </a:bodyPr>
          <a:lstStyle/>
          <a:p>
            <a:pPr algn="l"/>
            <a:r>
              <a:rPr sz="1000" b="0" i="0">
                <a:solidFill>
                  <a:srgbClr val="FFFFFF"/>
                </a:solidFill>
              </a:rPr>
              <a:t>LLM可観測性プラットフォーム。AIエージェントの全インタラクションをトレース・スパン・ジェネレーションとして記録する</a:t>
            </a:r>
          </a:p>
        </p:txBody>
      </p:sp>
      <p:sp>
        <p:nvSpPr>
          <p:cNvPr id="7" name="TextBox 6"/>
          <p:cNvSpPr txBox="1"/>
          <p:nvPr/>
        </p:nvSpPr>
        <p:spPr>
          <a:xfrm>
            <a:off x="457200" y="1783080"/>
            <a:ext cx="5120640" cy="274320"/>
          </a:xfrm>
          <a:prstGeom prst="rect">
            <a:avLst/>
          </a:prstGeom>
          <a:noFill/>
        </p:spPr>
        <p:txBody>
          <a:bodyPr wrap="square">
            <a:spAutoFit/>
          </a:bodyPr>
          <a:lstStyle/>
          <a:p>
            <a:pPr algn="l"/>
            <a:r>
              <a:rPr sz="1000" b="1" i="0">
                <a:solidFill>
                  <a:srgbClr val="2E86AB"/>
                </a:solidFill>
              </a:rPr>
              <a:t>認証方式</a:t>
            </a:r>
          </a:p>
        </p:txBody>
      </p:sp>
      <p:sp>
        <p:nvSpPr>
          <p:cNvPr id="8" name="TextBox 7"/>
          <p:cNvSpPr txBox="1"/>
          <p:nvPr/>
        </p:nvSpPr>
        <p:spPr>
          <a:xfrm>
            <a:off x="457200" y="2057400"/>
            <a:ext cx="5120640" cy="274320"/>
          </a:xfrm>
          <a:prstGeom prst="rect">
            <a:avLst/>
          </a:prstGeom>
          <a:noFill/>
        </p:spPr>
        <p:txBody>
          <a:bodyPr wrap="square">
            <a:spAutoFit/>
          </a:bodyPr>
          <a:lstStyle/>
          <a:p>
            <a:pPr algn="l"/>
            <a:r>
              <a:rPr sz="1000" b="0" i="0">
                <a:solidFill>
                  <a:srgbClr val="CCD6E0"/>
                </a:solidFill>
              </a:rPr>
              <a:t>HTTP Basic認証  →  public_key : secret_key</a:t>
            </a:r>
          </a:p>
        </p:txBody>
      </p:sp>
      <p:sp>
        <p:nvSpPr>
          <p:cNvPr id="9" name="TextBox 8"/>
          <p:cNvSpPr txBox="1"/>
          <p:nvPr/>
        </p:nvSpPr>
        <p:spPr>
          <a:xfrm>
            <a:off x="457200" y="2423160"/>
            <a:ext cx="5120640" cy="274320"/>
          </a:xfrm>
          <a:prstGeom prst="rect">
            <a:avLst/>
          </a:prstGeom>
          <a:noFill/>
        </p:spPr>
        <p:txBody>
          <a:bodyPr wrap="square">
            <a:spAutoFit/>
          </a:bodyPr>
          <a:lstStyle/>
          <a:p>
            <a:pPr algn="l"/>
            <a:r>
              <a:rPr sz="1000" b="1" i="0">
                <a:solidFill>
                  <a:srgbClr val="2E86AB"/>
                </a:solidFill>
              </a:rPr>
              <a:t>1回のフェッチで発行するAPIコール（計2件）</a:t>
            </a:r>
          </a:p>
        </p:txBody>
      </p:sp>
      <p:sp>
        <p:nvSpPr>
          <p:cNvPr id="10" name="Rectangle 9"/>
          <p:cNvSpPr/>
          <p:nvPr/>
        </p:nvSpPr>
        <p:spPr>
          <a:xfrm>
            <a:off x="457200" y="2724912"/>
            <a:ext cx="502920" cy="25603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743200"/>
            <a:ext cx="502920" cy="219456"/>
          </a:xfrm>
          <a:prstGeom prst="rect">
            <a:avLst/>
          </a:prstGeom>
          <a:noFill/>
        </p:spPr>
        <p:txBody>
          <a:bodyPr wrap="square">
            <a:spAutoFit/>
          </a:bodyPr>
          <a:lstStyle/>
          <a:p>
            <a:pPr algn="ctr"/>
            <a:r>
              <a:rPr sz="900" b="1" i="0">
                <a:solidFill>
                  <a:srgbClr val="FFFFFF"/>
                </a:solidFill>
              </a:rPr>
              <a:t>GET</a:t>
            </a:r>
          </a:p>
        </p:txBody>
      </p:sp>
      <p:sp>
        <p:nvSpPr>
          <p:cNvPr id="12" name="TextBox 11"/>
          <p:cNvSpPr txBox="1"/>
          <p:nvPr/>
        </p:nvSpPr>
        <p:spPr>
          <a:xfrm>
            <a:off x="1005840" y="2724912"/>
            <a:ext cx="4297680" cy="256032"/>
          </a:xfrm>
          <a:prstGeom prst="rect">
            <a:avLst/>
          </a:prstGeom>
          <a:noFill/>
        </p:spPr>
        <p:txBody>
          <a:bodyPr wrap="square">
            <a:spAutoFit/>
          </a:bodyPr>
          <a:lstStyle/>
          <a:p>
            <a:pPr algn="l"/>
            <a:r>
              <a:rPr sz="900" b="0" i="0">
                <a:solidFill>
                  <a:srgbClr val="F39C12"/>
                </a:solidFill>
              </a:rPr>
              <a:t>/api/public/traces/{trace_id}</a:t>
            </a:r>
          </a:p>
        </p:txBody>
      </p:sp>
      <p:sp>
        <p:nvSpPr>
          <p:cNvPr id="13" name="TextBox 12"/>
          <p:cNvSpPr txBox="1"/>
          <p:nvPr/>
        </p:nvSpPr>
        <p:spPr>
          <a:xfrm>
            <a:off x="457200" y="2999232"/>
            <a:ext cx="5120640" cy="256032"/>
          </a:xfrm>
          <a:prstGeom prst="rect">
            <a:avLst/>
          </a:prstGeom>
          <a:noFill/>
        </p:spPr>
        <p:txBody>
          <a:bodyPr wrap="square">
            <a:spAutoFit/>
          </a:bodyPr>
          <a:lstStyle/>
          <a:p>
            <a:pPr algn="l"/>
            <a:r>
              <a:rPr sz="900" b="0" i="0">
                <a:solidFill>
                  <a:srgbClr val="CCD6E0"/>
                </a:solidFill>
              </a:rPr>
              <a:t>トップレベルトレース: 名称・ステータス・入出力・レイテンシ・コスト</a:t>
            </a:r>
          </a:p>
        </p:txBody>
      </p:sp>
      <p:sp>
        <p:nvSpPr>
          <p:cNvPr id="14" name="Rectangle 13"/>
          <p:cNvSpPr/>
          <p:nvPr/>
        </p:nvSpPr>
        <p:spPr>
          <a:xfrm>
            <a:off x="457200" y="3346704"/>
            <a:ext cx="502920" cy="25603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364992"/>
            <a:ext cx="502920" cy="219456"/>
          </a:xfrm>
          <a:prstGeom prst="rect">
            <a:avLst/>
          </a:prstGeom>
          <a:noFill/>
        </p:spPr>
        <p:txBody>
          <a:bodyPr wrap="square">
            <a:spAutoFit/>
          </a:bodyPr>
          <a:lstStyle/>
          <a:p>
            <a:pPr algn="ctr"/>
            <a:r>
              <a:rPr sz="900" b="1" i="0">
                <a:solidFill>
                  <a:srgbClr val="FFFFFF"/>
                </a:solidFill>
              </a:rPr>
              <a:t>GET</a:t>
            </a:r>
          </a:p>
        </p:txBody>
      </p:sp>
      <p:sp>
        <p:nvSpPr>
          <p:cNvPr id="16" name="TextBox 15"/>
          <p:cNvSpPr txBox="1"/>
          <p:nvPr/>
        </p:nvSpPr>
        <p:spPr>
          <a:xfrm>
            <a:off x="1005840" y="3346704"/>
            <a:ext cx="4297680" cy="256032"/>
          </a:xfrm>
          <a:prstGeom prst="rect">
            <a:avLst/>
          </a:prstGeom>
          <a:noFill/>
        </p:spPr>
        <p:txBody>
          <a:bodyPr wrap="square">
            <a:spAutoFit/>
          </a:bodyPr>
          <a:lstStyle/>
          <a:p>
            <a:pPr algn="l"/>
            <a:r>
              <a:rPr sz="900" b="0" i="0">
                <a:solidFill>
                  <a:srgbClr val="F39C12"/>
                </a:solidFill>
              </a:rPr>
              <a:t>/api/public/observations?traceId=...&amp;limit=100</a:t>
            </a:r>
          </a:p>
        </p:txBody>
      </p:sp>
      <p:sp>
        <p:nvSpPr>
          <p:cNvPr id="17" name="TextBox 16"/>
          <p:cNvSpPr txBox="1"/>
          <p:nvPr/>
        </p:nvSpPr>
        <p:spPr>
          <a:xfrm>
            <a:off x="457200" y="3621024"/>
            <a:ext cx="5120640" cy="256032"/>
          </a:xfrm>
          <a:prstGeom prst="rect">
            <a:avLst/>
          </a:prstGeom>
          <a:noFill/>
        </p:spPr>
        <p:txBody>
          <a:bodyPr wrap="square">
            <a:spAutoFit/>
          </a:bodyPr>
          <a:lstStyle/>
          <a:p>
            <a:pPr algn="l"/>
            <a:r>
              <a:rPr sz="900" b="0" i="0">
                <a:solidFill>
                  <a:srgbClr val="CCD6E0"/>
                </a:solidFill>
              </a:rPr>
              <a:t>子スパン/ジェネレーション全件: ステータス・モデル・トークン数・エラー</a:t>
            </a:r>
          </a:p>
        </p:txBody>
      </p:sp>
      <p:sp>
        <p:nvSpPr>
          <p:cNvPr id="18" name="TextBox 17"/>
          <p:cNvSpPr txBox="1"/>
          <p:nvPr/>
        </p:nvSpPr>
        <p:spPr>
          <a:xfrm>
            <a:off x="457200" y="4023360"/>
            <a:ext cx="5120640" cy="274320"/>
          </a:xfrm>
          <a:prstGeom prst="rect">
            <a:avLst/>
          </a:prstGeom>
          <a:noFill/>
        </p:spPr>
        <p:txBody>
          <a:bodyPr wrap="square">
            <a:spAutoFit/>
          </a:bodyPr>
          <a:lstStyle/>
          <a:p>
            <a:pPr algn="l"/>
            <a:r>
              <a:rPr sz="1000" b="1" i="0">
                <a:solidFill>
                  <a:srgbClr val="2E86AB"/>
                </a:solidFill>
              </a:rPr>
              <a:t>使用エージェント</a:t>
            </a:r>
          </a:p>
        </p:txBody>
      </p:sp>
      <p:sp>
        <p:nvSpPr>
          <p:cNvPr id="19" name="TextBox 18"/>
          <p:cNvSpPr txBox="1"/>
          <p:nvPr/>
        </p:nvSpPr>
        <p:spPr>
          <a:xfrm>
            <a:off x="548640" y="4297680"/>
            <a:ext cx="4937760" cy="219456"/>
          </a:xfrm>
          <a:prstGeom prst="rect">
            <a:avLst/>
          </a:prstGeom>
          <a:noFill/>
        </p:spPr>
        <p:txBody>
          <a:bodyPr wrap="square">
            <a:spAutoFit/>
          </a:bodyPr>
          <a:lstStyle/>
          <a:p>
            <a:pPr algn="l"/>
            <a:r>
              <a:rPr sz="950" b="0" i="0">
                <a:solidFill>
                  <a:srgbClr val="FFFFFF"/>
                </a:solidFill>
              </a:rPr>
              <a:t>• 正規化（trace_id指定時）</a:t>
            </a:r>
          </a:p>
        </p:txBody>
      </p:sp>
      <p:sp>
        <p:nvSpPr>
          <p:cNvPr id="20" name="TextBox 19"/>
          <p:cNvSpPr txBox="1"/>
          <p:nvPr/>
        </p:nvSpPr>
        <p:spPr>
          <a:xfrm>
            <a:off x="548640" y="4535424"/>
            <a:ext cx="4937760" cy="219456"/>
          </a:xfrm>
          <a:prstGeom prst="rect">
            <a:avLst/>
          </a:prstGeom>
          <a:noFill/>
        </p:spPr>
        <p:txBody>
          <a:bodyPr wrap="square">
            <a:spAutoFit/>
          </a:bodyPr>
          <a:lstStyle/>
          <a:p>
            <a:pPr algn="l"/>
            <a:r>
              <a:rPr sz="950" b="0" i="0">
                <a:solidFill>
                  <a:srgbClr val="FFFFFF"/>
                </a:solidFill>
              </a:rPr>
              <a:t>• 相関分析（trace_id利用可能時は常時）</a:t>
            </a:r>
          </a:p>
        </p:txBody>
      </p:sp>
      <p:sp>
        <p:nvSpPr>
          <p:cNvPr id="21" name="TextBox 20"/>
          <p:cNvSpPr txBox="1"/>
          <p:nvPr/>
        </p:nvSpPr>
        <p:spPr>
          <a:xfrm>
            <a:off x="548640" y="4773168"/>
            <a:ext cx="4937760" cy="219456"/>
          </a:xfrm>
          <a:prstGeom prst="rect">
            <a:avLst/>
          </a:prstGeom>
          <a:noFill/>
        </p:spPr>
        <p:txBody>
          <a:bodyPr wrap="square">
            <a:spAutoFit/>
          </a:bodyPr>
          <a:lstStyle/>
          <a:p>
            <a:pPr algn="l"/>
            <a:r>
              <a:rPr sz="950" b="0" i="0">
                <a:solidFill>
                  <a:srgbClr val="FFFFFF"/>
                </a:solidFill>
              </a:rPr>
              <a:t>• エラー分析（対象=AgentまたはUnknown時）</a:t>
            </a:r>
          </a:p>
        </p:txBody>
      </p:sp>
      <p:sp>
        <p:nvSpPr>
          <p:cNvPr id="22" name="TextBox 21"/>
          <p:cNvSpPr txBox="1"/>
          <p:nvPr/>
        </p:nvSpPr>
        <p:spPr>
          <a:xfrm>
            <a:off x="548640" y="5010912"/>
            <a:ext cx="4937760" cy="219456"/>
          </a:xfrm>
          <a:prstGeom prst="rect">
            <a:avLst/>
          </a:prstGeom>
          <a:noFill/>
        </p:spPr>
        <p:txBody>
          <a:bodyPr wrap="square">
            <a:spAutoFit/>
          </a:bodyPr>
          <a:lstStyle/>
          <a:p>
            <a:pPr algn="l"/>
            <a:r>
              <a:rPr sz="950" b="0" i="0">
                <a:solidFill>
                  <a:srgbClr val="FFFFFF"/>
                </a:solidFill>
              </a:rPr>
              <a:t>• 根本原因分析（対象=AgentまたはUnknown時）</a:t>
            </a:r>
          </a:p>
        </p:txBody>
      </p:sp>
      <p:sp>
        <p:nvSpPr>
          <p:cNvPr id="23" name="Rectangle 22"/>
          <p:cNvSpPr/>
          <p:nvPr/>
        </p:nvSpPr>
        <p:spPr>
          <a:xfrm>
            <a:off x="5943600" y="914400"/>
            <a:ext cx="5989320" cy="5303520"/>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26480" y="960120"/>
            <a:ext cx="5669280" cy="274320"/>
          </a:xfrm>
          <a:prstGeom prst="rect">
            <a:avLst/>
          </a:prstGeom>
          <a:noFill/>
        </p:spPr>
        <p:txBody>
          <a:bodyPr wrap="square">
            <a:spAutoFit/>
          </a:bodyPr>
          <a:lstStyle/>
          <a:p>
            <a:pPr algn="l"/>
            <a:r>
              <a:rPr sz="1000" b="1" i="0">
                <a:solidFill>
                  <a:srgbClr val="2E86AB"/>
                </a:solidFill>
              </a:rPr>
              <a:t>エラー検出ロジック</a:t>
            </a:r>
          </a:p>
        </p:txBody>
      </p:sp>
      <p:sp>
        <p:nvSpPr>
          <p:cNvPr id="25" name="TextBox 24"/>
          <p:cNvSpPr txBox="1"/>
          <p:nvPr/>
        </p:nvSpPr>
        <p:spPr>
          <a:xfrm>
            <a:off x="6126480" y="1234440"/>
            <a:ext cx="5669280" cy="320040"/>
          </a:xfrm>
          <a:prstGeom prst="rect">
            <a:avLst/>
          </a:prstGeom>
          <a:noFill/>
        </p:spPr>
        <p:txBody>
          <a:bodyPr wrap="square">
            <a:spAutoFit/>
          </a:bodyPr>
          <a:lstStyle/>
          <a:p>
            <a:pPr algn="l"/>
            <a:r>
              <a:rPr sz="950" b="0" i="0">
                <a:solidFill>
                  <a:srgbClr val="FFFFFF"/>
                </a:solidFill>
              </a:rPr>
              <a:t>各observationを4フィールドの順序で ERROR / WARN / INFO に分類:</a:t>
            </a:r>
          </a:p>
        </p:txBody>
      </p:sp>
      <p:sp>
        <p:nvSpPr>
          <p:cNvPr id="26" name="Rectangle 25"/>
          <p:cNvSpPr/>
          <p:nvPr/>
        </p:nvSpPr>
        <p:spPr>
          <a:xfrm>
            <a:off x="6035040" y="1645920"/>
            <a:ext cx="320040" cy="34747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35040" y="1682496"/>
            <a:ext cx="320040" cy="274320"/>
          </a:xfrm>
          <a:prstGeom prst="rect">
            <a:avLst/>
          </a:prstGeom>
          <a:noFill/>
        </p:spPr>
        <p:txBody>
          <a:bodyPr wrap="square">
            <a:spAutoFit/>
          </a:bodyPr>
          <a:lstStyle/>
          <a:p>
            <a:pPr algn="ctr"/>
            <a:r>
              <a:rPr sz="1100" b="1" i="0">
                <a:solidFill>
                  <a:srgbClr val="FFFFFF"/>
                </a:solidFill>
              </a:rPr>
              <a:t>1</a:t>
            </a:r>
          </a:p>
        </p:txBody>
      </p:sp>
      <p:sp>
        <p:nvSpPr>
          <p:cNvPr id="28" name="TextBox 27"/>
          <p:cNvSpPr txBox="1"/>
          <p:nvPr/>
        </p:nvSpPr>
        <p:spPr>
          <a:xfrm>
            <a:off x="6400800" y="1664208"/>
            <a:ext cx="1371600" cy="164592"/>
          </a:xfrm>
          <a:prstGeom prst="rect">
            <a:avLst/>
          </a:prstGeom>
          <a:noFill/>
        </p:spPr>
        <p:txBody>
          <a:bodyPr wrap="square">
            <a:spAutoFit/>
          </a:bodyPr>
          <a:lstStyle/>
          <a:p>
            <a:pPr algn="l"/>
            <a:r>
              <a:rPr sz="950" b="1" i="0">
                <a:solidFill>
                  <a:srgbClr val="F39C12"/>
                </a:solidFill>
              </a:rPr>
              <a:t>statusフィールド</a:t>
            </a:r>
          </a:p>
        </p:txBody>
      </p:sp>
      <p:sp>
        <p:nvSpPr>
          <p:cNvPr id="29" name="TextBox 28"/>
          <p:cNvSpPr txBox="1"/>
          <p:nvPr/>
        </p:nvSpPr>
        <p:spPr>
          <a:xfrm>
            <a:off x="6400800" y="1828800"/>
            <a:ext cx="5303520" cy="182880"/>
          </a:xfrm>
          <a:prstGeom prst="rect">
            <a:avLst/>
          </a:prstGeom>
          <a:noFill/>
        </p:spPr>
        <p:txBody>
          <a:bodyPr wrap="square">
            <a:spAutoFit/>
          </a:bodyPr>
          <a:lstStyle/>
          <a:p>
            <a:pPr algn="l"/>
            <a:r>
              <a:rPr sz="900" b="0" i="0">
                <a:solidFill>
                  <a:srgbClr val="CCD6E0"/>
                </a:solidFill>
              </a:rPr>
              <a:t>ERROR / FAIL / FAILED → ERROR</a:t>
            </a:r>
          </a:p>
        </p:txBody>
      </p:sp>
      <p:sp>
        <p:nvSpPr>
          <p:cNvPr id="30" name="Rectangle 29"/>
          <p:cNvSpPr/>
          <p:nvPr/>
        </p:nvSpPr>
        <p:spPr>
          <a:xfrm>
            <a:off x="6035040" y="2103120"/>
            <a:ext cx="320040" cy="34747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035040" y="2139696"/>
            <a:ext cx="320040" cy="274320"/>
          </a:xfrm>
          <a:prstGeom prst="rect">
            <a:avLst/>
          </a:prstGeom>
          <a:noFill/>
        </p:spPr>
        <p:txBody>
          <a:bodyPr wrap="square">
            <a:spAutoFit/>
          </a:bodyPr>
          <a:lstStyle/>
          <a:p>
            <a:pPr algn="ctr"/>
            <a:r>
              <a:rPr sz="1100" b="1" i="0">
                <a:solidFill>
                  <a:srgbClr val="FFFFFF"/>
                </a:solidFill>
              </a:rPr>
              <a:t>2</a:t>
            </a:r>
          </a:p>
        </p:txBody>
      </p:sp>
      <p:sp>
        <p:nvSpPr>
          <p:cNvPr id="32" name="TextBox 31"/>
          <p:cNvSpPr txBox="1"/>
          <p:nvPr/>
        </p:nvSpPr>
        <p:spPr>
          <a:xfrm>
            <a:off x="6400800" y="2121408"/>
            <a:ext cx="1371600" cy="164592"/>
          </a:xfrm>
          <a:prstGeom prst="rect">
            <a:avLst/>
          </a:prstGeom>
          <a:noFill/>
        </p:spPr>
        <p:txBody>
          <a:bodyPr wrap="square">
            <a:spAutoFit/>
          </a:bodyPr>
          <a:lstStyle/>
          <a:p>
            <a:pPr algn="l"/>
            <a:r>
              <a:rPr sz="950" b="1" i="0">
                <a:solidFill>
                  <a:srgbClr val="F39C12"/>
                </a:solidFill>
              </a:rPr>
              <a:t>statusMessage</a:t>
            </a:r>
          </a:p>
        </p:txBody>
      </p:sp>
      <p:sp>
        <p:nvSpPr>
          <p:cNvPr id="33" name="TextBox 32"/>
          <p:cNvSpPr txBox="1"/>
          <p:nvPr/>
        </p:nvSpPr>
        <p:spPr>
          <a:xfrm>
            <a:off x="6400800" y="2286000"/>
            <a:ext cx="5303520" cy="182880"/>
          </a:xfrm>
          <a:prstGeom prst="rect">
            <a:avLst/>
          </a:prstGeom>
          <a:noFill/>
        </p:spPr>
        <p:txBody>
          <a:bodyPr wrap="square">
            <a:spAutoFit/>
          </a:bodyPr>
          <a:lstStyle/>
          <a:p>
            <a:pPr algn="l"/>
            <a:r>
              <a:rPr sz="900" b="0" i="0">
                <a:solidFill>
                  <a:srgbClr val="CCD6E0"/>
                </a:solidFill>
              </a:rPr>
              <a:t>エラーキーワード含有 → ERROR</a:t>
            </a:r>
          </a:p>
        </p:txBody>
      </p:sp>
      <p:sp>
        <p:nvSpPr>
          <p:cNvPr id="34" name="Rectangle 33"/>
          <p:cNvSpPr/>
          <p:nvPr/>
        </p:nvSpPr>
        <p:spPr>
          <a:xfrm>
            <a:off x="6035040" y="2560320"/>
            <a:ext cx="320040" cy="34747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35040" y="2596896"/>
            <a:ext cx="320040" cy="274320"/>
          </a:xfrm>
          <a:prstGeom prst="rect">
            <a:avLst/>
          </a:prstGeom>
          <a:noFill/>
        </p:spPr>
        <p:txBody>
          <a:bodyPr wrap="square">
            <a:spAutoFit/>
          </a:bodyPr>
          <a:lstStyle/>
          <a:p>
            <a:pPr algn="ctr"/>
            <a:r>
              <a:rPr sz="1100" b="1" i="0">
                <a:solidFill>
                  <a:srgbClr val="FFFFFF"/>
                </a:solidFill>
              </a:rPr>
              <a:t>3</a:t>
            </a:r>
          </a:p>
        </p:txBody>
      </p:sp>
      <p:sp>
        <p:nvSpPr>
          <p:cNvPr id="36" name="TextBox 35"/>
          <p:cNvSpPr txBox="1"/>
          <p:nvPr/>
        </p:nvSpPr>
        <p:spPr>
          <a:xfrm>
            <a:off x="6400800" y="2578608"/>
            <a:ext cx="1371600" cy="164592"/>
          </a:xfrm>
          <a:prstGeom prst="rect">
            <a:avLst/>
          </a:prstGeom>
          <a:noFill/>
        </p:spPr>
        <p:txBody>
          <a:bodyPr wrap="square">
            <a:spAutoFit/>
          </a:bodyPr>
          <a:lstStyle/>
          <a:p>
            <a:pPr algn="l"/>
            <a:r>
              <a:rPr sz="950" b="1" i="0">
                <a:solidFill>
                  <a:srgbClr val="F39C12"/>
                </a:solidFill>
              </a:rPr>
              <a:t>outputフィールド</a:t>
            </a:r>
          </a:p>
        </p:txBody>
      </p:sp>
      <p:sp>
        <p:nvSpPr>
          <p:cNvPr id="37" name="TextBox 36"/>
          <p:cNvSpPr txBox="1"/>
          <p:nvPr/>
        </p:nvSpPr>
        <p:spPr>
          <a:xfrm>
            <a:off x="6400800" y="2743200"/>
            <a:ext cx="5303520" cy="182880"/>
          </a:xfrm>
          <a:prstGeom prst="rect">
            <a:avLst/>
          </a:prstGeom>
          <a:noFill/>
        </p:spPr>
        <p:txBody>
          <a:bodyPr wrap="square">
            <a:spAutoFit/>
          </a:bodyPr>
          <a:lstStyle/>
          <a:p>
            <a:pPr algn="l"/>
            <a:r>
              <a:rPr sz="900" b="0" i="0">
                <a:solidFill>
                  <a:srgbClr val="CCD6E0"/>
                </a:solidFill>
              </a:rPr>
              <a:t>JSONに'error'キー → ERROR  |  文字列マッチ → ERROR</a:t>
            </a:r>
          </a:p>
        </p:txBody>
      </p:sp>
      <p:sp>
        <p:nvSpPr>
          <p:cNvPr id="38" name="Rectangle 37"/>
          <p:cNvSpPr/>
          <p:nvPr/>
        </p:nvSpPr>
        <p:spPr>
          <a:xfrm>
            <a:off x="6035040" y="3017520"/>
            <a:ext cx="320040" cy="34747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35040" y="3054096"/>
            <a:ext cx="320040" cy="274320"/>
          </a:xfrm>
          <a:prstGeom prst="rect">
            <a:avLst/>
          </a:prstGeom>
          <a:noFill/>
        </p:spPr>
        <p:txBody>
          <a:bodyPr wrap="square">
            <a:spAutoFit/>
          </a:bodyPr>
          <a:lstStyle/>
          <a:p>
            <a:pPr algn="ctr"/>
            <a:r>
              <a:rPr sz="1100" b="1" i="0">
                <a:solidFill>
                  <a:srgbClr val="FFFFFF"/>
                </a:solidFill>
              </a:rPr>
              <a:t>4</a:t>
            </a:r>
          </a:p>
        </p:txBody>
      </p:sp>
      <p:sp>
        <p:nvSpPr>
          <p:cNvPr id="40" name="TextBox 39"/>
          <p:cNvSpPr txBox="1"/>
          <p:nvPr/>
        </p:nvSpPr>
        <p:spPr>
          <a:xfrm>
            <a:off x="6400800" y="3035808"/>
            <a:ext cx="1371600" cy="164592"/>
          </a:xfrm>
          <a:prstGeom prst="rect">
            <a:avLst/>
          </a:prstGeom>
          <a:noFill/>
        </p:spPr>
        <p:txBody>
          <a:bodyPr wrap="square">
            <a:spAutoFit/>
          </a:bodyPr>
          <a:lstStyle/>
          <a:p>
            <a:pPr algn="l"/>
            <a:r>
              <a:rPr sz="950" b="1" i="0">
                <a:solidFill>
                  <a:srgbClr val="F39C12"/>
                </a:solidFill>
              </a:rPr>
              <a:t>inputフィールド</a:t>
            </a:r>
          </a:p>
        </p:txBody>
      </p:sp>
      <p:sp>
        <p:nvSpPr>
          <p:cNvPr id="41" name="TextBox 40"/>
          <p:cNvSpPr txBox="1"/>
          <p:nvPr/>
        </p:nvSpPr>
        <p:spPr>
          <a:xfrm>
            <a:off x="6400800" y="3200400"/>
            <a:ext cx="5303520" cy="182880"/>
          </a:xfrm>
          <a:prstGeom prst="rect">
            <a:avLst/>
          </a:prstGeom>
          <a:noFill/>
        </p:spPr>
        <p:txBody>
          <a:bodyPr wrap="square">
            <a:spAutoFit/>
          </a:bodyPr>
          <a:lstStyle/>
          <a:p>
            <a:pPr algn="l"/>
            <a:r>
              <a:rPr sz="900" b="0" i="0">
                <a:solidFill>
                  <a:srgbClr val="CCD6E0"/>
                </a:solidFill>
              </a:rPr>
              <a:t>エラーキーワードマッチ → WARN</a:t>
            </a:r>
          </a:p>
        </p:txBody>
      </p:sp>
      <p:sp>
        <p:nvSpPr>
          <p:cNvPr id="42" name="Rectangle 41"/>
          <p:cNvSpPr/>
          <p:nvPr/>
        </p:nvSpPr>
        <p:spPr>
          <a:xfrm>
            <a:off x="6035040" y="3474720"/>
            <a:ext cx="320040" cy="34747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035040" y="3511296"/>
            <a:ext cx="320040" cy="274320"/>
          </a:xfrm>
          <a:prstGeom prst="rect">
            <a:avLst/>
          </a:prstGeom>
          <a:noFill/>
        </p:spPr>
        <p:txBody>
          <a:bodyPr wrap="square">
            <a:spAutoFit/>
          </a:bodyPr>
          <a:lstStyle/>
          <a:p>
            <a:pPr algn="ctr"/>
            <a:r>
              <a:rPr sz="1100" b="1" i="0">
                <a:solidFill>
                  <a:srgbClr val="FFFFFF"/>
                </a:solidFill>
              </a:rPr>
              <a:t>5</a:t>
            </a:r>
          </a:p>
        </p:txBody>
      </p:sp>
      <p:sp>
        <p:nvSpPr>
          <p:cNvPr id="44" name="TextBox 43"/>
          <p:cNvSpPr txBox="1"/>
          <p:nvPr/>
        </p:nvSpPr>
        <p:spPr>
          <a:xfrm>
            <a:off x="6400800" y="3493008"/>
            <a:ext cx="1371600" cy="164592"/>
          </a:xfrm>
          <a:prstGeom prst="rect">
            <a:avLst/>
          </a:prstGeom>
          <a:noFill/>
        </p:spPr>
        <p:txBody>
          <a:bodyPr wrap="square">
            <a:spAutoFit/>
          </a:bodyPr>
          <a:lstStyle/>
          <a:p>
            <a:pPr algn="l"/>
            <a:r>
              <a:rPr sz="950" b="1" i="0">
                <a:solidFill>
                  <a:srgbClr val="F39C12"/>
                </a:solidFill>
              </a:rPr>
              <a:t>デフォルト</a:t>
            </a:r>
          </a:p>
        </p:txBody>
      </p:sp>
      <p:sp>
        <p:nvSpPr>
          <p:cNvPr id="45" name="TextBox 44"/>
          <p:cNvSpPr txBox="1"/>
          <p:nvPr/>
        </p:nvSpPr>
        <p:spPr>
          <a:xfrm>
            <a:off x="6400800" y="3657600"/>
            <a:ext cx="5303520" cy="182880"/>
          </a:xfrm>
          <a:prstGeom prst="rect">
            <a:avLst/>
          </a:prstGeom>
          <a:noFill/>
        </p:spPr>
        <p:txBody>
          <a:bodyPr wrap="square">
            <a:spAutoFit/>
          </a:bodyPr>
          <a:lstStyle/>
          <a:p>
            <a:pPr algn="l"/>
            <a:r>
              <a:rPr sz="900" b="0" i="0">
                <a:solidFill>
                  <a:srgbClr val="CCD6E0"/>
                </a:solidFill>
              </a:rPr>
              <a:t>→ INFO</a:t>
            </a:r>
          </a:p>
        </p:txBody>
      </p:sp>
      <p:sp>
        <p:nvSpPr>
          <p:cNvPr id="46" name="TextBox 45"/>
          <p:cNvSpPr txBox="1"/>
          <p:nvPr/>
        </p:nvSpPr>
        <p:spPr>
          <a:xfrm>
            <a:off x="6126480" y="4160520"/>
            <a:ext cx="5669280" cy="274320"/>
          </a:xfrm>
          <a:prstGeom prst="rect">
            <a:avLst/>
          </a:prstGeom>
          <a:noFill/>
        </p:spPr>
        <p:txBody>
          <a:bodyPr wrap="square">
            <a:spAutoFit/>
          </a:bodyPr>
          <a:lstStyle/>
          <a:p>
            <a:pPr algn="l"/>
            <a:r>
              <a:rPr sz="1000" b="1" i="0">
                <a:solidFill>
                  <a:srgbClr val="2E86AB"/>
                </a:solidFill>
              </a:rPr>
              <a:t>出力フォーマット（ログエントリ単位）</a:t>
            </a:r>
          </a:p>
        </p:txBody>
      </p:sp>
      <p:sp>
        <p:nvSpPr>
          <p:cNvPr id="47" name="TextBox 46"/>
          <p:cNvSpPr txBox="1"/>
          <p:nvPr/>
        </p:nvSpPr>
        <p:spPr>
          <a:xfrm>
            <a:off x="6217920" y="4434840"/>
            <a:ext cx="5577840" cy="219456"/>
          </a:xfrm>
          <a:prstGeom prst="rect">
            <a:avLst/>
          </a:prstGeom>
          <a:noFill/>
        </p:spPr>
        <p:txBody>
          <a:bodyPr wrap="square">
            <a:spAutoFit/>
          </a:bodyPr>
          <a:lstStyle/>
          <a:p>
            <a:pPr algn="l"/>
            <a:r>
              <a:rPr sz="950" b="0" i="0">
                <a:solidFill>
                  <a:srgbClr val="FFFFFF"/>
                </a:solidFill>
              </a:rPr>
              <a:t>→  timestamp（タイムスタンプ）</a:t>
            </a:r>
          </a:p>
        </p:txBody>
      </p:sp>
      <p:sp>
        <p:nvSpPr>
          <p:cNvPr id="48" name="TextBox 47"/>
          <p:cNvSpPr txBox="1"/>
          <p:nvPr/>
        </p:nvSpPr>
        <p:spPr>
          <a:xfrm>
            <a:off x="6217920" y="4672583"/>
            <a:ext cx="5577840" cy="219456"/>
          </a:xfrm>
          <a:prstGeom prst="rect">
            <a:avLst/>
          </a:prstGeom>
          <a:noFill/>
        </p:spPr>
        <p:txBody>
          <a:bodyPr wrap="square">
            <a:spAutoFit/>
          </a:bodyPr>
          <a:lstStyle/>
          <a:p>
            <a:pPr algn="l"/>
            <a:r>
              <a:rPr sz="950" b="0" i="0">
                <a:solidFill>
                  <a:srgbClr val="FFFFFF"/>
                </a:solidFill>
              </a:rPr>
              <a:t>→  source  (langfuse)</a:t>
            </a:r>
          </a:p>
        </p:txBody>
      </p:sp>
      <p:sp>
        <p:nvSpPr>
          <p:cNvPr id="49" name="TextBox 48"/>
          <p:cNvSpPr txBox="1"/>
          <p:nvPr/>
        </p:nvSpPr>
        <p:spPr>
          <a:xfrm>
            <a:off x="6217920" y="4910327"/>
            <a:ext cx="5577840" cy="219456"/>
          </a:xfrm>
          <a:prstGeom prst="rect">
            <a:avLst/>
          </a:prstGeom>
          <a:noFill/>
        </p:spPr>
        <p:txBody>
          <a:bodyPr wrap="square">
            <a:spAutoFit/>
          </a:bodyPr>
          <a:lstStyle/>
          <a:p>
            <a:pPr algn="l"/>
            <a:r>
              <a:rPr sz="950" b="0" i="0">
                <a:solidFill>
                  <a:srgbClr val="FFFFFF"/>
                </a:solidFill>
              </a:rPr>
              <a:t>→  service  （observation名）</a:t>
            </a:r>
          </a:p>
        </p:txBody>
      </p:sp>
      <p:sp>
        <p:nvSpPr>
          <p:cNvPr id="50" name="TextBox 49"/>
          <p:cNvSpPr txBox="1"/>
          <p:nvPr/>
        </p:nvSpPr>
        <p:spPr>
          <a:xfrm>
            <a:off x="6217920" y="5148071"/>
            <a:ext cx="5577840" cy="219456"/>
          </a:xfrm>
          <a:prstGeom prst="rect">
            <a:avLst/>
          </a:prstGeom>
          <a:noFill/>
        </p:spPr>
        <p:txBody>
          <a:bodyPr wrap="square">
            <a:spAutoFit/>
          </a:bodyPr>
          <a:lstStyle/>
          <a:p>
            <a:pPr algn="l"/>
            <a:r>
              <a:rPr sz="950" b="0" i="0">
                <a:solidFill>
                  <a:srgbClr val="FFFFFF"/>
                </a:solidFill>
              </a:rPr>
              <a:t>→  message  （種別 + ステータス + エラー + トークン数）</a:t>
            </a:r>
          </a:p>
        </p:txBody>
      </p:sp>
      <p:sp>
        <p:nvSpPr>
          <p:cNvPr id="51" name="TextBox 50"/>
          <p:cNvSpPr txBox="1"/>
          <p:nvPr/>
        </p:nvSpPr>
        <p:spPr>
          <a:xfrm>
            <a:off x="6217920" y="5385815"/>
            <a:ext cx="5577840" cy="219456"/>
          </a:xfrm>
          <a:prstGeom prst="rect">
            <a:avLst/>
          </a:prstGeom>
          <a:noFill/>
        </p:spPr>
        <p:txBody>
          <a:bodyPr wrap="square">
            <a:spAutoFit/>
          </a:bodyPr>
          <a:lstStyle/>
          <a:p>
            <a:pPr algn="l"/>
            <a:r>
              <a:rPr sz="950" b="0" i="0">
                <a:solidFill>
                  <a:srgbClr val="FFFFFF"/>
                </a:solidFill>
              </a:rPr>
              <a:t>→  level  (ERROR / WARN / INFO)</a:t>
            </a:r>
          </a:p>
        </p:txBody>
      </p:sp>
      <p:sp>
        <p:nvSpPr>
          <p:cNvPr id="52" name="TextBox 51"/>
          <p:cNvSpPr txBox="1"/>
          <p:nvPr/>
        </p:nvSpPr>
        <p:spPr>
          <a:xfrm>
            <a:off x="6217920" y="5623559"/>
            <a:ext cx="5577840" cy="219456"/>
          </a:xfrm>
          <a:prstGeom prst="rect">
            <a:avLst/>
          </a:prstGeom>
          <a:noFill/>
        </p:spPr>
        <p:txBody>
          <a:bodyPr wrap="square">
            <a:spAutoFit/>
          </a:bodyPr>
          <a:lstStyle/>
          <a:p>
            <a:pPr algn="l"/>
            <a:r>
              <a:rPr sz="950" b="0" i="0">
                <a:solidFill>
                  <a:srgbClr val="FFFFFF"/>
                </a:solidFill>
              </a:rPr>
              <a:t>→  metadata  （各種ID・モデル・コスト・レイテンシ・入出力）</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685800"/>
          </a:xfrm>
          <a:prstGeom prst="rect">
            <a:avLst/>
          </a:prstGeom>
          <a:solidFill>
            <a:srgbClr val="1A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502920"/>
          </a:xfrm>
          <a:prstGeom prst="rect">
            <a:avLst/>
          </a:prstGeom>
          <a:noFill/>
        </p:spPr>
        <p:txBody>
          <a:bodyPr wrap="square">
            <a:spAutoFit/>
          </a:bodyPr>
          <a:lstStyle/>
          <a:p>
            <a:pPr algn="l"/>
            <a:r>
              <a:rPr sz="2000" b="1" i="0">
                <a:solidFill>
                  <a:srgbClr val="2E86AB"/>
                </a:solidFill>
              </a:rPr>
              <a:t>データソース2 — Prometheus（インフラメトリクス）</a:t>
            </a:r>
          </a:p>
        </p:txBody>
      </p:sp>
      <p:sp>
        <p:nvSpPr>
          <p:cNvPr id="4" name="Rectangle 3"/>
          <p:cNvSpPr/>
          <p:nvPr/>
        </p:nvSpPr>
        <p:spPr>
          <a:xfrm>
            <a:off x="274320" y="914400"/>
            <a:ext cx="11612880" cy="100584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60120"/>
            <a:ext cx="7315200" cy="274320"/>
          </a:xfrm>
          <a:prstGeom prst="rect">
            <a:avLst/>
          </a:prstGeom>
          <a:noFill/>
        </p:spPr>
        <p:txBody>
          <a:bodyPr wrap="square">
            <a:spAutoFit/>
          </a:bodyPr>
          <a:lstStyle/>
          <a:p>
            <a:pPr algn="l"/>
            <a:r>
              <a:rPr sz="1000" b="1" i="0">
                <a:solidFill>
                  <a:srgbClr val="2E86AB"/>
                </a:solidFill>
              </a:rPr>
              <a:t>クエリ方式</a:t>
            </a:r>
          </a:p>
        </p:txBody>
      </p:sp>
      <p:sp>
        <p:nvSpPr>
          <p:cNvPr id="6" name="TextBox 5"/>
          <p:cNvSpPr txBox="1"/>
          <p:nvPr/>
        </p:nvSpPr>
        <p:spPr>
          <a:xfrm>
            <a:off x="457200" y="1234440"/>
            <a:ext cx="11155680" cy="502920"/>
          </a:xfrm>
          <a:prstGeom prst="rect">
            <a:avLst/>
          </a:prstGeom>
          <a:noFill/>
        </p:spPr>
        <p:txBody>
          <a:bodyPr wrap="square">
            <a:spAutoFit/>
          </a:bodyPr>
          <a:lstStyle/>
          <a:p>
            <a:pPr algn="l"/>
            <a:r>
              <a:rPr sz="1000" b="0" i="0">
                <a:solidFill>
                  <a:srgbClr val="FFFFFF"/>
                </a:solidFill>
              </a:rPr>
              <a:t>GET /api/v1/query_range  ·  {agent}テンプレートのPromQL  ·  インシデントタイムスタンプ前後±5分  ·  15秒ステップ分解能  ·  HTTP 10秒タイムアウト</a:t>
            </a:r>
          </a:p>
        </p:txBody>
      </p:sp>
      <p:sp>
        <p:nvSpPr>
          <p:cNvPr id="7" name="TextBox 6"/>
          <p:cNvSpPr txBox="1"/>
          <p:nvPr/>
        </p:nvSpPr>
        <p:spPr>
          <a:xfrm>
            <a:off x="274320" y="2011680"/>
            <a:ext cx="11612880" cy="274320"/>
          </a:xfrm>
          <a:prstGeom prst="rect">
            <a:avLst/>
          </a:prstGeom>
          <a:noFill/>
        </p:spPr>
        <p:txBody>
          <a:bodyPr wrap="square">
            <a:spAutoFit/>
          </a:bodyPr>
          <a:lstStyle/>
          <a:p>
            <a:pPr algn="l"/>
            <a:r>
              <a:rPr sz="1000" b="1" i="0">
                <a:solidFill>
                  <a:srgbClr val="2E86AB"/>
                </a:solidFill>
              </a:rPr>
              <a:t>デフォルト6件のPromQLクエリ（フェッチ毎に実行）</a:t>
            </a:r>
          </a:p>
        </p:txBody>
      </p:sp>
      <p:sp>
        <p:nvSpPr>
          <p:cNvPr id="8" name="Rectangle 7"/>
          <p:cNvSpPr/>
          <p:nvPr/>
        </p:nvSpPr>
        <p:spPr>
          <a:xfrm>
            <a:off x="274320" y="2331720"/>
            <a:ext cx="2011680" cy="292608"/>
          </a:xfrm>
          <a:prstGeom prst="rect">
            <a:avLst/>
          </a:prstGeom>
          <a:solidFill>
            <a:srgbClr val="1A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472" y="2368296"/>
            <a:ext cx="1920240" cy="246888"/>
          </a:xfrm>
          <a:prstGeom prst="rect">
            <a:avLst/>
          </a:prstGeom>
          <a:noFill/>
        </p:spPr>
        <p:txBody>
          <a:bodyPr wrap="square">
            <a:spAutoFit/>
          </a:bodyPr>
          <a:lstStyle/>
          <a:p>
            <a:pPr algn="l"/>
            <a:r>
              <a:rPr sz="950" b="1" i="0">
                <a:solidFill>
                  <a:srgbClr val="FFFFFF"/>
                </a:solidFill>
              </a:rPr>
              <a:t>クエリ名</a:t>
            </a:r>
          </a:p>
        </p:txBody>
      </p:sp>
      <p:sp>
        <p:nvSpPr>
          <p:cNvPr id="10" name="Rectangle 9"/>
          <p:cNvSpPr/>
          <p:nvPr/>
        </p:nvSpPr>
        <p:spPr>
          <a:xfrm>
            <a:off x="2286000" y="2331720"/>
            <a:ext cx="5029200" cy="292608"/>
          </a:xfrm>
          <a:prstGeom prst="rect">
            <a:avLst/>
          </a:prstGeom>
          <a:solidFill>
            <a:srgbClr val="1A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59152" y="2368296"/>
            <a:ext cx="4937760" cy="246888"/>
          </a:xfrm>
          <a:prstGeom prst="rect">
            <a:avLst/>
          </a:prstGeom>
          <a:noFill/>
        </p:spPr>
        <p:txBody>
          <a:bodyPr wrap="square">
            <a:spAutoFit/>
          </a:bodyPr>
          <a:lstStyle/>
          <a:p>
            <a:pPr algn="l"/>
            <a:r>
              <a:rPr sz="950" b="1" i="0">
                <a:solidFill>
                  <a:srgbClr val="FFFFFF"/>
                </a:solidFill>
              </a:rPr>
              <a:t>PromQLパターン</a:t>
            </a:r>
          </a:p>
        </p:txBody>
      </p:sp>
      <p:sp>
        <p:nvSpPr>
          <p:cNvPr id="12" name="Rectangle 11"/>
          <p:cNvSpPr/>
          <p:nvPr/>
        </p:nvSpPr>
        <p:spPr>
          <a:xfrm>
            <a:off x="7315200" y="2331720"/>
            <a:ext cx="2286000" cy="292608"/>
          </a:xfrm>
          <a:prstGeom prst="rect">
            <a:avLst/>
          </a:prstGeom>
          <a:solidFill>
            <a:srgbClr val="1A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88352" y="2368296"/>
            <a:ext cx="2194560" cy="246888"/>
          </a:xfrm>
          <a:prstGeom prst="rect">
            <a:avLst/>
          </a:prstGeom>
          <a:noFill/>
        </p:spPr>
        <p:txBody>
          <a:bodyPr wrap="square">
            <a:spAutoFit/>
          </a:bodyPr>
          <a:lstStyle/>
          <a:p>
            <a:pPr algn="l"/>
            <a:r>
              <a:rPr sz="950" b="1" i="0">
                <a:solidFill>
                  <a:srgbClr val="FFFFFF"/>
                </a:solidFill>
              </a:rPr>
              <a:t>検出対象</a:t>
            </a:r>
          </a:p>
        </p:txBody>
      </p:sp>
      <p:sp>
        <p:nvSpPr>
          <p:cNvPr id="14" name="Rectangle 13"/>
          <p:cNvSpPr/>
          <p:nvPr/>
        </p:nvSpPr>
        <p:spPr>
          <a:xfrm>
            <a:off x="9601200" y="2331720"/>
            <a:ext cx="2103120" cy="292608"/>
          </a:xfrm>
          <a:prstGeom prst="rect">
            <a:avLst/>
          </a:prstGeom>
          <a:solidFill>
            <a:srgbClr val="1A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74352" y="2368296"/>
            <a:ext cx="2011679" cy="246888"/>
          </a:xfrm>
          <a:prstGeom prst="rect">
            <a:avLst/>
          </a:prstGeom>
          <a:noFill/>
        </p:spPr>
        <p:txBody>
          <a:bodyPr wrap="square">
            <a:spAutoFit/>
          </a:bodyPr>
          <a:lstStyle/>
          <a:p>
            <a:pPr algn="l"/>
            <a:r>
              <a:rPr sz="950" b="1" i="0">
                <a:solidFill>
                  <a:srgbClr val="FFFFFF"/>
                </a:solidFill>
              </a:rPr>
              <a:t>重大度ルール</a:t>
            </a:r>
          </a:p>
        </p:txBody>
      </p:sp>
      <p:sp>
        <p:nvSpPr>
          <p:cNvPr id="16" name="Rectangle 15"/>
          <p:cNvSpPr/>
          <p:nvPr/>
        </p:nvSpPr>
        <p:spPr>
          <a:xfrm>
            <a:off x="274320" y="2624328"/>
            <a:ext cx="2011680" cy="2743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472" y="2660904"/>
            <a:ext cx="1920240" cy="228600"/>
          </a:xfrm>
          <a:prstGeom prst="rect">
            <a:avLst/>
          </a:prstGeom>
          <a:noFill/>
        </p:spPr>
        <p:txBody>
          <a:bodyPr wrap="square">
            <a:spAutoFit/>
          </a:bodyPr>
          <a:lstStyle/>
          <a:p>
            <a:pPr algn="l"/>
            <a:r>
              <a:rPr sz="950" b="0" i="0">
                <a:solidFill>
                  <a:srgbClr val="FFFFFF"/>
                </a:solidFill>
              </a:rPr>
              <a:t>error_rate</a:t>
            </a:r>
          </a:p>
        </p:txBody>
      </p:sp>
      <p:sp>
        <p:nvSpPr>
          <p:cNvPr id="18" name="Rectangle 17"/>
          <p:cNvSpPr/>
          <p:nvPr/>
        </p:nvSpPr>
        <p:spPr>
          <a:xfrm>
            <a:off x="2286000" y="2624328"/>
            <a:ext cx="5029200" cy="2743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59152" y="2660904"/>
            <a:ext cx="4937760" cy="228600"/>
          </a:xfrm>
          <a:prstGeom prst="rect">
            <a:avLst/>
          </a:prstGeom>
          <a:noFill/>
        </p:spPr>
        <p:txBody>
          <a:bodyPr wrap="square">
            <a:spAutoFit/>
          </a:bodyPr>
          <a:lstStyle/>
          <a:p>
            <a:pPr algn="l"/>
            <a:r>
              <a:rPr sz="950" b="0" i="0">
                <a:solidFill>
                  <a:srgbClr val="FFFFFF"/>
                </a:solidFill>
              </a:rPr>
              <a:t>rate(http_requests_total{status=~'5..',job=~'.*{agent}.*'}[window])</a:t>
            </a:r>
          </a:p>
        </p:txBody>
      </p:sp>
      <p:sp>
        <p:nvSpPr>
          <p:cNvPr id="20" name="Rectangle 19"/>
          <p:cNvSpPr/>
          <p:nvPr/>
        </p:nvSpPr>
        <p:spPr>
          <a:xfrm>
            <a:off x="7315200" y="2624328"/>
            <a:ext cx="2286000" cy="2743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88352" y="2660904"/>
            <a:ext cx="2194560" cy="228600"/>
          </a:xfrm>
          <a:prstGeom prst="rect">
            <a:avLst/>
          </a:prstGeom>
          <a:noFill/>
        </p:spPr>
        <p:txBody>
          <a:bodyPr wrap="square">
            <a:spAutoFit/>
          </a:bodyPr>
          <a:lstStyle/>
          <a:p>
            <a:pPr algn="l"/>
            <a:r>
              <a:rPr sz="950" b="0" i="0">
                <a:solidFill>
                  <a:srgbClr val="FFFFFF"/>
                </a:solidFill>
              </a:rPr>
              <a:t>HTTP 5xxエラー率</a:t>
            </a:r>
          </a:p>
        </p:txBody>
      </p:sp>
      <p:sp>
        <p:nvSpPr>
          <p:cNvPr id="22" name="Rectangle 21"/>
          <p:cNvSpPr/>
          <p:nvPr/>
        </p:nvSpPr>
        <p:spPr>
          <a:xfrm>
            <a:off x="9601200" y="2624328"/>
            <a:ext cx="2103120" cy="2743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74352" y="2660904"/>
            <a:ext cx="2011679" cy="228600"/>
          </a:xfrm>
          <a:prstGeom prst="rect">
            <a:avLst/>
          </a:prstGeom>
          <a:noFill/>
        </p:spPr>
        <p:txBody>
          <a:bodyPr wrap="square">
            <a:spAutoFit/>
          </a:bodyPr>
          <a:lstStyle/>
          <a:p>
            <a:pPr algn="l"/>
            <a:r>
              <a:rPr sz="950" b="0" i="0">
                <a:solidFill>
                  <a:srgbClr val="FFFFFF"/>
                </a:solidFill>
              </a:rPr>
              <a:t>ERROR: &gt; 0</a:t>
            </a:r>
          </a:p>
        </p:txBody>
      </p:sp>
      <p:sp>
        <p:nvSpPr>
          <p:cNvPr id="24" name="Rectangle 23"/>
          <p:cNvSpPr/>
          <p:nvPr/>
        </p:nvSpPr>
        <p:spPr>
          <a:xfrm>
            <a:off x="274320" y="2898648"/>
            <a:ext cx="2011680" cy="274320"/>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472" y="2935224"/>
            <a:ext cx="1920240" cy="228600"/>
          </a:xfrm>
          <a:prstGeom prst="rect">
            <a:avLst/>
          </a:prstGeom>
          <a:noFill/>
        </p:spPr>
        <p:txBody>
          <a:bodyPr wrap="square">
            <a:spAutoFit/>
          </a:bodyPr>
          <a:lstStyle/>
          <a:p>
            <a:pPr algn="l"/>
            <a:r>
              <a:rPr sz="950" b="0" i="0">
                <a:solidFill>
                  <a:srgbClr val="FFFFFF"/>
                </a:solidFill>
              </a:rPr>
              <a:t>latency_p99</a:t>
            </a:r>
          </a:p>
        </p:txBody>
      </p:sp>
      <p:sp>
        <p:nvSpPr>
          <p:cNvPr id="26" name="Rectangle 25"/>
          <p:cNvSpPr/>
          <p:nvPr/>
        </p:nvSpPr>
        <p:spPr>
          <a:xfrm>
            <a:off x="2286000" y="2898648"/>
            <a:ext cx="5029200" cy="274320"/>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359152" y="2935224"/>
            <a:ext cx="4937760" cy="228600"/>
          </a:xfrm>
          <a:prstGeom prst="rect">
            <a:avLst/>
          </a:prstGeom>
          <a:noFill/>
        </p:spPr>
        <p:txBody>
          <a:bodyPr wrap="square">
            <a:spAutoFit/>
          </a:bodyPr>
          <a:lstStyle/>
          <a:p>
            <a:pPr algn="l"/>
            <a:r>
              <a:rPr sz="950" b="0" i="0">
                <a:solidFill>
                  <a:srgbClr val="FFFFFF"/>
                </a:solidFill>
              </a:rPr>
              <a:t>histogram_quantile(0.99, rate(http_request_duration_seconds_bucket...))</a:t>
            </a:r>
          </a:p>
        </p:txBody>
      </p:sp>
      <p:sp>
        <p:nvSpPr>
          <p:cNvPr id="28" name="Rectangle 27"/>
          <p:cNvSpPr/>
          <p:nvPr/>
        </p:nvSpPr>
        <p:spPr>
          <a:xfrm>
            <a:off x="7315200" y="2898648"/>
            <a:ext cx="2286000" cy="274320"/>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88352" y="2935224"/>
            <a:ext cx="2194560" cy="228600"/>
          </a:xfrm>
          <a:prstGeom prst="rect">
            <a:avLst/>
          </a:prstGeom>
          <a:noFill/>
        </p:spPr>
        <p:txBody>
          <a:bodyPr wrap="square">
            <a:spAutoFit/>
          </a:bodyPr>
          <a:lstStyle/>
          <a:p>
            <a:pPr algn="l"/>
            <a:r>
              <a:rPr sz="950" b="0" i="0">
                <a:solidFill>
                  <a:srgbClr val="FFFFFF"/>
                </a:solidFill>
              </a:rPr>
              <a:t>P99レイテンシスパイク</a:t>
            </a:r>
          </a:p>
        </p:txBody>
      </p:sp>
      <p:sp>
        <p:nvSpPr>
          <p:cNvPr id="30" name="Rectangle 29"/>
          <p:cNvSpPr/>
          <p:nvPr/>
        </p:nvSpPr>
        <p:spPr>
          <a:xfrm>
            <a:off x="9601200" y="2898648"/>
            <a:ext cx="2103120" cy="2743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74352" y="2935224"/>
            <a:ext cx="2011679" cy="228600"/>
          </a:xfrm>
          <a:prstGeom prst="rect">
            <a:avLst/>
          </a:prstGeom>
          <a:noFill/>
        </p:spPr>
        <p:txBody>
          <a:bodyPr wrap="square">
            <a:spAutoFit/>
          </a:bodyPr>
          <a:lstStyle/>
          <a:p>
            <a:pPr algn="l"/>
            <a:r>
              <a:rPr sz="950" b="0" i="0">
                <a:solidFill>
                  <a:srgbClr val="FFFFFF"/>
                </a:solidFill>
              </a:rPr>
              <a:t>INFO のみ</a:t>
            </a:r>
          </a:p>
        </p:txBody>
      </p:sp>
      <p:sp>
        <p:nvSpPr>
          <p:cNvPr id="32" name="Rectangle 31"/>
          <p:cNvSpPr/>
          <p:nvPr/>
        </p:nvSpPr>
        <p:spPr>
          <a:xfrm>
            <a:off x="274320" y="3172968"/>
            <a:ext cx="2011680" cy="2743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7472" y="3209544"/>
            <a:ext cx="1920240" cy="228600"/>
          </a:xfrm>
          <a:prstGeom prst="rect">
            <a:avLst/>
          </a:prstGeom>
          <a:noFill/>
        </p:spPr>
        <p:txBody>
          <a:bodyPr wrap="square">
            <a:spAutoFit/>
          </a:bodyPr>
          <a:lstStyle/>
          <a:p>
            <a:pPr algn="l"/>
            <a:r>
              <a:rPr sz="950" b="0" i="0">
                <a:solidFill>
                  <a:srgbClr val="FFFFFF"/>
                </a:solidFill>
              </a:rPr>
              <a:t>up_status</a:t>
            </a:r>
          </a:p>
        </p:txBody>
      </p:sp>
      <p:sp>
        <p:nvSpPr>
          <p:cNvPr id="34" name="Rectangle 33"/>
          <p:cNvSpPr/>
          <p:nvPr/>
        </p:nvSpPr>
        <p:spPr>
          <a:xfrm>
            <a:off x="2286000" y="3172968"/>
            <a:ext cx="5029200" cy="2743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359152" y="3209544"/>
            <a:ext cx="4937760" cy="228600"/>
          </a:xfrm>
          <a:prstGeom prst="rect">
            <a:avLst/>
          </a:prstGeom>
          <a:noFill/>
        </p:spPr>
        <p:txBody>
          <a:bodyPr wrap="square">
            <a:spAutoFit/>
          </a:bodyPr>
          <a:lstStyle/>
          <a:p>
            <a:pPr algn="l"/>
            <a:r>
              <a:rPr sz="950" b="0" i="0">
                <a:solidFill>
                  <a:srgbClr val="FFFFFF"/>
                </a:solidFill>
              </a:rPr>
              <a:t>up{job=~'.*{agent}.*'}</a:t>
            </a:r>
          </a:p>
        </p:txBody>
      </p:sp>
      <p:sp>
        <p:nvSpPr>
          <p:cNvPr id="36" name="Rectangle 35"/>
          <p:cNvSpPr/>
          <p:nvPr/>
        </p:nvSpPr>
        <p:spPr>
          <a:xfrm>
            <a:off x="7315200" y="3172968"/>
            <a:ext cx="2286000" cy="2743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88352" y="3209544"/>
            <a:ext cx="2194560" cy="228600"/>
          </a:xfrm>
          <a:prstGeom prst="rect">
            <a:avLst/>
          </a:prstGeom>
          <a:noFill/>
        </p:spPr>
        <p:txBody>
          <a:bodyPr wrap="square">
            <a:spAutoFit/>
          </a:bodyPr>
          <a:lstStyle/>
          <a:p>
            <a:pPr algn="l"/>
            <a:r>
              <a:rPr sz="950" b="0" i="0">
                <a:solidFill>
                  <a:srgbClr val="FFFFFF"/>
                </a:solidFill>
              </a:rPr>
              <a:t>サービス稼働/停止</a:t>
            </a:r>
          </a:p>
        </p:txBody>
      </p:sp>
      <p:sp>
        <p:nvSpPr>
          <p:cNvPr id="38" name="Rectangle 37"/>
          <p:cNvSpPr/>
          <p:nvPr/>
        </p:nvSpPr>
        <p:spPr>
          <a:xfrm>
            <a:off x="9601200" y="3172968"/>
            <a:ext cx="2103120" cy="2743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674352" y="3209544"/>
            <a:ext cx="2011679" cy="228600"/>
          </a:xfrm>
          <a:prstGeom prst="rect">
            <a:avLst/>
          </a:prstGeom>
          <a:noFill/>
        </p:spPr>
        <p:txBody>
          <a:bodyPr wrap="square">
            <a:spAutoFit/>
          </a:bodyPr>
          <a:lstStyle/>
          <a:p>
            <a:pPr algn="l"/>
            <a:r>
              <a:rPr sz="950" b="0" i="0">
                <a:solidFill>
                  <a:srgbClr val="FFFFFF"/>
                </a:solidFill>
              </a:rPr>
              <a:t>ERROR: == 0</a:t>
            </a:r>
          </a:p>
        </p:txBody>
      </p:sp>
      <p:sp>
        <p:nvSpPr>
          <p:cNvPr id="40" name="Rectangle 39"/>
          <p:cNvSpPr/>
          <p:nvPr/>
        </p:nvSpPr>
        <p:spPr>
          <a:xfrm>
            <a:off x="274320" y="3447287"/>
            <a:ext cx="2011680" cy="274320"/>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7472" y="3483863"/>
            <a:ext cx="1920240" cy="228600"/>
          </a:xfrm>
          <a:prstGeom prst="rect">
            <a:avLst/>
          </a:prstGeom>
          <a:noFill/>
        </p:spPr>
        <p:txBody>
          <a:bodyPr wrap="square">
            <a:spAutoFit/>
          </a:bodyPr>
          <a:lstStyle/>
          <a:p>
            <a:pPr algn="l"/>
            <a:r>
              <a:rPr sz="950" b="0" i="0">
                <a:solidFill>
                  <a:srgbClr val="FFFFFF"/>
                </a:solidFill>
              </a:rPr>
              <a:t>memory_usage</a:t>
            </a:r>
          </a:p>
        </p:txBody>
      </p:sp>
      <p:sp>
        <p:nvSpPr>
          <p:cNvPr id="42" name="Rectangle 41"/>
          <p:cNvSpPr/>
          <p:nvPr/>
        </p:nvSpPr>
        <p:spPr>
          <a:xfrm>
            <a:off x="2286000" y="3447287"/>
            <a:ext cx="5029200" cy="274320"/>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359152" y="3483863"/>
            <a:ext cx="4937760" cy="228600"/>
          </a:xfrm>
          <a:prstGeom prst="rect">
            <a:avLst/>
          </a:prstGeom>
          <a:noFill/>
        </p:spPr>
        <p:txBody>
          <a:bodyPr wrap="square">
            <a:spAutoFit/>
          </a:bodyPr>
          <a:lstStyle/>
          <a:p>
            <a:pPr algn="l"/>
            <a:r>
              <a:rPr sz="950" b="0" i="0">
                <a:solidFill>
                  <a:srgbClr val="FFFFFF"/>
                </a:solidFill>
              </a:rPr>
              <a:t>container_memory_usage_bytes{pod=~'.*{agent}.*'}</a:t>
            </a:r>
          </a:p>
        </p:txBody>
      </p:sp>
      <p:sp>
        <p:nvSpPr>
          <p:cNvPr id="44" name="Rectangle 43"/>
          <p:cNvSpPr/>
          <p:nvPr/>
        </p:nvSpPr>
        <p:spPr>
          <a:xfrm>
            <a:off x="7315200" y="3447287"/>
            <a:ext cx="2286000" cy="274320"/>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88352" y="3483863"/>
            <a:ext cx="2194560" cy="228600"/>
          </a:xfrm>
          <a:prstGeom prst="rect">
            <a:avLst/>
          </a:prstGeom>
          <a:noFill/>
        </p:spPr>
        <p:txBody>
          <a:bodyPr wrap="square">
            <a:spAutoFit/>
          </a:bodyPr>
          <a:lstStyle/>
          <a:p>
            <a:pPr algn="l"/>
            <a:r>
              <a:rPr sz="950" b="0" i="0">
                <a:solidFill>
                  <a:srgbClr val="FFFFFF"/>
                </a:solidFill>
              </a:rPr>
              <a:t>コンテナメモリ使用量</a:t>
            </a:r>
          </a:p>
        </p:txBody>
      </p:sp>
      <p:sp>
        <p:nvSpPr>
          <p:cNvPr id="46" name="Rectangle 45"/>
          <p:cNvSpPr/>
          <p:nvPr/>
        </p:nvSpPr>
        <p:spPr>
          <a:xfrm>
            <a:off x="9601200" y="3447287"/>
            <a:ext cx="2103120" cy="2743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74352" y="3483863"/>
            <a:ext cx="2011679" cy="228600"/>
          </a:xfrm>
          <a:prstGeom prst="rect">
            <a:avLst/>
          </a:prstGeom>
          <a:noFill/>
        </p:spPr>
        <p:txBody>
          <a:bodyPr wrap="square">
            <a:spAutoFit/>
          </a:bodyPr>
          <a:lstStyle/>
          <a:p>
            <a:pPr algn="l"/>
            <a:r>
              <a:rPr sz="950" b="0" i="0">
                <a:solidFill>
                  <a:srgbClr val="FFFFFF"/>
                </a:solidFill>
              </a:rPr>
              <a:t>INFO のみ</a:t>
            </a:r>
          </a:p>
        </p:txBody>
      </p:sp>
      <p:sp>
        <p:nvSpPr>
          <p:cNvPr id="48" name="Rectangle 47"/>
          <p:cNvSpPr/>
          <p:nvPr/>
        </p:nvSpPr>
        <p:spPr>
          <a:xfrm>
            <a:off x="274320" y="3721607"/>
            <a:ext cx="2011680" cy="2743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7472" y="3758183"/>
            <a:ext cx="1920240" cy="228600"/>
          </a:xfrm>
          <a:prstGeom prst="rect">
            <a:avLst/>
          </a:prstGeom>
          <a:noFill/>
        </p:spPr>
        <p:txBody>
          <a:bodyPr wrap="square">
            <a:spAutoFit/>
          </a:bodyPr>
          <a:lstStyle/>
          <a:p>
            <a:pPr algn="l"/>
            <a:r>
              <a:rPr sz="950" b="0" i="0">
                <a:solidFill>
                  <a:srgbClr val="FFFFFF"/>
                </a:solidFill>
              </a:rPr>
              <a:t>restart_count</a:t>
            </a:r>
          </a:p>
        </p:txBody>
      </p:sp>
      <p:sp>
        <p:nvSpPr>
          <p:cNvPr id="50" name="Rectangle 49"/>
          <p:cNvSpPr/>
          <p:nvPr/>
        </p:nvSpPr>
        <p:spPr>
          <a:xfrm>
            <a:off x="2286000" y="3721607"/>
            <a:ext cx="5029200" cy="2743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359152" y="3758183"/>
            <a:ext cx="4937760" cy="228600"/>
          </a:xfrm>
          <a:prstGeom prst="rect">
            <a:avLst/>
          </a:prstGeom>
          <a:noFill/>
        </p:spPr>
        <p:txBody>
          <a:bodyPr wrap="square">
            <a:spAutoFit/>
          </a:bodyPr>
          <a:lstStyle/>
          <a:p>
            <a:pPr algn="l"/>
            <a:r>
              <a:rPr sz="950" b="0" i="0">
                <a:solidFill>
                  <a:srgbClr val="FFFFFF"/>
                </a:solidFill>
              </a:rPr>
              <a:t>kube_pod_container_status_restarts_total{pod=~'.*{agent}.*'}</a:t>
            </a:r>
          </a:p>
        </p:txBody>
      </p:sp>
      <p:sp>
        <p:nvSpPr>
          <p:cNvPr id="52" name="Rectangle 51"/>
          <p:cNvSpPr/>
          <p:nvPr/>
        </p:nvSpPr>
        <p:spPr>
          <a:xfrm>
            <a:off x="7315200" y="3721607"/>
            <a:ext cx="2286000" cy="2743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388352" y="3758183"/>
            <a:ext cx="2194560" cy="228600"/>
          </a:xfrm>
          <a:prstGeom prst="rect">
            <a:avLst/>
          </a:prstGeom>
          <a:noFill/>
        </p:spPr>
        <p:txBody>
          <a:bodyPr wrap="square">
            <a:spAutoFit/>
          </a:bodyPr>
          <a:lstStyle/>
          <a:p>
            <a:pPr algn="l"/>
            <a:r>
              <a:rPr sz="950" b="0" i="0">
                <a:solidFill>
                  <a:srgbClr val="FFFFFF"/>
                </a:solidFill>
              </a:rPr>
              <a:t>Podクラッシュループ検出</a:t>
            </a:r>
          </a:p>
        </p:txBody>
      </p:sp>
      <p:sp>
        <p:nvSpPr>
          <p:cNvPr id="54" name="Rectangle 53"/>
          <p:cNvSpPr/>
          <p:nvPr/>
        </p:nvSpPr>
        <p:spPr>
          <a:xfrm>
            <a:off x="9601200" y="3721607"/>
            <a:ext cx="2103120" cy="27432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674352" y="3758183"/>
            <a:ext cx="2011679" cy="228600"/>
          </a:xfrm>
          <a:prstGeom prst="rect">
            <a:avLst/>
          </a:prstGeom>
          <a:noFill/>
        </p:spPr>
        <p:txBody>
          <a:bodyPr wrap="square">
            <a:spAutoFit/>
          </a:bodyPr>
          <a:lstStyle/>
          <a:p>
            <a:pPr algn="l"/>
            <a:r>
              <a:rPr sz="950" b="0" i="0">
                <a:solidFill>
                  <a:srgbClr val="FFFFFF"/>
                </a:solidFill>
              </a:rPr>
              <a:t>WARN: &gt; 0</a:t>
            </a:r>
          </a:p>
        </p:txBody>
      </p:sp>
      <p:sp>
        <p:nvSpPr>
          <p:cNvPr id="56" name="Rectangle 55"/>
          <p:cNvSpPr/>
          <p:nvPr/>
        </p:nvSpPr>
        <p:spPr>
          <a:xfrm>
            <a:off x="274320" y="3995927"/>
            <a:ext cx="2011680" cy="274320"/>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47472" y="4032503"/>
            <a:ext cx="1920240" cy="228600"/>
          </a:xfrm>
          <a:prstGeom prst="rect">
            <a:avLst/>
          </a:prstGeom>
          <a:noFill/>
        </p:spPr>
        <p:txBody>
          <a:bodyPr wrap="square">
            <a:spAutoFit/>
          </a:bodyPr>
          <a:lstStyle/>
          <a:p>
            <a:pPr algn="l"/>
            <a:r>
              <a:rPr sz="950" b="0" i="0">
                <a:solidFill>
                  <a:srgbClr val="FFFFFF"/>
                </a:solidFill>
              </a:rPr>
              <a:t>dns_failures</a:t>
            </a:r>
          </a:p>
        </p:txBody>
      </p:sp>
      <p:sp>
        <p:nvSpPr>
          <p:cNvPr id="58" name="Rectangle 57"/>
          <p:cNvSpPr/>
          <p:nvPr/>
        </p:nvSpPr>
        <p:spPr>
          <a:xfrm>
            <a:off x="2286000" y="3995927"/>
            <a:ext cx="5029200" cy="274320"/>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359152" y="4032503"/>
            <a:ext cx="4937760" cy="228600"/>
          </a:xfrm>
          <a:prstGeom prst="rect">
            <a:avLst/>
          </a:prstGeom>
          <a:noFill/>
        </p:spPr>
        <p:txBody>
          <a:bodyPr wrap="square">
            <a:spAutoFit/>
          </a:bodyPr>
          <a:lstStyle/>
          <a:p>
            <a:pPr algn="l"/>
            <a:r>
              <a:rPr sz="950" b="0" i="0">
                <a:solidFill>
                  <a:srgbClr val="FFFFFF"/>
                </a:solidFill>
              </a:rPr>
              <a:t>rate(coredns_dns_responses_total{rcode='SERVFAIL'}[window])</a:t>
            </a:r>
          </a:p>
        </p:txBody>
      </p:sp>
      <p:sp>
        <p:nvSpPr>
          <p:cNvPr id="60" name="Rectangle 59"/>
          <p:cNvSpPr/>
          <p:nvPr/>
        </p:nvSpPr>
        <p:spPr>
          <a:xfrm>
            <a:off x="7315200" y="3995927"/>
            <a:ext cx="2286000" cy="274320"/>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388352" y="4032503"/>
            <a:ext cx="2194560" cy="228600"/>
          </a:xfrm>
          <a:prstGeom prst="rect">
            <a:avLst/>
          </a:prstGeom>
          <a:noFill/>
        </p:spPr>
        <p:txBody>
          <a:bodyPr wrap="square">
            <a:spAutoFit/>
          </a:bodyPr>
          <a:lstStyle/>
          <a:p>
            <a:pPr algn="l"/>
            <a:r>
              <a:rPr sz="950" b="0" i="0">
                <a:solidFill>
                  <a:srgbClr val="FFFFFF"/>
                </a:solidFill>
              </a:rPr>
              <a:t>DNS SERVFAIL率</a:t>
            </a:r>
          </a:p>
        </p:txBody>
      </p:sp>
      <p:sp>
        <p:nvSpPr>
          <p:cNvPr id="62" name="Rectangle 61"/>
          <p:cNvSpPr/>
          <p:nvPr/>
        </p:nvSpPr>
        <p:spPr>
          <a:xfrm>
            <a:off x="9601200" y="3995927"/>
            <a:ext cx="2103120" cy="2743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674352" y="4032503"/>
            <a:ext cx="2011679" cy="228600"/>
          </a:xfrm>
          <a:prstGeom prst="rect">
            <a:avLst/>
          </a:prstGeom>
          <a:noFill/>
        </p:spPr>
        <p:txBody>
          <a:bodyPr wrap="square">
            <a:spAutoFit/>
          </a:bodyPr>
          <a:lstStyle/>
          <a:p>
            <a:pPr algn="l"/>
            <a:r>
              <a:rPr sz="950" b="0" i="0">
                <a:solidFill>
                  <a:srgbClr val="FFFFFF"/>
                </a:solidFill>
              </a:rPr>
              <a:t>ERROR: &gt; 0</a:t>
            </a:r>
          </a:p>
        </p:txBody>
      </p:sp>
      <p:sp>
        <p:nvSpPr>
          <p:cNvPr id="64" name="Rectangle 63"/>
          <p:cNvSpPr/>
          <p:nvPr/>
        </p:nvSpPr>
        <p:spPr>
          <a:xfrm>
            <a:off x="274320" y="5120640"/>
            <a:ext cx="3657600" cy="146304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57200" y="5166360"/>
            <a:ext cx="3383280" cy="256032"/>
          </a:xfrm>
          <a:prstGeom prst="rect">
            <a:avLst/>
          </a:prstGeom>
          <a:noFill/>
        </p:spPr>
        <p:txBody>
          <a:bodyPr wrap="square">
            <a:spAutoFit/>
          </a:bodyPr>
          <a:lstStyle/>
          <a:p>
            <a:pPr algn="l"/>
            <a:r>
              <a:rPr sz="1000" b="1" i="0">
                <a:solidFill>
                  <a:srgbClr val="2E86AB"/>
                </a:solidFill>
              </a:rPr>
              <a:t>時間ウィンドウ</a:t>
            </a:r>
          </a:p>
        </p:txBody>
      </p:sp>
      <p:sp>
        <p:nvSpPr>
          <p:cNvPr id="66" name="TextBox 65"/>
          <p:cNvSpPr txBox="1"/>
          <p:nvPr/>
        </p:nvSpPr>
        <p:spPr>
          <a:xfrm>
            <a:off x="457200" y="5440680"/>
            <a:ext cx="3383280" cy="822960"/>
          </a:xfrm>
          <a:prstGeom prst="rect">
            <a:avLst/>
          </a:prstGeom>
          <a:noFill/>
        </p:spPr>
        <p:txBody>
          <a:bodyPr wrap="square">
            <a:spAutoFit/>
          </a:bodyPr>
          <a:lstStyle/>
          <a:p>
            <a:pPr algn="l"/>
            <a:r>
              <a:rPr sz="1000" b="0" i="0">
                <a:solidFill>
                  <a:srgbClr val="FFFFFF"/>
                </a:solidFill>
              </a:rPr>
              <a:t>インシデントタイムスタンプ ± 5分
障害の前後両方をキャプチャ</a:t>
            </a:r>
          </a:p>
        </p:txBody>
      </p:sp>
      <p:sp>
        <p:nvSpPr>
          <p:cNvPr id="67" name="Rectangle 66"/>
          <p:cNvSpPr/>
          <p:nvPr/>
        </p:nvSpPr>
        <p:spPr>
          <a:xfrm>
            <a:off x="4114800" y="5120640"/>
            <a:ext cx="3840480" cy="146304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297680" y="5166360"/>
            <a:ext cx="3566160" cy="256032"/>
          </a:xfrm>
          <a:prstGeom prst="rect">
            <a:avLst/>
          </a:prstGeom>
          <a:noFill/>
        </p:spPr>
        <p:txBody>
          <a:bodyPr wrap="square">
            <a:spAutoFit/>
          </a:bodyPr>
          <a:lstStyle/>
          <a:p>
            <a:pPr algn="l"/>
            <a:r>
              <a:rPr sz="1000" b="1" i="0">
                <a:solidFill>
                  <a:srgbClr val="2E86AB"/>
                </a:solidFill>
              </a:rPr>
              <a:t>クエリ失敗時の処理</a:t>
            </a:r>
          </a:p>
        </p:txBody>
      </p:sp>
      <p:sp>
        <p:nvSpPr>
          <p:cNvPr id="69" name="TextBox 68"/>
          <p:cNvSpPr txBox="1"/>
          <p:nvPr/>
        </p:nvSpPr>
        <p:spPr>
          <a:xfrm>
            <a:off x="4297680" y="5440680"/>
            <a:ext cx="3566160" cy="822960"/>
          </a:xfrm>
          <a:prstGeom prst="rect">
            <a:avLst/>
          </a:prstGeom>
          <a:noFill/>
        </p:spPr>
        <p:txBody>
          <a:bodyPr wrap="square">
            <a:spAutoFit/>
          </a:bodyPr>
          <a:lstStyle/>
          <a:p>
            <a:pPr algn="l"/>
            <a:r>
              <a:rPr sz="1000" b="0" i="0">
                <a:solidFill>
                  <a:srgbClr val="FFFFFF"/>
                </a:solidFill>
              </a:rPr>
              <a:t>各クエリ失敗はWARNプレースホルダーエントリを生成。LLMにデータ欠損を通知 — パイプラインは中断しない</a:t>
            </a:r>
          </a:p>
        </p:txBody>
      </p:sp>
      <p:sp>
        <p:nvSpPr>
          <p:cNvPr id="70" name="Rectangle 69"/>
          <p:cNvSpPr/>
          <p:nvPr/>
        </p:nvSpPr>
        <p:spPr>
          <a:xfrm>
            <a:off x="8138160" y="5120640"/>
            <a:ext cx="3749039" cy="146304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321040" y="5166360"/>
            <a:ext cx="3474720" cy="256032"/>
          </a:xfrm>
          <a:prstGeom prst="rect">
            <a:avLst/>
          </a:prstGeom>
          <a:noFill/>
        </p:spPr>
        <p:txBody>
          <a:bodyPr wrap="square">
            <a:spAutoFit/>
          </a:bodyPr>
          <a:lstStyle/>
          <a:p>
            <a:pPr algn="l"/>
            <a:r>
              <a:rPr sz="1000" b="1" i="0">
                <a:solidFill>
                  <a:srgbClr val="2E86AB"/>
                </a:solidFill>
              </a:rPr>
              <a:t>データポイント選択</a:t>
            </a:r>
          </a:p>
        </p:txBody>
      </p:sp>
      <p:sp>
        <p:nvSpPr>
          <p:cNvPr id="72" name="TextBox 71"/>
          <p:cNvSpPr txBox="1"/>
          <p:nvPr/>
        </p:nvSpPr>
        <p:spPr>
          <a:xfrm>
            <a:off x="8321040" y="5440680"/>
            <a:ext cx="3474720" cy="822960"/>
          </a:xfrm>
          <a:prstGeom prst="rect">
            <a:avLst/>
          </a:prstGeom>
          <a:noFill/>
        </p:spPr>
        <p:txBody>
          <a:bodyPr wrap="square">
            <a:spAutoFit/>
          </a:bodyPr>
          <a:lstStyle/>
          <a:p>
            <a:pPr algn="l"/>
            <a:r>
              <a:rPr sz="1000" b="0" i="0">
                <a:solidFill>
                  <a:srgbClr val="FFFFFF"/>
                </a:solidFill>
              </a:rPr>
              <a:t>時系列ごとに最後のデータポイントのみ使用 — インシデント発生時点の最新状態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685800"/>
          </a:xfrm>
          <a:prstGeom prst="rect">
            <a:avLst/>
          </a:prstGeom>
          <a:solidFill>
            <a:srgbClr val="1A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502920"/>
          </a:xfrm>
          <a:prstGeom prst="rect">
            <a:avLst/>
          </a:prstGeom>
          <a:noFill/>
        </p:spPr>
        <p:txBody>
          <a:bodyPr wrap="square">
            <a:spAutoFit/>
          </a:bodyPr>
          <a:lstStyle/>
          <a:p>
            <a:pPr algn="l"/>
            <a:r>
              <a:rPr sz="2000" b="1" i="0">
                <a:solidFill>
                  <a:srgbClr val="2E86AB"/>
                </a:solidFill>
              </a:rPr>
              <a:t>エージェント1 — 正規化エージェント</a:t>
            </a:r>
          </a:p>
        </p:txBody>
      </p:sp>
      <p:sp>
        <p:nvSpPr>
          <p:cNvPr id="4" name="TextBox 3"/>
          <p:cNvSpPr txBox="1"/>
          <p:nvPr/>
        </p:nvSpPr>
        <p:spPr>
          <a:xfrm>
            <a:off x="274320" y="713232"/>
            <a:ext cx="11430000" cy="320040"/>
          </a:xfrm>
          <a:prstGeom prst="rect">
            <a:avLst/>
          </a:prstGeom>
          <a:noFill/>
        </p:spPr>
        <p:txBody>
          <a:bodyPr wrap="square">
            <a:spAutoFit/>
          </a:bodyPr>
          <a:lstStyle/>
          <a:p>
            <a:pPr algn="l"/>
            <a:r>
              <a:rPr sz="1100" b="0" i="1">
                <a:solidFill>
                  <a:srgbClr val="CCD6E0"/>
                </a:solidFill>
              </a:rPr>
              <a:t>目的: 非構造化の生ログを単一の構造化NormalizedIncidentオブジェクトに変換する</a:t>
            </a:r>
          </a:p>
        </p:txBody>
      </p:sp>
      <p:sp>
        <p:nvSpPr>
          <p:cNvPr id="5" name="Rectangle 4"/>
          <p:cNvSpPr/>
          <p:nvPr/>
        </p:nvSpPr>
        <p:spPr>
          <a:xfrm>
            <a:off x="274320" y="914400"/>
            <a:ext cx="7863840" cy="5029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14400"/>
            <a:ext cx="73152" cy="50292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969264"/>
            <a:ext cx="7589520" cy="384048"/>
          </a:xfrm>
          <a:prstGeom prst="rect">
            <a:avLst/>
          </a:prstGeom>
          <a:noFill/>
        </p:spPr>
        <p:txBody>
          <a:bodyPr wrap="square">
            <a:spAutoFit/>
          </a:bodyPr>
          <a:lstStyle/>
          <a:p>
            <a:pPr algn="l"/>
            <a:r>
              <a:rPr sz="1000" b="1" i="0">
                <a:solidFill>
                  <a:srgbClr val="F39C12"/>
                </a:solidFill>
              </a:rPr>
              <a:t>厳格なスコープ: エラー種別の分類と原子的信号の抽出のみ。因果関係・根本原因・相関分析は行わない。</a:t>
            </a:r>
          </a:p>
        </p:txBody>
      </p:sp>
      <p:sp>
        <p:nvSpPr>
          <p:cNvPr id="8" name="TextBox 7"/>
          <p:cNvSpPr txBox="1"/>
          <p:nvPr/>
        </p:nvSpPr>
        <p:spPr>
          <a:xfrm>
            <a:off x="274320" y="1554480"/>
            <a:ext cx="11612880" cy="256032"/>
          </a:xfrm>
          <a:prstGeom prst="rect">
            <a:avLst/>
          </a:prstGeom>
          <a:noFill/>
        </p:spPr>
        <p:txBody>
          <a:bodyPr wrap="square">
            <a:spAutoFit/>
          </a:bodyPr>
          <a:lstStyle/>
          <a:p>
            <a:pPr algn="l"/>
            <a:r>
              <a:rPr sz="1000" b="1" i="0">
                <a:solidFill>
                  <a:srgbClr val="2E86AB"/>
                </a:solidFill>
              </a:rPr>
              <a:t>内部処理ステップ</a:t>
            </a:r>
          </a:p>
        </p:txBody>
      </p:sp>
      <p:sp>
        <p:nvSpPr>
          <p:cNvPr id="9" name="Rounded Rectangle 8"/>
          <p:cNvSpPr/>
          <p:nvPr/>
        </p:nvSpPr>
        <p:spPr>
          <a:xfrm>
            <a:off x="274320" y="1874519"/>
            <a:ext cx="11612880" cy="658368"/>
          </a:xfrm>
          <a:prstGeom prst="roundRect">
            <a:avLst/>
          </a:prstGeom>
          <a:solidFill>
            <a:srgbClr val="0A426B"/>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7472" y="1929384"/>
            <a:ext cx="320040" cy="502920"/>
          </a:xfrm>
          <a:prstGeom prst="rect">
            <a:avLst/>
          </a:prstGeom>
          <a:noFill/>
        </p:spPr>
        <p:txBody>
          <a:bodyPr wrap="square">
            <a:spAutoFit/>
          </a:bodyPr>
          <a:lstStyle/>
          <a:p>
            <a:pPr algn="ctr"/>
            <a:r>
              <a:rPr sz="2200" b="1" i="0">
                <a:solidFill>
                  <a:srgbClr val="F39C12"/>
                </a:solidFill>
              </a:rPr>
              <a:t>1</a:t>
            </a:r>
          </a:p>
        </p:txBody>
      </p:sp>
      <p:sp>
        <p:nvSpPr>
          <p:cNvPr id="11" name="TextBox 10"/>
          <p:cNvSpPr txBox="1"/>
          <p:nvPr/>
        </p:nvSpPr>
        <p:spPr>
          <a:xfrm>
            <a:off x="713232" y="1929384"/>
            <a:ext cx="11082528" cy="256032"/>
          </a:xfrm>
          <a:prstGeom prst="rect">
            <a:avLst/>
          </a:prstGeom>
          <a:noFill/>
        </p:spPr>
        <p:txBody>
          <a:bodyPr wrap="square">
            <a:spAutoFit/>
          </a:bodyPr>
          <a:lstStyle/>
          <a:p>
            <a:pPr algn="l"/>
            <a:r>
              <a:rPr sz="1100" b="1" i="0">
                <a:solidFill>
                  <a:srgbClr val="FFFFFF"/>
                </a:solidFill>
              </a:rPr>
              <a:t>データソース振り分け</a:t>
            </a:r>
          </a:p>
        </p:txBody>
      </p:sp>
      <p:sp>
        <p:nvSpPr>
          <p:cNvPr id="12" name="TextBox 11"/>
          <p:cNvSpPr txBox="1"/>
          <p:nvPr/>
        </p:nvSpPr>
        <p:spPr>
          <a:xfrm>
            <a:off x="713232" y="2176272"/>
            <a:ext cx="11082528" cy="320040"/>
          </a:xfrm>
          <a:prstGeom prst="rect">
            <a:avLst/>
          </a:prstGeom>
          <a:noFill/>
        </p:spPr>
        <p:txBody>
          <a:bodyPr wrap="square">
            <a:spAutoFit/>
          </a:bodyPr>
          <a:lstStyle/>
          <a:p>
            <a:pPr algn="l"/>
            <a:r>
              <a:rPr sz="950" b="0" i="0">
                <a:solidFill>
                  <a:srgbClr val="CCD6E0"/>
                </a:solidFill>
              </a:rPr>
              <a:t>trace_id あり → Langfuse    |    trace_id なし → Prometheus</a:t>
            </a:r>
          </a:p>
        </p:txBody>
      </p:sp>
      <p:sp>
        <p:nvSpPr>
          <p:cNvPr id="13" name="Rounded Rectangle 12"/>
          <p:cNvSpPr/>
          <p:nvPr/>
        </p:nvSpPr>
        <p:spPr>
          <a:xfrm>
            <a:off x="274320" y="2587752"/>
            <a:ext cx="11612880" cy="658368"/>
          </a:xfrm>
          <a:prstGeom prst="roundRect">
            <a:avLst/>
          </a:prstGeom>
          <a:solidFill>
            <a:srgbClr val="0A426B"/>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 y="2642616"/>
            <a:ext cx="320040" cy="502920"/>
          </a:xfrm>
          <a:prstGeom prst="rect">
            <a:avLst/>
          </a:prstGeom>
          <a:noFill/>
        </p:spPr>
        <p:txBody>
          <a:bodyPr wrap="square">
            <a:spAutoFit/>
          </a:bodyPr>
          <a:lstStyle/>
          <a:p>
            <a:pPr algn="ctr"/>
            <a:r>
              <a:rPr sz="2200" b="1" i="0">
                <a:solidFill>
                  <a:srgbClr val="F39C12"/>
                </a:solidFill>
              </a:rPr>
              <a:t>2</a:t>
            </a:r>
          </a:p>
        </p:txBody>
      </p:sp>
      <p:sp>
        <p:nvSpPr>
          <p:cNvPr id="15" name="TextBox 14"/>
          <p:cNvSpPr txBox="1"/>
          <p:nvPr/>
        </p:nvSpPr>
        <p:spPr>
          <a:xfrm>
            <a:off x="713232" y="2642616"/>
            <a:ext cx="11082528" cy="256032"/>
          </a:xfrm>
          <a:prstGeom prst="rect">
            <a:avLst/>
          </a:prstGeom>
          <a:noFill/>
        </p:spPr>
        <p:txBody>
          <a:bodyPr wrap="square">
            <a:spAutoFit/>
          </a:bodyPr>
          <a:lstStyle/>
          <a:p>
            <a:pPr algn="l"/>
            <a:r>
              <a:rPr sz="1100" b="1" i="0">
                <a:solidFill>
                  <a:srgbClr val="FFFFFF"/>
                </a:solidFill>
              </a:rPr>
              <a:t>生ログ取得</a:t>
            </a:r>
          </a:p>
        </p:txBody>
      </p:sp>
      <p:sp>
        <p:nvSpPr>
          <p:cNvPr id="16" name="TextBox 15"/>
          <p:cNvSpPr txBox="1"/>
          <p:nvPr/>
        </p:nvSpPr>
        <p:spPr>
          <a:xfrm>
            <a:off x="713232" y="2889504"/>
            <a:ext cx="11082528" cy="320040"/>
          </a:xfrm>
          <a:prstGeom prst="rect">
            <a:avLst/>
          </a:prstGeom>
          <a:noFill/>
        </p:spPr>
        <p:txBody>
          <a:bodyPr wrap="square">
            <a:spAutoFit/>
          </a:bodyPr>
          <a:lstStyle/>
          <a:p>
            <a:pPr algn="l"/>
            <a:r>
              <a:rPr sz="950" b="0" i="0">
                <a:solidFill>
                  <a:srgbClr val="CCD6E0"/>
                </a:solidFill>
              </a:rPr>
              <a:t>Langfuse: 1トレース + 最大100 observations    |    Prometheus: 6件のPromQL範囲クエリ</a:t>
            </a:r>
          </a:p>
        </p:txBody>
      </p:sp>
      <p:sp>
        <p:nvSpPr>
          <p:cNvPr id="17" name="Rounded Rectangle 16"/>
          <p:cNvSpPr/>
          <p:nvPr/>
        </p:nvSpPr>
        <p:spPr>
          <a:xfrm>
            <a:off x="274320" y="3300984"/>
            <a:ext cx="11612880" cy="658368"/>
          </a:xfrm>
          <a:prstGeom prst="roundRect">
            <a:avLst/>
          </a:prstGeom>
          <a:solidFill>
            <a:srgbClr val="0A426B"/>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472" y="3355848"/>
            <a:ext cx="320040" cy="502920"/>
          </a:xfrm>
          <a:prstGeom prst="rect">
            <a:avLst/>
          </a:prstGeom>
          <a:noFill/>
        </p:spPr>
        <p:txBody>
          <a:bodyPr wrap="square">
            <a:spAutoFit/>
          </a:bodyPr>
          <a:lstStyle/>
          <a:p>
            <a:pPr algn="ctr"/>
            <a:r>
              <a:rPr sz="2200" b="1" i="0">
                <a:solidFill>
                  <a:srgbClr val="F39C12"/>
                </a:solidFill>
              </a:rPr>
              <a:t>3</a:t>
            </a:r>
          </a:p>
        </p:txBody>
      </p:sp>
      <p:sp>
        <p:nvSpPr>
          <p:cNvPr id="19" name="TextBox 18"/>
          <p:cNvSpPr txBox="1"/>
          <p:nvPr/>
        </p:nvSpPr>
        <p:spPr>
          <a:xfrm>
            <a:off x="713232" y="3355848"/>
            <a:ext cx="11082528" cy="256032"/>
          </a:xfrm>
          <a:prstGeom prst="rect">
            <a:avLst/>
          </a:prstGeom>
          <a:noFill/>
        </p:spPr>
        <p:txBody>
          <a:bodyPr wrap="square">
            <a:spAutoFit/>
          </a:bodyPr>
          <a:lstStyle/>
          <a:p>
            <a:pPr algn="l"/>
            <a:r>
              <a:rPr sz="1100" b="1" i="0">
                <a:solidFill>
                  <a:srgbClr val="FFFFFF"/>
                </a:solidFill>
              </a:rPr>
              <a:t>LLM前エラースキャン</a:t>
            </a:r>
          </a:p>
        </p:txBody>
      </p:sp>
      <p:sp>
        <p:nvSpPr>
          <p:cNvPr id="20" name="TextBox 19"/>
          <p:cNvSpPr txBox="1"/>
          <p:nvPr/>
        </p:nvSpPr>
        <p:spPr>
          <a:xfrm>
            <a:off x="713232" y="3602736"/>
            <a:ext cx="11082528" cy="320040"/>
          </a:xfrm>
          <a:prstGeom prst="rect">
            <a:avLst/>
          </a:prstGeom>
          <a:noFill/>
        </p:spPr>
        <p:txBody>
          <a:bodyPr wrap="square">
            <a:spAutoFit/>
          </a:bodyPr>
          <a:lstStyle/>
          <a:p>
            <a:pPr algn="l"/>
            <a:r>
              <a:rPr sz="950" b="0" i="0">
                <a:solidFill>
                  <a:srgbClr val="CCD6E0"/>
                </a:solidFill>
              </a:rPr>
              <a:t>_has_error_signals(): レベルチェック（ERROR/WARN） + 完全単語キーワード正規表現スキャン</a:t>
            </a:r>
          </a:p>
        </p:txBody>
      </p:sp>
      <p:sp>
        <p:nvSpPr>
          <p:cNvPr id="21" name="Rounded Rectangle 20"/>
          <p:cNvSpPr/>
          <p:nvPr/>
        </p:nvSpPr>
        <p:spPr>
          <a:xfrm>
            <a:off x="274320" y="4014216"/>
            <a:ext cx="11612880" cy="658368"/>
          </a:xfrm>
          <a:prstGeom prst="roundRect">
            <a:avLst/>
          </a:prstGeom>
          <a:solidFill>
            <a:srgbClr val="0A426B"/>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7472" y="4069080"/>
            <a:ext cx="320040" cy="502920"/>
          </a:xfrm>
          <a:prstGeom prst="rect">
            <a:avLst/>
          </a:prstGeom>
          <a:noFill/>
        </p:spPr>
        <p:txBody>
          <a:bodyPr wrap="square">
            <a:spAutoFit/>
          </a:bodyPr>
          <a:lstStyle/>
          <a:p>
            <a:pPr algn="ctr"/>
            <a:r>
              <a:rPr sz="2200" b="1" i="0">
                <a:solidFill>
                  <a:srgbClr val="F39C12"/>
                </a:solidFill>
              </a:rPr>
              <a:t>4</a:t>
            </a:r>
          </a:p>
        </p:txBody>
      </p:sp>
      <p:sp>
        <p:nvSpPr>
          <p:cNvPr id="23" name="TextBox 22"/>
          <p:cNvSpPr txBox="1"/>
          <p:nvPr/>
        </p:nvSpPr>
        <p:spPr>
          <a:xfrm>
            <a:off x="713232" y="4069080"/>
            <a:ext cx="11082528" cy="256032"/>
          </a:xfrm>
          <a:prstGeom prst="rect">
            <a:avLst/>
          </a:prstGeom>
          <a:noFill/>
        </p:spPr>
        <p:txBody>
          <a:bodyPr wrap="square">
            <a:spAutoFit/>
          </a:bodyPr>
          <a:lstStyle/>
          <a:p>
            <a:pPr algn="l"/>
            <a:r>
              <a:rPr sz="1100" b="1" i="0">
                <a:solidFill>
                  <a:srgbClr val="FFFFFF"/>
                </a:solidFill>
              </a:rPr>
              <a:t>NO_ERROR短絡処理</a:t>
            </a:r>
          </a:p>
        </p:txBody>
      </p:sp>
      <p:sp>
        <p:nvSpPr>
          <p:cNvPr id="24" name="TextBox 23"/>
          <p:cNvSpPr txBox="1"/>
          <p:nvPr/>
        </p:nvSpPr>
        <p:spPr>
          <a:xfrm>
            <a:off x="713232" y="4315968"/>
            <a:ext cx="11082528" cy="320040"/>
          </a:xfrm>
          <a:prstGeom prst="rect">
            <a:avLst/>
          </a:prstGeom>
          <a:noFill/>
        </p:spPr>
        <p:txBody>
          <a:bodyPr wrap="square">
            <a:spAutoFit/>
          </a:bodyPr>
          <a:lstStyle/>
          <a:p>
            <a:pPr algn="l"/>
            <a:r>
              <a:rPr sz="950" b="0" i="0">
                <a:solidFill>
                  <a:srgbClr val="CCD6E0"/>
                </a:solidFill>
              </a:rPr>
              <a:t>信号未検出 → 即時NO_ERROR返却、confidence=1.0 — LLMは呼び出さない</a:t>
            </a:r>
          </a:p>
        </p:txBody>
      </p:sp>
      <p:sp>
        <p:nvSpPr>
          <p:cNvPr id="25" name="Rounded Rectangle 24"/>
          <p:cNvSpPr/>
          <p:nvPr/>
        </p:nvSpPr>
        <p:spPr>
          <a:xfrm>
            <a:off x="274320" y="4727448"/>
            <a:ext cx="11612880" cy="658368"/>
          </a:xfrm>
          <a:prstGeom prst="roundRect">
            <a:avLst/>
          </a:prstGeom>
          <a:solidFill>
            <a:srgbClr val="0A426B"/>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7472" y="4782312"/>
            <a:ext cx="320040" cy="502920"/>
          </a:xfrm>
          <a:prstGeom prst="rect">
            <a:avLst/>
          </a:prstGeom>
          <a:noFill/>
        </p:spPr>
        <p:txBody>
          <a:bodyPr wrap="square">
            <a:spAutoFit/>
          </a:bodyPr>
          <a:lstStyle/>
          <a:p>
            <a:pPr algn="ctr"/>
            <a:r>
              <a:rPr sz="2200" b="1" i="0">
                <a:solidFill>
                  <a:srgbClr val="F39C12"/>
                </a:solidFill>
              </a:rPr>
              <a:t>5</a:t>
            </a:r>
          </a:p>
        </p:txBody>
      </p:sp>
      <p:sp>
        <p:nvSpPr>
          <p:cNvPr id="27" name="TextBox 26"/>
          <p:cNvSpPr txBox="1"/>
          <p:nvPr/>
        </p:nvSpPr>
        <p:spPr>
          <a:xfrm>
            <a:off x="713232" y="4782312"/>
            <a:ext cx="11082528" cy="256032"/>
          </a:xfrm>
          <a:prstGeom prst="rect">
            <a:avLst/>
          </a:prstGeom>
          <a:noFill/>
        </p:spPr>
        <p:txBody>
          <a:bodyPr wrap="square">
            <a:spAutoFit/>
          </a:bodyPr>
          <a:lstStyle/>
          <a:p>
            <a:pPr algn="l"/>
            <a:r>
              <a:rPr sz="1100" b="1" i="0">
                <a:solidFill>
                  <a:srgbClr val="FFFFFF"/>
                </a:solidFill>
              </a:rPr>
              <a:t>LLMプロンプト構築</a:t>
            </a:r>
          </a:p>
        </p:txBody>
      </p:sp>
      <p:sp>
        <p:nvSpPr>
          <p:cNvPr id="28" name="TextBox 27"/>
          <p:cNvSpPr txBox="1"/>
          <p:nvPr/>
        </p:nvSpPr>
        <p:spPr>
          <a:xfrm>
            <a:off x="713232" y="5029200"/>
            <a:ext cx="11082528" cy="320040"/>
          </a:xfrm>
          <a:prstGeom prst="rect">
            <a:avLst/>
          </a:prstGeom>
          <a:noFill/>
        </p:spPr>
        <p:txBody>
          <a:bodyPr wrap="square">
            <a:spAutoFit/>
          </a:bodyPr>
          <a:lstStyle/>
          <a:p>
            <a:pPr algn="l"/>
            <a:r>
              <a:rPr sz="950" b="0" i="0">
                <a:solidFill>
                  <a:srgbClr val="CCD6E0"/>
                </a:solidFill>
              </a:rPr>
              <a:t>ログを [N] ts=... svc=... level=... msg=... meta={...} 形式でフォーマット + Pydanticスキーマ注入</a:t>
            </a:r>
          </a:p>
        </p:txBody>
      </p:sp>
      <p:sp>
        <p:nvSpPr>
          <p:cNvPr id="29" name="Rounded Rectangle 28"/>
          <p:cNvSpPr/>
          <p:nvPr/>
        </p:nvSpPr>
        <p:spPr>
          <a:xfrm>
            <a:off x="274320" y="5440680"/>
            <a:ext cx="11612880" cy="658368"/>
          </a:xfrm>
          <a:prstGeom prst="roundRect">
            <a:avLst/>
          </a:prstGeom>
          <a:solidFill>
            <a:srgbClr val="0A426B"/>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7472" y="5495544"/>
            <a:ext cx="320040" cy="502920"/>
          </a:xfrm>
          <a:prstGeom prst="rect">
            <a:avLst/>
          </a:prstGeom>
          <a:noFill/>
        </p:spPr>
        <p:txBody>
          <a:bodyPr wrap="square">
            <a:spAutoFit/>
          </a:bodyPr>
          <a:lstStyle/>
          <a:p>
            <a:pPr algn="ctr"/>
            <a:r>
              <a:rPr sz="2200" b="1" i="0">
                <a:solidFill>
                  <a:srgbClr val="F39C12"/>
                </a:solidFill>
              </a:rPr>
              <a:t>6</a:t>
            </a:r>
          </a:p>
        </p:txBody>
      </p:sp>
      <p:sp>
        <p:nvSpPr>
          <p:cNvPr id="31" name="TextBox 30"/>
          <p:cNvSpPr txBox="1"/>
          <p:nvPr/>
        </p:nvSpPr>
        <p:spPr>
          <a:xfrm>
            <a:off x="713232" y="5495544"/>
            <a:ext cx="11082528" cy="256032"/>
          </a:xfrm>
          <a:prstGeom prst="rect">
            <a:avLst/>
          </a:prstGeom>
          <a:noFill/>
        </p:spPr>
        <p:txBody>
          <a:bodyPr wrap="square">
            <a:spAutoFit/>
          </a:bodyPr>
          <a:lstStyle/>
          <a:p>
            <a:pPr algn="l"/>
            <a:r>
              <a:rPr sz="1100" b="1" i="0">
                <a:solidFill>
                  <a:srgbClr val="FFFFFF"/>
                </a:solidFill>
              </a:rPr>
              <a:t>GPT-4o呼び出し</a:t>
            </a:r>
          </a:p>
        </p:txBody>
      </p:sp>
      <p:sp>
        <p:nvSpPr>
          <p:cNvPr id="32" name="TextBox 31"/>
          <p:cNvSpPr txBox="1"/>
          <p:nvPr/>
        </p:nvSpPr>
        <p:spPr>
          <a:xfrm>
            <a:off x="713232" y="5742432"/>
            <a:ext cx="11082528" cy="320040"/>
          </a:xfrm>
          <a:prstGeom prst="rect">
            <a:avLst/>
          </a:prstGeom>
          <a:noFill/>
        </p:spPr>
        <p:txBody>
          <a:bodyPr wrap="square">
            <a:spAutoFit/>
          </a:bodyPr>
          <a:lstStyle/>
          <a:p>
            <a:pPr algn="l"/>
            <a:r>
              <a:rPr sz="950" b="0" i="0">
                <a:solidFill>
                  <a:srgbClr val="CCD6E0"/>
                </a:solidFill>
              </a:rPr>
              <a:t>temperature=0.0  ·  response_format=json_object  ·  スキーマをプロンプトで強制</a:t>
            </a:r>
          </a:p>
        </p:txBody>
      </p:sp>
      <p:sp>
        <p:nvSpPr>
          <p:cNvPr id="33" name="Rounded Rectangle 32"/>
          <p:cNvSpPr/>
          <p:nvPr/>
        </p:nvSpPr>
        <p:spPr>
          <a:xfrm>
            <a:off x="274320" y="6153912"/>
            <a:ext cx="11612880" cy="658368"/>
          </a:xfrm>
          <a:prstGeom prst="roundRect">
            <a:avLst/>
          </a:prstGeom>
          <a:solidFill>
            <a:srgbClr val="0A426B"/>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7472" y="6208776"/>
            <a:ext cx="320040" cy="502920"/>
          </a:xfrm>
          <a:prstGeom prst="rect">
            <a:avLst/>
          </a:prstGeom>
          <a:noFill/>
        </p:spPr>
        <p:txBody>
          <a:bodyPr wrap="square">
            <a:spAutoFit/>
          </a:bodyPr>
          <a:lstStyle/>
          <a:p>
            <a:pPr algn="ctr"/>
            <a:r>
              <a:rPr sz="2200" b="1" i="0">
                <a:solidFill>
                  <a:srgbClr val="F39C12"/>
                </a:solidFill>
              </a:rPr>
              <a:t>7</a:t>
            </a:r>
          </a:p>
        </p:txBody>
      </p:sp>
      <p:sp>
        <p:nvSpPr>
          <p:cNvPr id="35" name="TextBox 34"/>
          <p:cNvSpPr txBox="1"/>
          <p:nvPr/>
        </p:nvSpPr>
        <p:spPr>
          <a:xfrm>
            <a:off x="713232" y="6208776"/>
            <a:ext cx="11082528" cy="256032"/>
          </a:xfrm>
          <a:prstGeom prst="rect">
            <a:avLst/>
          </a:prstGeom>
          <a:noFill/>
        </p:spPr>
        <p:txBody>
          <a:bodyPr wrap="square">
            <a:spAutoFit/>
          </a:bodyPr>
          <a:lstStyle/>
          <a:p>
            <a:pPr algn="l"/>
            <a:r>
              <a:rPr sz="1100" b="1" i="0">
                <a:solidFill>
                  <a:srgbClr val="FFFFFF"/>
                </a:solidFill>
              </a:rPr>
              <a:t>Pydanticバリデーション</a:t>
            </a:r>
          </a:p>
        </p:txBody>
      </p:sp>
      <p:sp>
        <p:nvSpPr>
          <p:cNvPr id="36" name="TextBox 35"/>
          <p:cNvSpPr txBox="1"/>
          <p:nvPr/>
        </p:nvSpPr>
        <p:spPr>
          <a:xfrm>
            <a:off x="713232" y="6455664"/>
            <a:ext cx="11082528" cy="320040"/>
          </a:xfrm>
          <a:prstGeom prst="rect">
            <a:avLst/>
          </a:prstGeom>
          <a:noFill/>
        </p:spPr>
        <p:txBody>
          <a:bodyPr wrap="square">
            <a:spAutoFit/>
          </a:bodyPr>
          <a:lstStyle/>
          <a:p>
            <a:pPr algn="l"/>
            <a:r>
              <a:rPr sz="950" b="0" i="0">
                <a:solidFill>
                  <a:srgbClr val="CCD6E0"/>
                </a:solidFill>
              </a:rPr>
              <a:t>NormalizedIncident.model_validate(data) — スキーマ不一致は返却前に拒否</a:t>
            </a:r>
          </a:p>
        </p:txBody>
      </p:sp>
      <p:sp>
        <p:nvSpPr>
          <p:cNvPr id="37" name="Rectangle 36"/>
          <p:cNvSpPr/>
          <p:nvPr/>
        </p:nvSpPr>
        <p:spPr>
          <a:xfrm>
            <a:off x="8366760" y="914400"/>
            <a:ext cx="3794760" cy="502920"/>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49640" y="969264"/>
            <a:ext cx="3566160" cy="384048"/>
          </a:xfrm>
          <a:prstGeom prst="rect">
            <a:avLst/>
          </a:prstGeom>
          <a:noFill/>
        </p:spPr>
        <p:txBody>
          <a:bodyPr wrap="square">
            <a:spAutoFit/>
          </a:bodyPr>
          <a:lstStyle/>
          <a:p>
            <a:pPr algn="l"/>
            <a:r>
              <a:rPr sz="950" b="0" i="1">
                <a:solidFill>
                  <a:srgbClr val="CCD6E0"/>
                </a:solidFill>
              </a:rPr>
              <a:t>ルーティング:  trace_id → Langfuse   |   trace_idなし → Prometheus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685800"/>
          </a:xfrm>
          <a:prstGeom prst="rect">
            <a:avLst/>
          </a:prstGeom>
          <a:solidFill>
            <a:srgbClr val="1A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502920"/>
          </a:xfrm>
          <a:prstGeom prst="rect">
            <a:avLst/>
          </a:prstGeom>
          <a:noFill/>
        </p:spPr>
        <p:txBody>
          <a:bodyPr wrap="square">
            <a:spAutoFit/>
          </a:bodyPr>
          <a:lstStyle/>
          <a:p>
            <a:pPr algn="l"/>
            <a:r>
              <a:rPr sz="2000" b="1" i="0">
                <a:solidFill>
                  <a:srgbClr val="2E86AB"/>
                </a:solidFill>
              </a:rPr>
              <a:t>エージェント1 — 出力契約と効率性機能</a:t>
            </a:r>
          </a:p>
        </p:txBody>
      </p:sp>
      <p:sp>
        <p:nvSpPr>
          <p:cNvPr id="4" name="TextBox 3"/>
          <p:cNvSpPr txBox="1"/>
          <p:nvPr/>
        </p:nvSpPr>
        <p:spPr>
          <a:xfrm>
            <a:off x="274320" y="914400"/>
            <a:ext cx="5486400" cy="274320"/>
          </a:xfrm>
          <a:prstGeom prst="rect">
            <a:avLst/>
          </a:prstGeom>
          <a:noFill/>
        </p:spPr>
        <p:txBody>
          <a:bodyPr wrap="square">
            <a:spAutoFit/>
          </a:bodyPr>
          <a:lstStyle/>
          <a:p>
            <a:pPr algn="l"/>
            <a:r>
              <a:rPr sz="1100" b="1" i="0">
                <a:solidFill>
                  <a:srgbClr val="2E86AB"/>
                </a:solidFill>
              </a:rPr>
              <a:t>出力: NormalizedIncident</a:t>
            </a:r>
          </a:p>
        </p:txBody>
      </p:sp>
      <p:sp>
        <p:nvSpPr>
          <p:cNvPr id="5" name="Rectangle 4"/>
          <p:cNvSpPr/>
          <p:nvPr/>
        </p:nvSpPr>
        <p:spPr>
          <a:xfrm>
            <a:off x="274320" y="1234440"/>
            <a:ext cx="5577840" cy="566928"/>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271016"/>
            <a:ext cx="1828800" cy="219456"/>
          </a:xfrm>
          <a:prstGeom prst="rect">
            <a:avLst/>
          </a:prstGeom>
          <a:noFill/>
        </p:spPr>
        <p:txBody>
          <a:bodyPr wrap="square">
            <a:spAutoFit/>
          </a:bodyPr>
          <a:lstStyle/>
          <a:p>
            <a:pPr algn="l"/>
            <a:r>
              <a:rPr sz="1000" b="1" i="0">
                <a:solidFill>
                  <a:srgbClr val="F39C12"/>
                </a:solidFill>
              </a:rPr>
              <a:t>error_type</a:t>
            </a:r>
          </a:p>
        </p:txBody>
      </p:sp>
      <p:sp>
        <p:nvSpPr>
          <p:cNvPr id="7" name="TextBox 6"/>
          <p:cNvSpPr txBox="1"/>
          <p:nvPr/>
        </p:nvSpPr>
        <p:spPr>
          <a:xfrm>
            <a:off x="2286000" y="1271016"/>
            <a:ext cx="3474720" cy="219456"/>
          </a:xfrm>
          <a:prstGeom prst="rect">
            <a:avLst/>
          </a:prstGeom>
          <a:noFill/>
        </p:spPr>
        <p:txBody>
          <a:bodyPr wrap="square">
            <a:spAutoFit/>
          </a:bodyPr>
          <a:lstStyle/>
          <a:p>
            <a:pPr algn="l"/>
            <a:r>
              <a:rPr sz="1000" b="0" i="0">
                <a:solidFill>
                  <a:srgbClr val="FFFFFF"/>
                </a:solidFill>
              </a:rPr>
              <a:t>NO_ERROR | AI_AGENT | INFRA | NETWORK | UNKNOWN</a:t>
            </a:r>
          </a:p>
        </p:txBody>
      </p:sp>
      <p:sp>
        <p:nvSpPr>
          <p:cNvPr id="8" name="TextBox 7"/>
          <p:cNvSpPr txBox="1"/>
          <p:nvPr/>
        </p:nvSpPr>
        <p:spPr>
          <a:xfrm>
            <a:off x="411480" y="1527048"/>
            <a:ext cx="5303520" cy="219456"/>
          </a:xfrm>
          <a:prstGeom prst="rect">
            <a:avLst/>
          </a:prstGeom>
          <a:noFill/>
        </p:spPr>
        <p:txBody>
          <a:bodyPr wrap="square">
            <a:spAutoFit/>
          </a:bodyPr>
          <a:lstStyle/>
          <a:p>
            <a:pPr algn="l"/>
            <a:r>
              <a:rPr sz="900" b="0" i="0">
                <a:solidFill>
                  <a:srgbClr val="CCD6E0"/>
                </a:solidFill>
              </a:rPr>
              <a:t>優先度: INFRA &gt; NETWORK &gt; AI_AGENT（複合時）</a:t>
            </a:r>
          </a:p>
        </p:txBody>
      </p:sp>
      <p:sp>
        <p:nvSpPr>
          <p:cNvPr id="9" name="Rectangle 8"/>
          <p:cNvSpPr/>
          <p:nvPr/>
        </p:nvSpPr>
        <p:spPr>
          <a:xfrm>
            <a:off x="274320" y="1856232"/>
            <a:ext cx="5577840" cy="566928"/>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892808"/>
            <a:ext cx="1828800" cy="219456"/>
          </a:xfrm>
          <a:prstGeom prst="rect">
            <a:avLst/>
          </a:prstGeom>
          <a:noFill/>
        </p:spPr>
        <p:txBody>
          <a:bodyPr wrap="square">
            <a:spAutoFit/>
          </a:bodyPr>
          <a:lstStyle/>
          <a:p>
            <a:pPr algn="l"/>
            <a:r>
              <a:rPr sz="1000" b="1" i="0">
                <a:solidFill>
                  <a:srgbClr val="F39C12"/>
                </a:solidFill>
              </a:rPr>
              <a:t>error_summary</a:t>
            </a:r>
          </a:p>
        </p:txBody>
      </p:sp>
      <p:sp>
        <p:nvSpPr>
          <p:cNvPr id="11" name="TextBox 10"/>
          <p:cNvSpPr txBox="1"/>
          <p:nvPr/>
        </p:nvSpPr>
        <p:spPr>
          <a:xfrm>
            <a:off x="2286000" y="1892808"/>
            <a:ext cx="3474720" cy="219456"/>
          </a:xfrm>
          <a:prstGeom prst="rect">
            <a:avLst/>
          </a:prstGeom>
          <a:noFill/>
        </p:spPr>
        <p:txBody>
          <a:bodyPr wrap="square">
            <a:spAutoFit/>
          </a:bodyPr>
          <a:lstStyle/>
          <a:p>
            <a:pPr algn="l"/>
            <a:r>
              <a:rPr sz="1000" b="0" i="0">
                <a:solidFill>
                  <a:srgbClr val="FFFFFF"/>
                </a:solidFill>
              </a:rPr>
              <a:t>str（最大300文字）</a:t>
            </a:r>
          </a:p>
        </p:txBody>
      </p:sp>
      <p:sp>
        <p:nvSpPr>
          <p:cNvPr id="12" name="TextBox 11"/>
          <p:cNvSpPr txBox="1"/>
          <p:nvPr/>
        </p:nvSpPr>
        <p:spPr>
          <a:xfrm>
            <a:off x="411480" y="2148840"/>
            <a:ext cx="5303520" cy="219456"/>
          </a:xfrm>
          <a:prstGeom prst="rect">
            <a:avLst/>
          </a:prstGeom>
          <a:noFill/>
        </p:spPr>
        <p:txBody>
          <a:bodyPr wrap="square">
            <a:spAutoFit/>
          </a:bodyPr>
          <a:lstStyle/>
          <a:p>
            <a:pPr algn="l"/>
            <a:r>
              <a:rPr sz="900" b="0" i="0">
                <a:solidFill>
                  <a:srgbClr val="CCD6E0"/>
                </a:solidFill>
              </a:rPr>
              <a:t>事実に基づく1〜2行の説明 — 推測なし</a:t>
            </a:r>
          </a:p>
        </p:txBody>
      </p:sp>
      <p:sp>
        <p:nvSpPr>
          <p:cNvPr id="13" name="Rectangle 12"/>
          <p:cNvSpPr/>
          <p:nvPr/>
        </p:nvSpPr>
        <p:spPr>
          <a:xfrm>
            <a:off x="274320" y="2478024"/>
            <a:ext cx="5577840" cy="566928"/>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2514600"/>
            <a:ext cx="1828800" cy="219456"/>
          </a:xfrm>
          <a:prstGeom prst="rect">
            <a:avLst/>
          </a:prstGeom>
          <a:noFill/>
        </p:spPr>
        <p:txBody>
          <a:bodyPr wrap="square">
            <a:spAutoFit/>
          </a:bodyPr>
          <a:lstStyle/>
          <a:p>
            <a:pPr algn="l"/>
            <a:r>
              <a:rPr sz="1000" b="1" i="0">
                <a:solidFill>
                  <a:srgbClr val="F39C12"/>
                </a:solidFill>
              </a:rPr>
              <a:t>timestamp</a:t>
            </a:r>
          </a:p>
        </p:txBody>
      </p:sp>
      <p:sp>
        <p:nvSpPr>
          <p:cNvPr id="15" name="TextBox 14"/>
          <p:cNvSpPr txBox="1"/>
          <p:nvPr/>
        </p:nvSpPr>
        <p:spPr>
          <a:xfrm>
            <a:off x="2286000" y="2514600"/>
            <a:ext cx="3474720" cy="219456"/>
          </a:xfrm>
          <a:prstGeom prst="rect">
            <a:avLst/>
          </a:prstGeom>
          <a:noFill/>
        </p:spPr>
        <p:txBody>
          <a:bodyPr wrap="square">
            <a:spAutoFit/>
          </a:bodyPr>
          <a:lstStyle/>
          <a:p>
            <a:pPr algn="l"/>
            <a:r>
              <a:rPr sz="1000" b="0" i="0">
                <a:solidFill>
                  <a:srgbClr val="FFFFFF"/>
                </a:solidFill>
              </a:rPr>
              <a:t>ISO-8601文字列</a:t>
            </a:r>
          </a:p>
        </p:txBody>
      </p:sp>
      <p:sp>
        <p:nvSpPr>
          <p:cNvPr id="16" name="TextBox 15"/>
          <p:cNvSpPr txBox="1"/>
          <p:nvPr/>
        </p:nvSpPr>
        <p:spPr>
          <a:xfrm>
            <a:off x="411480" y="2770632"/>
            <a:ext cx="5303520" cy="219456"/>
          </a:xfrm>
          <a:prstGeom prst="rect">
            <a:avLst/>
          </a:prstGeom>
          <a:noFill/>
        </p:spPr>
        <p:txBody>
          <a:bodyPr wrap="square">
            <a:spAutoFit/>
          </a:bodyPr>
          <a:lstStyle/>
          <a:p>
            <a:pPr algn="l"/>
            <a:r>
              <a:rPr sz="900" b="0" i="0">
                <a:solidFill>
                  <a:srgbClr val="CCD6E0"/>
                </a:solidFill>
              </a:rPr>
              <a:t>ログから抽出した最初の発生時刻</a:t>
            </a:r>
          </a:p>
        </p:txBody>
      </p:sp>
      <p:sp>
        <p:nvSpPr>
          <p:cNvPr id="17" name="Rectangle 16"/>
          <p:cNvSpPr/>
          <p:nvPr/>
        </p:nvSpPr>
        <p:spPr>
          <a:xfrm>
            <a:off x="274320" y="3099816"/>
            <a:ext cx="5577840" cy="566928"/>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3136392"/>
            <a:ext cx="1828800" cy="219456"/>
          </a:xfrm>
          <a:prstGeom prst="rect">
            <a:avLst/>
          </a:prstGeom>
          <a:noFill/>
        </p:spPr>
        <p:txBody>
          <a:bodyPr wrap="square">
            <a:spAutoFit/>
          </a:bodyPr>
          <a:lstStyle/>
          <a:p>
            <a:pPr algn="l"/>
            <a:r>
              <a:rPr sz="1000" b="1" i="0">
                <a:solidFill>
                  <a:srgbClr val="F39C12"/>
                </a:solidFill>
              </a:rPr>
              <a:t>confidence</a:t>
            </a:r>
          </a:p>
        </p:txBody>
      </p:sp>
      <p:sp>
        <p:nvSpPr>
          <p:cNvPr id="19" name="TextBox 18"/>
          <p:cNvSpPr txBox="1"/>
          <p:nvPr/>
        </p:nvSpPr>
        <p:spPr>
          <a:xfrm>
            <a:off x="2286000" y="3136392"/>
            <a:ext cx="3474720" cy="219456"/>
          </a:xfrm>
          <a:prstGeom prst="rect">
            <a:avLst/>
          </a:prstGeom>
          <a:noFill/>
        </p:spPr>
        <p:txBody>
          <a:bodyPr wrap="square">
            <a:spAutoFit/>
          </a:bodyPr>
          <a:lstStyle/>
          <a:p>
            <a:pPr algn="l"/>
            <a:r>
              <a:rPr sz="1000" b="0" i="0">
                <a:solidFill>
                  <a:srgbClr val="FFFFFF"/>
                </a:solidFill>
              </a:rPr>
              <a:t>float  0.0 – 1.0</a:t>
            </a:r>
          </a:p>
        </p:txBody>
      </p:sp>
      <p:sp>
        <p:nvSpPr>
          <p:cNvPr id="20" name="TextBox 19"/>
          <p:cNvSpPr txBox="1"/>
          <p:nvPr/>
        </p:nvSpPr>
        <p:spPr>
          <a:xfrm>
            <a:off x="411480" y="3392424"/>
            <a:ext cx="5303520" cy="219456"/>
          </a:xfrm>
          <a:prstGeom prst="rect">
            <a:avLst/>
          </a:prstGeom>
          <a:noFill/>
        </p:spPr>
        <p:txBody>
          <a:bodyPr wrap="square">
            <a:spAutoFit/>
          </a:bodyPr>
          <a:lstStyle/>
          <a:p>
            <a:pPr algn="l"/>
            <a:r>
              <a:rPr sz="900" b="0" i="0">
                <a:solidFill>
                  <a:srgbClr val="CCD6E0"/>
                </a:solidFill>
              </a:rPr>
              <a:t>ログ証拠の明示度に基づく</a:t>
            </a:r>
          </a:p>
        </p:txBody>
      </p:sp>
      <p:sp>
        <p:nvSpPr>
          <p:cNvPr id="21" name="Rectangle 20"/>
          <p:cNvSpPr/>
          <p:nvPr/>
        </p:nvSpPr>
        <p:spPr>
          <a:xfrm>
            <a:off x="274320" y="3721608"/>
            <a:ext cx="5577840" cy="566928"/>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3758184"/>
            <a:ext cx="1828800" cy="219456"/>
          </a:xfrm>
          <a:prstGeom prst="rect">
            <a:avLst/>
          </a:prstGeom>
          <a:noFill/>
        </p:spPr>
        <p:txBody>
          <a:bodyPr wrap="square">
            <a:spAutoFit/>
          </a:bodyPr>
          <a:lstStyle/>
          <a:p>
            <a:pPr algn="l"/>
            <a:r>
              <a:rPr sz="1000" b="1" i="0">
                <a:solidFill>
                  <a:srgbClr val="F39C12"/>
                </a:solidFill>
              </a:rPr>
              <a:t>entities</a:t>
            </a:r>
          </a:p>
        </p:txBody>
      </p:sp>
      <p:sp>
        <p:nvSpPr>
          <p:cNvPr id="23" name="TextBox 22"/>
          <p:cNvSpPr txBox="1"/>
          <p:nvPr/>
        </p:nvSpPr>
        <p:spPr>
          <a:xfrm>
            <a:off x="2286000" y="3758184"/>
            <a:ext cx="3474720" cy="219456"/>
          </a:xfrm>
          <a:prstGeom prst="rect">
            <a:avLst/>
          </a:prstGeom>
          <a:noFill/>
        </p:spPr>
        <p:txBody>
          <a:bodyPr wrap="square">
            <a:spAutoFit/>
          </a:bodyPr>
          <a:lstStyle/>
          <a:p>
            <a:pPr algn="l"/>
            <a:r>
              <a:rPr sz="1000" b="0" i="0">
                <a:solidFill>
                  <a:srgbClr val="FFFFFF"/>
                </a:solidFill>
              </a:rPr>
              <a:t>{ agent_id, service, trace_id }</a:t>
            </a:r>
          </a:p>
        </p:txBody>
      </p:sp>
      <p:sp>
        <p:nvSpPr>
          <p:cNvPr id="24" name="TextBox 23"/>
          <p:cNvSpPr txBox="1"/>
          <p:nvPr/>
        </p:nvSpPr>
        <p:spPr>
          <a:xfrm>
            <a:off x="411480" y="4014216"/>
            <a:ext cx="5303520" cy="219456"/>
          </a:xfrm>
          <a:prstGeom prst="rect">
            <a:avLst/>
          </a:prstGeom>
          <a:noFill/>
        </p:spPr>
        <p:txBody>
          <a:bodyPr wrap="square">
            <a:spAutoFit/>
          </a:bodyPr>
          <a:lstStyle/>
          <a:p>
            <a:pPr algn="l"/>
            <a:r>
              <a:rPr sz="900" b="0" i="0">
                <a:solidFill>
                  <a:srgbClr val="CCD6E0"/>
                </a:solidFill>
              </a:rPr>
              <a:t>抽出されたエンティティ参照</a:t>
            </a:r>
          </a:p>
        </p:txBody>
      </p:sp>
      <p:sp>
        <p:nvSpPr>
          <p:cNvPr id="25" name="Rectangle 24"/>
          <p:cNvSpPr/>
          <p:nvPr/>
        </p:nvSpPr>
        <p:spPr>
          <a:xfrm>
            <a:off x="274320" y="4343400"/>
            <a:ext cx="5577840" cy="566928"/>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80" y="4379976"/>
            <a:ext cx="1828800" cy="219456"/>
          </a:xfrm>
          <a:prstGeom prst="rect">
            <a:avLst/>
          </a:prstGeom>
          <a:noFill/>
        </p:spPr>
        <p:txBody>
          <a:bodyPr wrap="square">
            <a:spAutoFit/>
          </a:bodyPr>
          <a:lstStyle/>
          <a:p>
            <a:pPr algn="l"/>
            <a:r>
              <a:rPr sz="1000" b="1" i="0">
                <a:solidFill>
                  <a:srgbClr val="F39C12"/>
                </a:solidFill>
              </a:rPr>
              <a:t>signals</a:t>
            </a:r>
          </a:p>
        </p:txBody>
      </p:sp>
      <p:sp>
        <p:nvSpPr>
          <p:cNvPr id="27" name="TextBox 26"/>
          <p:cNvSpPr txBox="1"/>
          <p:nvPr/>
        </p:nvSpPr>
        <p:spPr>
          <a:xfrm>
            <a:off x="2286000" y="4379976"/>
            <a:ext cx="3474720" cy="219456"/>
          </a:xfrm>
          <a:prstGeom prst="rect">
            <a:avLst/>
          </a:prstGeom>
          <a:noFill/>
        </p:spPr>
        <p:txBody>
          <a:bodyPr wrap="square">
            <a:spAutoFit/>
          </a:bodyPr>
          <a:lstStyle/>
          <a:p>
            <a:pPr algn="l"/>
            <a:r>
              <a:rPr sz="1000" b="0" i="0">
                <a:solidFill>
                  <a:srgbClr val="FFFFFF"/>
                </a:solidFill>
              </a:rPr>
              <a:t>list[str]</a:t>
            </a:r>
          </a:p>
        </p:txBody>
      </p:sp>
      <p:sp>
        <p:nvSpPr>
          <p:cNvPr id="28" name="TextBox 27"/>
          <p:cNvSpPr txBox="1"/>
          <p:nvPr/>
        </p:nvSpPr>
        <p:spPr>
          <a:xfrm>
            <a:off x="411480" y="4636008"/>
            <a:ext cx="5303520" cy="219456"/>
          </a:xfrm>
          <a:prstGeom prst="rect">
            <a:avLst/>
          </a:prstGeom>
          <a:noFill/>
        </p:spPr>
        <p:txBody>
          <a:bodyPr wrap="square">
            <a:spAutoFit/>
          </a:bodyPr>
          <a:lstStyle/>
          <a:p>
            <a:pPr algn="l"/>
            <a:r>
              <a:rPr sz="900" b="0" i="0">
                <a:solidFill>
                  <a:srgbClr val="CCD6E0"/>
                </a:solidFill>
              </a:rPr>
              <a:t>例: ['LLM_access_disabled', 'timeout']</a:t>
            </a:r>
          </a:p>
        </p:txBody>
      </p:sp>
      <p:sp>
        <p:nvSpPr>
          <p:cNvPr id="29" name="TextBox 28"/>
          <p:cNvSpPr txBox="1"/>
          <p:nvPr/>
        </p:nvSpPr>
        <p:spPr>
          <a:xfrm>
            <a:off x="6126480" y="914400"/>
            <a:ext cx="5760720" cy="274320"/>
          </a:xfrm>
          <a:prstGeom prst="rect">
            <a:avLst/>
          </a:prstGeom>
          <a:noFill/>
        </p:spPr>
        <p:txBody>
          <a:bodyPr wrap="square">
            <a:spAutoFit/>
          </a:bodyPr>
          <a:lstStyle/>
          <a:p>
            <a:pPr algn="l"/>
            <a:r>
              <a:rPr sz="1100" b="1" i="0">
                <a:solidFill>
                  <a:srgbClr val="2E86AB"/>
                </a:solidFill>
              </a:rPr>
              <a:t>主要な効率性機能</a:t>
            </a:r>
          </a:p>
        </p:txBody>
      </p:sp>
      <p:sp>
        <p:nvSpPr>
          <p:cNvPr id="30" name="Rectangle 29"/>
          <p:cNvSpPr/>
          <p:nvPr/>
        </p:nvSpPr>
        <p:spPr>
          <a:xfrm>
            <a:off x="6126480" y="1234440"/>
            <a:ext cx="5760720" cy="1207008"/>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26480" y="1234440"/>
            <a:ext cx="64008" cy="1207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63640" y="1307592"/>
            <a:ext cx="5577840" cy="256032"/>
          </a:xfrm>
          <a:prstGeom prst="rect">
            <a:avLst/>
          </a:prstGeom>
          <a:noFill/>
        </p:spPr>
        <p:txBody>
          <a:bodyPr wrap="square">
            <a:spAutoFit/>
          </a:bodyPr>
          <a:lstStyle/>
          <a:p>
            <a:pPr algn="l"/>
            <a:r>
              <a:rPr sz="1050" b="1" i="0">
                <a:solidFill>
                  <a:srgbClr val="27AE60"/>
                </a:solidFill>
              </a:rPr>
              <a:t>NO_ERROR短絡処理</a:t>
            </a:r>
          </a:p>
        </p:txBody>
      </p:sp>
      <p:sp>
        <p:nvSpPr>
          <p:cNvPr id="33" name="TextBox 32"/>
          <p:cNvSpPr txBox="1"/>
          <p:nvPr/>
        </p:nvSpPr>
        <p:spPr>
          <a:xfrm>
            <a:off x="6263640" y="1600200"/>
            <a:ext cx="5577840" cy="749808"/>
          </a:xfrm>
          <a:prstGeom prst="rect">
            <a:avLst/>
          </a:prstGeom>
          <a:noFill/>
        </p:spPr>
        <p:txBody>
          <a:bodyPr wrap="square">
            <a:spAutoFit/>
          </a:bodyPr>
          <a:lstStyle/>
          <a:p>
            <a:pPr algn="l"/>
            <a:r>
              <a:rPr sz="950" b="0" i="0">
                <a:solidFill>
                  <a:srgbClr val="FFFFFF"/>
                </a:solidFill>
              </a:rPr>
              <a:t>パイプライン全体で最もインパクトのある最適化。_has_error_signals()がFalseを返すとLLMは一切呼び出されず、パイプラインが終了する。本番環境で最も頻繁なケース（正常トレース）であり、実行ごとに約$0.10〜$0.30を節約。</a:t>
            </a:r>
          </a:p>
        </p:txBody>
      </p:sp>
      <p:sp>
        <p:nvSpPr>
          <p:cNvPr id="34" name="Rectangle 33"/>
          <p:cNvSpPr/>
          <p:nvPr/>
        </p:nvSpPr>
        <p:spPr>
          <a:xfrm>
            <a:off x="6126480" y="2532888"/>
            <a:ext cx="5760720" cy="1207008"/>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26480" y="2532888"/>
            <a:ext cx="64008" cy="1207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63640" y="2606040"/>
            <a:ext cx="5577840" cy="256032"/>
          </a:xfrm>
          <a:prstGeom prst="rect">
            <a:avLst/>
          </a:prstGeom>
          <a:noFill/>
        </p:spPr>
        <p:txBody>
          <a:bodyPr wrap="square">
            <a:spAutoFit/>
          </a:bodyPr>
          <a:lstStyle/>
          <a:p>
            <a:pPr algn="l"/>
            <a:r>
              <a:rPr sz="1050" b="1" i="0">
                <a:solidFill>
                  <a:srgbClr val="27AE60"/>
                </a:solidFill>
              </a:rPr>
              <a:t>2フェーズエラー検出</a:t>
            </a:r>
          </a:p>
        </p:txBody>
      </p:sp>
      <p:sp>
        <p:nvSpPr>
          <p:cNvPr id="37" name="TextBox 36"/>
          <p:cNvSpPr txBox="1"/>
          <p:nvPr/>
        </p:nvSpPr>
        <p:spPr>
          <a:xfrm>
            <a:off x="6263640" y="2898648"/>
            <a:ext cx="5577840" cy="749808"/>
          </a:xfrm>
          <a:prstGeom prst="rect">
            <a:avLst/>
          </a:prstGeom>
          <a:noFill/>
        </p:spPr>
        <p:txBody>
          <a:bodyPr wrap="square">
            <a:spAutoFit/>
          </a:bodyPr>
          <a:lstStyle/>
          <a:p>
            <a:pPr algn="l"/>
            <a:r>
              <a:rPr sz="950" b="0" i="0">
                <a:solidFill>
                  <a:srgbClr val="FFFFFF"/>
                </a:solidFill>
              </a:rPr>
              <a:t>フェーズ1: 明示的レベルチェック（O(1)辞書参照）。フェーズ2: 曖昧レベルのみキーワードスキャン。'error_rate=0'などのメトリクス名による誤検知を防ぐ、事前コンパイル済み完全単語正規表現を使用。</a:t>
            </a:r>
          </a:p>
        </p:txBody>
      </p:sp>
      <p:sp>
        <p:nvSpPr>
          <p:cNvPr id="38" name="Rectangle 37"/>
          <p:cNvSpPr/>
          <p:nvPr/>
        </p:nvSpPr>
        <p:spPr>
          <a:xfrm>
            <a:off x="6126480" y="3831335"/>
            <a:ext cx="5760720" cy="1207008"/>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126480" y="3831335"/>
            <a:ext cx="64008" cy="1207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63640" y="3904487"/>
            <a:ext cx="5577840" cy="256032"/>
          </a:xfrm>
          <a:prstGeom prst="rect">
            <a:avLst/>
          </a:prstGeom>
          <a:noFill/>
        </p:spPr>
        <p:txBody>
          <a:bodyPr wrap="square">
            <a:spAutoFit/>
          </a:bodyPr>
          <a:lstStyle/>
          <a:p>
            <a:pPr algn="l"/>
            <a:r>
              <a:rPr sz="1050" b="1" i="0">
                <a:solidFill>
                  <a:srgbClr val="27AE60"/>
                </a:solidFill>
              </a:rPr>
              <a:t>起動時スキーマ構築・キャッシュ</a:t>
            </a:r>
          </a:p>
        </p:txBody>
      </p:sp>
      <p:sp>
        <p:nvSpPr>
          <p:cNvPr id="41" name="TextBox 40"/>
          <p:cNvSpPr txBox="1"/>
          <p:nvPr/>
        </p:nvSpPr>
        <p:spPr>
          <a:xfrm>
            <a:off x="6263640" y="4197096"/>
            <a:ext cx="5577840" cy="749808"/>
          </a:xfrm>
          <a:prstGeom prst="rect">
            <a:avLst/>
          </a:prstGeom>
          <a:noFill/>
        </p:spPr>
        <p:txBody>
          <a:bodyPr wrap="square">
            <a:spAutoFit/>
          </a:bodyPr>
          <a:lstStyle/>
          <a:p>
            <a:pPr algn="l"/>
            <a:r>
              <a:rPr sz="950" b="0" i="0">
                <a:solidFill>
                  <a:srgbClr val="FFFFFF"/>
                </a:solidFill>
              </a:rPr>
              <a:t>NormalizedIncident.model_json_schema()は__init__で1回だけ呼び出され、self._response_schemaとしてキャッシュ。全リクエストが同一スキーマ文字列を再利用 — リフレクションの繰り返し処理なし。</a:t>
            </a:r>
          </a:p>
        </p:txBody>
      </p:sp>
      <p:sp>
        <p:nvSpPr>
          <p:cNvPr id="42" name="Rectangle 41"/>
          <p:cNvSpPr/>
          <p:nvPr/>
        </p:nvSpPr>
        <p:spPr>
          <a:xfrm>
            <a:off x="6126480" y="5129783"/>
            <a:ext cx="5760720" cy="1207008"/>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126480" y="5129783"/>
            <a:ext cx="64008" cy="1207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63640" y="5202936"/>
            <a:ext cx="5577840" cy="256032"/>
          </a:xfrm>
          <a:prstGeom prst="rect">
            <a:avLst/>
          </a:prstGeom>
          <a:noFill/>
        </p:spPr>
        <p:txBody>
          <a:bodyPr wrap="square">
            <a:spAutoFit/>
          </a:bodyPr>
          <a:lstStyle/>
          <a:p>
            <a:pPr algn="l"/>
            <a:r>
              <a:rPr sz="1050" b="1" i="0">
                <a:solidFill>
                  <a:srgbClr val="27AE60"/>
                </a:solidFill>
              </a:rPr>
              <a:t>非同期ノンブロッキング</a:t>
            </a:r>
          </a:p>
        </p:txBody>
      </p:sp>
      <p:sp>
        <p:nvSpPr>
          <p:cNvPr id="45" name="TextBox 44"/>
          <p:cNvSpPr txBox="1"/>
          <p:nvPr/>
        </p:nvSpPr>
        <p:spPr>
          <a:xfrm>
            <a:off x="6263640" y="5495544"/>
            <a:ext cx="5577840" cy="749808"/>
          </a:xfrm>
          <a:prstGeom prst="rect">
            <a:avLst/>
          </a:prstGeom>
          <a:noFill/>
        </p:spPr>
        <p:txBody>
          <a:bodyPr wrap="square">
            <a:spAutoFit/>
          </a:bodyPr>
          <a:lstStyle/>
          <a:p>
            <a:pPr algn="l"/>
            <a:r>
              <a:rPr sz="950" b="0" i="0">
                <a:solidFill>
                  <a:srgbClr val="FFFFFF"/>
                </a:solidFill>
              </a:rPr>
              <a:t>AsyncOpenAI + httpx.AsyncClient — 全I/Oはノンブロッキング。FastAPIがスレッドなしで並行リクエストを処理。</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685800"/>
          </a:xfrm>
          <a:prstGeom prst="rect">
            <a:avLst/>
          </a:prstGeom>
          <a:solidFill>
            <a:srgbClr val="1A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502920"/>
          </a:xfrm>
          <a:prstGeom prst="rect">
            <a:avLst/>
          </a:prstGeom>
          <a:noFill/>
        </p:spPr>
        <p:txBody>
          <a:bodyPr wrap="square">
            <a:spAutoFit/>
          </a:bodyPr>
          <a:lstStyle/>
          <a:p>
            <a:pPr algn="l"/>
            <a:r>
              <a:rPr sz="2000" b="1" i="0">
                <a:solidFill>
                  <a:srgbClr val="2E86AB"/>
                </a:solidFill>
              </a:rPr>
              <a:t>エージェント2 — 相関分析エージェント</a:t>
            </a:r>
          </a:p>
        </p:txBody>
      </p:sp>
      <p:sp>
        <p:nvSpPr>
          <p:cNvPr id="4" name="TextBox 3"/>
          <p:cNvSpPr txBox="1"/>
          <p:nvPr/>
        </p:nvSpPr>
        <p:spPr>
          <a:xfrm>
            <a:off x="274320" y="713232"/>
            <a:ext cx="11430000" cy="320040"/>
          </a:xfrm>
          <a:prstGeom prst="rect">
            <a:avLst/>
          </a:prstGeom>
          <a:noFill/>
        </p:spPr>
        <p:txBody>
          <a:bodyPr wrap="square">
            <a:spAutoFit/>
          </a:bodyPr>
          <a:lstStyle/>
          <a:p>
            <a:pPr algn="l"/>
            <a:r>
              <a:rPr sz="1100" b="0" i="1">
                <a:solidFill>
                  <a:srgbClr val="CCD6E0"/>
                </a:solidFill>
              </a:rPr>
              <a:t>目的: クロスシステムの因果障害グラフを構築し、以降の分析ルーティング先を決定する</a:t>
            </a:r>
          </a:p>
        </p:txBody>
      </p:sp>
      <p:sp>
        <p:nvSpPr>
          <p:cNvPr id="5" name="Rectangle 4"/>
          <p:cNvSpPr/>
          <p:nvPr/>
        </p:nvSpPr>
        <p:spPr>
          <a:xfrm>
            <a:off x="274320" y="914400"/>
            <a:ext cx="11612880" cy="5029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14400"/>
            <a:ext cx="73152" cy="50292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969264"/>
            <a:ext cx="11247120" cy="384048"/>
          </a:xfrm>
          <a:prstGeom prst="rect">
            <a:avLst/>
          </a:prstGeom>
          <a:noFill/>
        </p:spPr>
        <p:txBody>
          <a:bodyPr wrap="square">
            <a:spAutoFit/>
          </a:bodyPr>
          <a:lstStyle/>
          <a:p>
            <a:pPr algn="l"/>
            <a:r>
              <a:rPr sz="1000" b="1" i="0">
                <a:solidFill>
                  <a:srgbClr val="F39C12"/>
                </a:solidFill>
              </a:rPr>
              <a:t>重要な出力: analysis_target  —  以降の全エージェントが使用するデータソースを制御するルーティング決定</a:t>
            </a:r>
          </a:p>
        </p:txBody>
      </p:sp>
      <p:sp>
        <p:nvSpPr>
          <p:cNvPr id="8" name="TextBox 7"/>
          <p:cNvSpPr txBox="1"/>
          <p:nvPr/>
        </p:nvSpPr>
        <p:spPr>
          <a:xfrm>
            <a:off x="274320" y="1554480"/>
            <a:ext cx="5486400" cy="256032"/>
          </a:xfrm>
          <a:prstGeom prst="rect">
            <a:avLst/>
          </a:prstGeom>
          <a:noFill/>
        </p:spPr>
        <p:txBody>
          <a:bodyPr wrap="square">
            <a:spAutoFit/>
          </a:bodyPr>
          <a:lstStyle/>
          <a:p>
            <a:pPr algn="l"/>
            <a:r>
              <a:rPr sz="1000" b="1" i="0">
                <a:solidFill>
                  <a:srgbClr val="2E86AB"/>
                </a:solidFill>
              </a:rPr>
              <a:t>データ取得戦略</a:t>
            </a:r>
          </a:p>
        </p:txBody>
      </p:sp>
      <p:sp>
        <p:nvSpPr>
          <p:cNvPr id="9" name="Rectangle 8"/>
          <p:cNvSpPr/>
          <p:nvPr/>
        </p:nvSpPr>
        <p:spPr>
          <a:xfrm>
            <a:off x="274320" y="1847088"/>
            <a:ext cx="5394960" cy="53035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911095"/>
            <a:ext cx="5120640" cy="201168"/>
          </a:xfrm>
          <a:prstGeom prst="rect">
            <a:avLst/>
          </a:prstGeom>
          <a:noFill/>
        </p:spPr>
        <p:txBody>
          <a:bodyPr wrap="square">
            <a:spAutoFit/>
          </a:bodyPr>
          <a:lstStyle/>
          <a:p>
            <a:pPr algn="l"/>
            <a:r>
              <a:rPr sz="950" b="1" i="0">
                <a:solidFill>
                  <a:srgbClr val="0D1B2A"/>
                </a:solidFill>
              </a:rPr>
              <a:t>常時取得</a:t>
            </a:r>
          </a:p>
        </p:txBody>
      </p:sp>
      <p:sp>
        <p:nvSpPr>
          <p:cNvPr id="11" name="TextBox 10"/>
          <p:cNvSpPr txBox="1"/>
          <p:nvPr/>
        </p:nvSpPr>
        <p:spPr>
          <a:xfrm>
            <a:off x="457200" y="2121408"/>
            <a:ext cx="5120640" cy="219456"/>
          </a:xfrm>
          <a:prstGeom prst="rect">
            <a:avLst/>
          </a:prstGeom>
          <a:noFill/>
        </p:spPr>
        <p:txBody>
          <a:bodyPr wrap="square">
            <a:spAutoFit/>
          </a:bodyPr>
          <a:lstStyle/>
          <a:p>
            <a:pPr algn="l"/>
            <a:r>
              <a:rPr sz="950" b="0" i="0">
                <a:solidFill>
                  <a:srgbClr val="0D1B2A"/>
                </a:solidFill>
              </a:rPr>
              <a:t>Prometheus  →  6件のPromQLクエリ  |  インフラベースライン</a:t>
            </a:r>
          </a:p>
        </p:txBody>
      </p:sp>
      <p:sp>
        <p:nvSpPr>
          <p:cNvPr id="12" name="Rectangle 11"/>
          <p:cNvSpPr/>
          <p:nvPr/>
        </p:nvSpPr>
        <p:spPr>
          <a:xfrm>
            <a:off x="274320" y="2423160"/>
            <a:ext cx="5394960" cy="53035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487168"/>
            <a:ext cx="5120640" cy="201168"/>
          </a:xfrm>
          <a:prstGeom prst="rect">
            <a:avLst/>
          </a:prstGeom>
          <a:noFill/>
        </p:spPr>
        <p:txBody>
          <a:bodyPr wrap="square">
            <a:spAutoFit/>
          </a:bodyPr>
          <a:lstStyle/>
          <a:p>
            <a:pPr algn="l"/>
            <a:r>
              <a:rPr sz="950" b="1" i="0">
                <a:solidFill>
                  <a:srgbClr val="FFFFFF"/>
                </a:solidFill>
              </a:rPr>
              <a:t>条件付き（trace_id利用可能時）</a:t>
            </a:r>
          </a:p>
        </p:txBody>
      </p:sp>
      <p:sp>
        <p:nvSpPr>
          <p:cNvPr id="14" name="TextBox 13"/>
          <p:cNvSpPr txBox="1"/>
          <p:nvPr/>
        </p:nvSpPr>
        <p:spPr>
          <a:xfrm>
            <a:off x="457200" y="2697480"/>
            <a:ext cx="5120640" cy="219456"/>
          </a:xfrm>
          <a:prstGeom prst="rect">
            <a:avLst/>
          </a:prstGeom>
          <a:noFill/>
        </p:spPr>
        <p:txBody>
          <a:bodyPr wrap="square">
            <a:spAutoFit/>
          </a:bodyPr>
          <a:lstStyle/>
          <a:p>
            <a:pPr algn="l"/>
            <a:r>
              <a:rPr sz="950" b="0" i="0">
                <a:solidFill>
                  <a:srgbClr val="FFFFFF"/>
                </a:solidFill>
              </a:rPr>
              <a:t>Langfuse  →  トレース + 最大100 observations  |  AIレイヤー視点</a:t>
            </a:r>
          </a:p>
        </p:txBody>
      </p:sp>
      <p:sp>
        <p:nvSpPr>
          <p:cNvPr id="15" name="Rectangle 14"/>
          <p:cNvSpPr/>
          <p:nvPr/>
        </p:nvSpPr>
        <p:spPr>
          <a:xfrm>
            <a:off x="274320" y="2999232"/>
            <a:ext cx="5394960" cy="41148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063240"/>
            <a:ext cx="5120640" cy="320040"/>
          </a:xfrm>
          <a:prstGeom prst="rect">
            <a:avLst/>
          </a:prstGeom>
          <a:noFill/>
        </p:spPr>
        <p:txBody>
          <a:bodyPr wrap="square">
            <a:spAutoFit/>
          </a:bodyPr>
          <a:lstStyle/>
          <a:p>
            <a:pPr algn="l"/>
            <a:r>
              <a:rPr sz="950" b="0" i="1">
                <a:solidFill>
                  <a:srgbClr val="CCD6E0"/>
                </a:solidFill>
              </a:rPr>
              <a:t>LLM前に全ログを時系列ソート — 因果関係の特定に必須（最初の障害=根本候補）</a:t>
            </a:r>
          </a:p>
        </p:txBody>
      </p:sp>
      <p:sp>
        <p:nvSpPr>
          <p:cNvPr id="17" name="TextBox 16"/>
          <p:cNvSpPr txBox="1"/>
          <p:nvPr/>
        </p:nvSpPr>
        <p:spPr>
          <a:xfrm>
            <a:off x="274320" y="3520440"/>
            <a:ext cx="5486400" cy="256032"/>
          </a:xfrm>
          <a:prstGeom prst="rect">
            <a:avLst/>
          </a:prstGeom>
          <a:noFill/>
        </p:spPr>
        <p:txBody>
          <a:bodyPr wrap="square">
            <a:spAutoFit/>
          </a:bodyPr>
          <a:lstStyle/>
          <a:p>
            <a:pPr algn="l"/>
            <a:r>
              <a:rPr sz="1000" b="1" i="0">
                <a:solidFill>
                  <a:srgbClr val="2E86AB"/>
                </a:solidFill>
              </a:rPr>
              <a:t>処理ステップ</a:t>
            </a:r>
          </a:p>
        </p:txBody>
      </p:sp>
      <p:sp>
        <p:nvSpPr>
          <p:cNvPr id="18" name="Rectangle 17"/>
          <p:cNvSpPr/>
          <p:nvPr/>
        </p:nvSpPr>
        <p:spPr>
          <a:xfrm>
            <a:off x="274320" y="3822191"/>
            <a:ext cx="320040" cy="2743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3849624"/>
            <a:ext cx="320040" cy="219456"/>
          </a:xfrm>
          <a:prstGeom prst="rect">
            <a:avLst/>
          </a:prstGeom>
          <a:noFill/>
        </p:spPr>
        <p:txBody>
          <a:bodyPr wrap="square">
            <a:spAutoFit/>
          </a:bodyPr>
          <a:lstStyle/>
          <a:p>
            <a:pPr algn="ctr"/>
            <a:r>
              <a:rPr sz="1000" b="1" i="0">
                <a:solidFill>
                  <a:srgbClr val="FFFFFF"/>
                </a:solidFill>
              </a:rPr>
              <a:t>1</a:t>
            </a:r>
          </a:p>
        </p:txBody>
      </p:sp>
      <p:sp>
        <p:nvSpPr>
          <p:cNvPr id="20" name="TextBox 19"/>
          <p:cNvSpPr txBox="1"/>
          <p:nvPr/>
        </p:nvSpPr>
        <p:spPr>
          <a:xfrm>
            <a:off x="640080" y="3849624"/>
            <a:ext cx="4937760" cy="256032"/>
          </a:xfrm>
          <a:prstGeom prst="rect">
            <a:avLst/>
          </a:prstGeom>
          <a:noFill/>
        </p:spPr>
        <p:txBody>
          <a:bodyPr wrap="square">
            <a:spAutoFit/>
          </a:bodyPr>
          <a:lstStyle/>
          <a:p>
            <a:pPr algn="l"/>
            <a:r>
              <a:rPr sz="950" b="0" i="0">
                <a:solidFill>
                  <a:srgbClr val="FFFFFF"/>
                </a:solidFill>
              </a:rPr>
              <a:t>Prometheus（常時）+ Langfuse（trace_id存在時）を取得</a:t>
            </a:r>
          </a:p>
        </p:txBody>
      </p:sp>
      <p:sp>
        <p:nvSpPr>
          <p:cNvPr id="21" name="Rectangle 20"/>
          <p:cNvSpPr/>
          <p:nvPr/>
        </p:nvSpPr>
        <p:spPr>
          <a:xfrm>
            <a:off x="274320" y="4169663"/>
            <a:ext cx="320040" cy="2743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4320" y="4197096"/>
            <a:ext cx="320040" cy="219456"/>
          </a:xfrm>
          <a:prstGeom prst="rect">
            <a:avLst/>
          </a:prstGeom>
          <a:noFill/>
        </p:spPr>
        <p:txBody>
          <a:bodyPr wrap="square">
            <a:spAutoFit/>
          </a:bodyPr>
          <a:lstStyle/>
          <a:p>
            <a:pPr algn="ctr"/>
            <a:r>
              <a:rPr sz="1000" b="1" i="0">
                <a:solidFill>
                  <a:srgbClr val="FFFFFF"/>
                </a:solidFill>
              </a:rPr>
              <a:t>2</a:t>
            </a:r>
          </a:p>
        </p:txBody>
      </p:sp>
      <p:sp>
        <p:nvSpPr>
          <p:cNvPr id="23" name="TextBox 22"/>
          <p:cNvSpPr txBox="1"/>
          <p:nvPr/>
        </p:nvSpPr>
        <p:spPr>
          <a:xfrm>
            <a:off x="640080" y="4197096"/>
            <a:ext cx="4937760" cy="256032"/>
          </a:xfrm>
          <a:prstGeom prst="rect">
            <a:avLst/>
          </a:prstGeom>
          <a:noFill/>
        </p:spPr>
        <p:txBody>
          <a:bodyPr wrap="square">
            <a:spAutoFit/>
          </a:bodyPr>
          <a:lstStyle/>
          <a:p>
            <a:pPr algn="l"/>
            <a:r>
              <a:rPr sz="950" b="0" i="0">
                <a:solidFill>
                  <a:srgbClr val="FFFFFF"/>
                </a:solidFill>
              </a:rPr>
              <a:t>両ソースの全ログを時系列ソート</a:t>
            </a:r>
          </a:p>
        </p:txBody>
      </p:sp>
      <p:sp>
        <p:nvSpPr>
          <p:cNvPr id="24" name="Rectangle 23"/>
          <p:cNvSpPr/>
          <p:nvPr/>
        </p:nvSpPr>
        <p:spPr>
          <a:xfrm>
            <a:off x="274320" y="4517136"/>
            <a:ext cx="320040" cy="2743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4320" y="4544568"/>
            <a:ext cx="320040" cy="219456"/>
          </a:xfrm>
          <a:prstGeom prst="rect">
            <a:avLst/>
          </a:prstGeom>
          <a:noFill/>
        </p:spPr>
        <p:txBody>
          <a:bodyPr wrap="square">
            <a:spAutoFit/>
          </a:bodyPr>
          <a:lstStyle/>
          <a:p>
            <a:pPr algn="ctr"/>
            <a:r>
              <a:rPr sz="1000" b="1" i="0">
                <a:solidFill>
                  <a:srgbClr val="FFFFFF"/>
                </a:solidFill>
              </a:rPr>
              <a:t>3</a:t>
            </a:r>
          </a:p>
        </p:txBody>
      </p:sp>
      <p:sp>
        <p:nvSpPr>
          <p:cNvPr id="26" name="TextBox 25"/>
          <p:cNvSpPr txBox="1"/>
          <p:nvPr/>
        </p:nvSpPr>
        <p:spPr>
          <a:xfrm>
            <a:off x="640080" y="4544568"/>
            <a:ext cx="4937760" cy="256032"/>
          </a:xfrm>
          <a:prstGeom prst="rect">
            <a:avLst/>
          </a:prstGeom>
          <a:noFill/>
        </p:spPr>
        <p:txBody>
          <a:bodyPr wrap="square">
            <a:spAutoFit/>
          </a:bodyPr>
          <a:lstStyle/>
          <a:p>
            <a:pPr algn="l"/>
            <a:r>
              <a:rPr sz="950" b="0" i="0">
                <a:solidFill>
                  <a:srgbClr val="FFFFFF"/>
                </a:solidFill>
              </a:rPr>
              <a:t>ユーザーメッセージ構築: ソース別ログ + 正規化コンテキスト</a:t>
            </a:r>
          </a:p>
        </p:txBody>
      </p:sp>
      <p:sp>
        <p:nvSpPr>
          <p:cNvPr id="27" name="Rectangle 26"/>
          <p:cNvSpPr/>
          <p:nvPr/>
        </p:nvSpPr>
        <p:spPr>
          <a:xfrm>
            <a:off x="274320" y="4864607"/>
            <a:ext cx="320040" cy="2743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4320" y="4892040"/>
            <a:ext cx="320040" cy="219456"/>
          </a:xfrm>
          <a:prstGeom prst="rect">
            <a:avLst/>
          </a:prstGeom>
          <a:noFill/>
        </p:spPr>
        <p:txBody>
          <a:bodyPr wrap="square">
            <a:spAutoFit/>
          </a:bodyPr>
          <a:lstStyle/>
          <a:p>
            <a:pPr algn="ctr"/>
            <a:r>
              <a:rPr sz="1000" b="1" i="0">
                <a:solidFill>
                  <a:srgbClr val="FFFFFF"/>
                </a:solidFill>
              </a:rPr>
              <a:t>4</a:t>
            </a:r>
          </a:p>
        </p:txBody>
      </p:sp>
      <p:sp>
        <p:nvSpPr>
          <p:cNvPr id="29" name="TextBox 28"/>
          <p:cNvSpPr txBox="1"/>
          <p:nvPr/>
        </p:nvSpPr>
        <p:spPr>
          <a:xfrm>
            <a:off x="640080" y="4892040"/>
            <a:ext cx="4937760" cy="256032"/>
          </a:xfrm>
          <a:prstGeom prst="rect">
            <a:avLst/>
          </a:prstGeom>
          <a:noFill/>
        </p:spPr>
        <p:txBody>
          <a:bodyPr wrap="square">
            <a:spAutoFit/>
          </a:bodyPr>
          <a:lstStyle/>
          <a:p>
            <a:pPr algn="l"/>
            <a:r>
              <a:rPr sz="950" b="0" i="0">
                <a:solidFill>
                  <a:srgbClr val="FFFFFF"/>
                </a:solidFill>
              </a:rPr>
              <a:t>CorrelationResultスキーマでGPT-4o呼び出し</a:t>
            </a:r>
          </a:p>
        </p:txBody>
      </p:sp>
      <p:sp>
        <p:nvSpPr>
          <p:cNvPr id="30" name="Rectangle 29"/>
          <p:cNvSpPr/>
          <p:nvPr/>
        </p:nvSpPr>
        <p:spPr>
          <a:xfrm>
            <a:off x="274320" y="5212079"/>
            <a:ext cx="320040" cy="2743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4320" y="5239512"/>
            <a:ext cx="320040" cy="219456"/>
          </a:xfrm>
          <a:prstGeom prst="rect">
            <a:avLst/>
          </a:prstGeom>
          <a:noFill/>
        </p:spPr>
        <p:txBody>
          <a:bodyPr wrap="square">
            <a:spAutoFit/>
          </a:bodyPr>
          <a:lstStyle/>
          <a:p>
            <a:pPr algn="ctr"/>
            <a:r>
              <a:rPr sz="1000" b="1" i="0">
                <a:solidFill>
                  <a:srgbClr val="FFFFFF"/>
                </a:solidFill>
              </a:rPr>
              <a:t>5</a:t>
            </a:r>
          </a:p>
        </p:txBody>
      </p:sp>
      <p:sp>
        <p:nvSpPr>
          <p:cNvPr id="32" name="TextBox 31"/>
          <p:cNvSpPr txBox="1"/>
          <p:nvPr/>
        </p:nvSpPr>
        <p:spPr>
          <a:xfrm>
            <a:off x="640080" y="5239512"/>
            <a:ext cx="4937760" cy="256032"/>
          </a:xfrm>
          <a:prstGeom prst="rect">
            <a:avLst/>
          </a:prstGeom>
          <a:noFill/>
        </p:spPr>
        <p:txBody>
          <a:bodyPr wrap="square">
            <a:spAutoFit/>
          </a:bodyPr>
          <a:lstStyle/>
          <a:p>
            <a:pPr algn="l"/>
            <a:r>
              <a:rPr sz="950" b="0" i="0">
                <a:solidFill>
                  <a:srgbClr val="FFFFFF"/>
                </a:solidFill>
              </a:rPr>
              <a:t>Pydanticバリデーションと CorrelationResult + analysis_target の返却</a:t>
            </a:r>
          </a:p>
        </p:txBody>
      </p:sp>
      <p:sp>
        <p:nvSpPr>
          <p:cNvPr id="33" name="TextBox 32"/>
          <p:cNvSpPr txBox="1"/>
          <p:nvPr/>
        </p:nvSpPr>
        <p:spPr>
          <a:xfrm>
            <a:off x="6126480" y="1554480"/>
            <a:ext cx="5760720" cy="256032"/>
          </a:xfrm>
          <a:prstGeom prst="rect">
            <a:avLst/>
          </a:prstGeom>
          <a:noFill/>
        </p:spPr>
        <p:txBody>
          <a:bodyPr wrap="square">
            <a:spAutoFit/>
          </a:bodyPr>
          <a:lstStyle/>
          <a:p>
            <a:pPr algn="l"/>
            <a:r>
              <a:rPr sz="1000" b="1" i="0">
                <a:solidFill>
                  <a:srgbClr val="2E86AB"/>
                </a:solidFill>
              </a:rPr>
              <a:t>出力: CorrelationResult</a:t>
            </a:r>
          </a:p>
        </p:txBody>
      </p:sp>
      <p:sp>
        <p:nvSpPr>
          <p:cNvPr id="34" name="Rectangle 33"/>
          <p:cNvSpPr/>
          <p:nvPr/>
        </p:nvSpPr>
        <p:spPr>
          <a:xfrm>
            <a:off x="6126480" y="1847088"/>
            <a:ext cx="5760720" cy="475488"/>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63640" y="1883664"/>
            <a:ext cx="2011680" cy="201168"/>
          </a:xfrm>
          <a:prstGeom prst="rect">
            <a:avLst/>
          </a:prstGeom>
          <a:noFill/>
        </p:spPr>
        <p:txBody>
          <a:bodyPr wrap="square">
            <a:spAutoFit/>
          </a:bodyPr>
          <a:lstStyle/>
          <a:p>
            <a:pPr algn="l"/>
            <a:r>
              <a:rPr sz="950" b="1" i="0">
                <a:solidFill>
                  <a:srgbClr val="F39C12"/>
                </a:solidFill>
              </a:rPr>
              <a:t>correlation_chain</a:t>
            </a:r>
          </a:p>
        </p:txBody>
      </p:sp>
      <p:sp>
        <p:nvSpPr>
          <p:cNvPr id="36" name="TextBox 35"/>
          <p:cNvSpPr txBox="1"/>
          <p:nvPr/>
        </p:nvSpPr>
        <p:spPr>
          <a:xfrm>
            <a:off x="6263640" y="2084832"/>
            <a:ext cx="5577840" cy="201168"/>
          </a:xfrm>
          <a:prstGeom prst="rect">
            <a:avLst/>
          </a:prstGeom>
          <a:noFill/>
        </p:spPr>
        <p:txBody>
          <a:bodyPr wrap="square">
            <a:spAutoFit/>
          </a:bodyPr>
          <a:lstStyle/>
          <a:p>
            <a:pPr algn="l"/>
            <a:r>
              <a:rPr sz="900" b="0" i="0">
                <a:solidFill>
                  <a:srgbClr val="FFFFFF"/>
                </a:solidFill>
              </a:rPr>
              <a:t>list[str]  —  例: ['DNS障害 → プロキシタイムアウト → ゲートウェイ502']</a:t>
            </a:r>
          </a:p>
        </p:txBody>
      </p:sp>
      <p:sp>
        <p:nvSpPr>
          <p:cNvPr id="37" name="Rectangle 36"/>
          <p:cNvSpPr/>
          <p:nvPr/>
        </p:nvSpPr>
        <p:spPr>
          <a:xfrm>
            <a:off x="6126480" y="2368296"/>
            <a:ext cx="5760720" cy="475488"/>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63640" y="2404872"/>
            <a:ext cx="2011680" cy="201168"/>
          </a:xfrm>
          <a:prstGeom prst="rect">
            <a:avLst/>
          </a:prstGeom>
          <a:noFill/>
        </p:spPr>
        <p:txBody>
          <a:bodyPr wrap="square">
            <a:spAutoFit/>
          </a:bodyPr>
          <a:lstStyle/>
          <a:p>
            <a:pPr algn="l"/>
            <a:r>
              <a:rPr sz="950" b="1" i="0">
                <a:solidFill>
                  <a:srgbClr val="F39C12"/>
                </a:solidFill>
              </a:rPr>
              <a:t>peer_components</a:t>
            </a:r>
          </a:p>
        </p:txBody>
      </p:sp>
      <p:sp>
        <p:nvSpPr>
          <p:cNvPr id="39" name="TextBox 38"/>
          <p:cNvSpPr txBox="1"/>
          <p:nvPr/>
        </p:nvSpPr>
        <p:spPr>
          <a:xfrm>
            <a:off x="6263640" y="2606039"/>
            <a:ext cx="5577840" cy="201168"/>
          </a:xfrm>
          <a:prstGeom prst="rect">
            <a:avLst/>
          </a:prstGeom>
          <a:noFill/>
        </p:spPr>
        <p:txBody>
          <a:bodyPr wrap="square">
            <a:spAutoFit/>
          </a:bodyPr>
          <a:lstStyle/>
          <a:p>
            <a:pPr algn="l"/>
            <a:r>
              <a:rPr sz="900" b="0" i="0">
                <a:solidFill>
                  <a:srgbClr val="FFFFFF"/>
                </a:solidFill>
              </a:rPr>
              <a:t>list[PeerComponent]  —  役割+証拠を持つ各コンポーネント</a:t>
            </a:r>
          </a:p>
        </p:txBody>
      </p:sp>
      <p:sp>
        <p:nvSpPr>
          <p:cNvPr id="40" name="Rectangle 39"/>
          <p:cNvSpPr/>
          <p:nvPr/>
        </p:nvSpPr>
        <p:spPr>
          <a:xfrm>
            <a:off x="6126480" y="2889503"/>
            <a:ext cx="5760720" cy="475488"/>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63640" y="2926079"/>
            <a:ext cx="2011680" cy="201168"/>
          </a:xfrm>
          <a:prstGeom prst="rect">
            <a:avLst/>
          </a:prstGeom>
          <a:noFill/>
        </p:spPr>
        <p:txBody>
          <a:bodyPr wrap="square">
            <a:spAutoFit/>
          </a:bodyPr>
          <a:lstStyle/>
          <a:p>
            <a:pPr algn="l"/>
            <a:r>
              <a:rPr sz="950" b="1" i="0">
                <a:solidFill>
                  <a:srgbClr val="F39C12"/>
                </a:solidFill>
              </a:rPr>
              <a:t>timeline</a:t>
            </a:r>
          </a:p>
        </p:txBody>
      </p:sp>
      <p:sp>
        <p:nvSpPr>
          <p:cNvPr id="42" name="TextBox 41"/>
          <p:cNvSpPr txBox="1"/>
          <p:nvPr/>
        </p:nvSpPr>
        <p:spPr>
          <a:xfrm>
            <a:off x="6263640" y="3127248"/>
            <a:ext cx="5577840" cy="201168"/>
          </a:xfrm>
          <a:prstGeom prst="rect">
            <a:avLst/>
          </a:prstGeom>
          <a:noFill/>
        </p:spPr>
        <p:txBody>
          <a:bodyPr wrap="square">
            <a:spAutoFit/>
          </a:bodyPr>
          <a:lstStyle/>
          <a:p>
            <a:pPr algn="l"/>
            <a:r>
              <a:rPr sz="900" b="0" i="0">
                <a:solidFill>
                  <a:srgbClr val="FFFFFF"/>
                </a:solidFill>
              </a:rPr>
              <a:t>list[TimelineEvent]  —  時系列障害イベント</a:t>
            </a:r>
          </a:p>
        </p:txBody>
      </p:sp>
      <p:sp>
        <p:nvSpPr>
          <p:cNvPr id="43" name="Rectangle 42"/>
          <p:cNvSpPr/>
          <p:nvPr/>
        </p:nvSpPr>
        <p:spPr>
          <a:xfrm>
            <a:off x="6126480" y="3410711"/>
            <a:ext cx="5760720" cy="475488"/>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63640" y="3447287"/>
            <a:ext cx="2011680" cy="201168"/>
          </a:xfrm>
          <a:prstGeom prst="rect">
            <a:avLst/>
          </a:prstGeom>
          <a:noFill/>
        </p:spPr>
        <p:txBody>
          <a:bodyPr wrap="square">
            <a:spAutoFit/>
          </a:bodyPr>
          <a:lstStyle/>
          <a:p>
            <a:pPr algn="l"/>
            <a:r>
              <a:rPr sz="950" b="1" i="0">
                <a:solidFill>
                  <a:srgbClr val="F39C12"/>
                </a:solidFill>
              </a:rPr>
              <a:t>root_cause_candidate</a:t>
            </a:r>
          </a:p>
        </p:txBody>
      </p:sp>
      <p:sp>
        <p:nvSpPr>
          <p:cNvPr id="45" name="TextBox 44"/>
          <p:cNvSpPr txBox="1"/>
          <p:nvPr/>
        </p:nvSpPr>
        <p:spPr>
          <a:xfrm>
            <a:off x="6263640" y="3648455"/>
            <a:ext cx="5577840" cy="201168"/>
          </a:xfrm>
          <a:prstGeom prst="rect">
            <a:avLst/>
          </a:prstGeom>
          <a:noFill/>
        </p:spPr>
        <p:txBody>
          <a:bodyPr wrap="square">
            <a:spAutoFit/>
          </a:bodyPr>
          <a:lstStyle/>
          <a:p>
            <a:pPr algn="l"/>
            <a:r>
              <a:rPr sz="900" b="0" i="0">
                <a:solidFill>
                  <a:srgbClr val="FFFFFF"/>
                </a:solidFill>
              </a:rPr>
              <a:t>コンポーネント + 信頼度(0〜1) + 理由</a:t>
            </a:r>
          </a:p>
        </p:txBody>
      </p:sp>
      <p:sp>
        <p:nvSpPr>
          <p:cNvPr id="46" name="Rectangle 45"/>
          <p:cNvSpPr/>
          <p:nvPr/>
        </p:nvSpPr>
        <p:spPr>
          <a:xfrm>
            <a:off x="6126480" y="3931920"/>
            <a:ext cx="5760720" cy="47548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63640" y="3968496"/>
            <a:ext cx="2011680" cy="201168"/>
          </a:xfrm>
          <a:prstGeom prst="rect">
            <a:avLst/>
          </a:prstGeom>
          <a:noFill/>
        </p:spPr>
        <p:txBody>
          <a:bodyPr wrap="square">
            <a:spAutoFit/>
          </a:bodyPr>
          <a:lstStyle/>
          <a:p>
            <a:pPr algn="l"/>
            <a:r>
              <a:rPr sz="950" b="1" i="0">
                <a:solidFill>
                  <a:srgbClr val="F39C12"/>
                </a:solidFill>
              </a:rPr>
              <a:t>analysis_target</a:t>
            </a:r>
          </a:p>
        </p:txBody>
      </p:sp>
      <p:sp>
        <p:nvSpPr>
          <p:cNvPr id="48" name="TextBox 47"/>
          <p:cNvSpPr txBox="1"/>
          <p:nvPr/>
        </p:nvSpPr>
        <p:spPr>
          <a:xfrm>
            <a:off x="6263640" y="4169663"/>
            <a:ext cx="5577840" cy="201168"/>
          </a:xfrm>
          <a:prstGeom prst="rect">
            <a:avLst/>
          </a:prstGeom>
          <a:noFill/>
        </p:spPr>
        <p:txBody>
          <a:bodyPr wrap="square">
            <a:spAutoFit/>
          </a:bodyPr>
          <a:lstStyle/>
          <a:p>
            <a:pPr algn="l"/>
            <a:r>
              <a:rPr sz="900" b="0" i="0">
                <a:solidFill>
                  <a:srgbClr val="FFFFFF"/>
                </a:solidFill>
              </a:rPr>
              <a:t>Agent | InfraLogs | Unknown  ←  ルーティング決定</a:t>
            </a:r>
          </a:p>
        </p:txBody>
      </p:sp>
      <p:sp>
        <p:nvSpPr>
          <p:cNvPr id="49" name="TextBox 48"/>
          <p:cNvSpPr txBox="1"/>
          <p:nvPr/>
        </p:nvSpPr>
        <p:spPr>
          <a:xfrm>
            <a:off x="6126480" y="4617720"/>
            <a:ext cx="5760720" cy="256032"/>
          </a:xfrm>
          <a:prstGeom prst="rect">
            <a:avLst/>
          </a:prstGeom>
          <a:noFill/>
        </p:spPr>
        <p:txBody>
          <a:bodyPr wrap="square">
            <a:spAutoFit/>
          </a:bodyPr>
          <a:lstStyle/>
          <a:p>
            <a:pPr algn="l"/>
            <a:r>
              <a:rPr sz="1000" b="1" i="0">
                <a:solidFill>
                  <a:srgbClr val="2E86AB"/>
                </a:solidFill>
              </a:rPr>
              <a:t>ルーティング決定 — analysis_target の値</a:t>
            </a:r>
          </a:p>
        </p:txBody>
      </p:sp>
      <p:sp>
        <p:nvSpPr>
          <p:cNvPr id="50" name="Rectangle 49"/>
          <p:cNvSpPr/>
          <p:nvPr/>
        </p:nvSpPr>
        <p:spPr>
          <a:xfrm>
            <a:off x="6126480" y="4919472"/>
            <a:ext cx="1828800" cy="274320"/>
          </a:xfrm>
          <a:prstGeom prst="rect">
            <a:avLst/>
          </a:prstGeom>
          <a:solidFill>
            <a:srgbClr val="1A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199632" y="4956048"/>
            <a:ext cx="1737360" cy="228600"/>
          </a:xfrm>
          <a:prstGeom prst="rect">
            <a:avLst/>
          </a:prstGeom>
          <a:noFill/>
        </p:spPr>
        <p:txBody>
          <a:bodyPr wrap="square">
            <a:spAutoFit/>
          </a:bodyPr>
          <a:lstStyle/>
          <a:p>
            <a:pPr algn="l"/>
            <a:r>
              <a:rPr sz="950" b="1" i="0">
                <a:solidFill>
                  <a:srgbClr val="FFFFFF"/>
                </a:solidFill>
              </a:rPr>
              <a:t>analysis_target</a:t>
            </a:r>
          </a:p>
        </p:txBody>
      </p:sp>
      <p:sp>
        <p:nvSpPr>
          <p:cNvPr id="52" name="Rectangle 51"/>
          <p:cNvSpPr/>
          <p:nvPr/>
        </p:nvSpPr>
        <p:spPr>
          <a:xfrm>
            <a:off x="7955279" y="4919472"/>
            <a:ext cx="1920240" cy="274320"/>
          </a:xfrm>
          <a:prstGeom prst="rect">
            <a:avLst/>
          </a:prstGeom>
          <a:solidFill>
            <a:srgbClr val="1A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028431" y="4956048"/>
            <a:ext cx="1828800" cy="228600"/>
          </a:xfrm>
          <a:prstGeom prst="rect">
            <a:avLst/>
          </a:prstGeom>
          <a:noFill/>
        </p:spPr>
        <p:txBody>
          <a:bodyPr wrap="square">
            <a:spAutoFit/>
          </a:bodyPr>
          <a:lstStyle/>
          <a:p>
            <a:pPr algn="l"/>
            <a:r>
              <a:rPr sz="950" b="1" i="0">
                <a:solidFill>
                  <a:srgbClr val="FFFFFF"/>
                </a:solidFill>
              </a:rPr>
              <a:t>エージェント3・4の取得先</a:t>
            </a:r>
          </a:p>
        </p:txBody>
      </p:sp>
      <p:sp>
        <p:nvSpPr>
          <p:cNvPr id="54" name="Rectangle 53"/>
          <p:cNvSpPr/>
          <p:nvPr/>
        </p:nvSpPr>
        <p:spPr>
          <a:xfrm>
            <a:off x="9875519" y="4919472"/>
            <a:ext cx="2011680" cy="274320"/>
          </a:xfrm>
          <a:prstGeom prst="rect">
            <a:avLst/>
          </a:prstGeom>
          <a:solidFill>
            <a:srgbClr val="1A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948672" y="4956048"/>
            <a:ext cx="1920240" cy="228600"/>
          </a:xfrm>
          <a:prstGeom prst="rect">
            <a:avLst/>
          </a:prstGeom>
          <a:noFill/>
        </p:spPr>
        <p:txBody>
          <a:bodyPr wrap="square">
            <a:spAutoFit/>
          </a:bodyPr>
          <a:lstStyle/>
          <a:p>
            <a:pPr algn="l"/>
            <a:r>
              <a:rPr sz="950" b="1" i="0">
                <a:solidFill>
                  <a:srgbClr val="FFFFFF"/>
                </a:solidFill>
              </a:rPr>
              <a:t>使用条件</a:t>
            </a:r>
          </a:p>
        </p:txBody>
      </p:sp>
      <p:sp>
        <p:nvSpPr>
          <p:cNvPr id="56" name="Rectangle 55"/>
          <p:cNvSpPr/>
          <p:nvPr/>
        </p:nvSpPr>
        <p:spPr>
          <a:xfrm>
            <a:off x="6126480" y="5193792"/>
            <a:ext cx="1828800" cy="2743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199632" y="5230368"/>
            <a:ext cx="1737360" cy="228600"/>
          </a:xfrm>
          <a:prstGeom prst="rect">
            <a:avLst/>
          </a:prstGeom>
          <a:noFill/>
        </p:spPr>
        <p:txBody>
          <a:bodyPr wrap="square">
            <a:spAutoFit/>
          </a:bodyPr>
          <a:lstStyle/>
          <a:p>
            <a:pPr algn="l"/>
            <a:r>
              <a:rPr sz="950" b="0" i="0">
                <a:solidFill>
                  <a:srgbClr val="FFFFFF"/>
                </a:solidFill>
              </a:rPr>
              <a:t>Agent</a:t>
            </a:r>
          </a:p>
        </p:txBody>
      </p:sp>
      <p:sp>
        <p:nvSpPr>
          <p:cNvPr id="58" name="Rectangle 57"/>
          <p:cNvSpPr/>
          <p:nvPr/>
        </p:nvSpPr>
        <p:spPr>
          <a:xfrm>
            <a:off x="7955279" y="5193792"/>
            <a:ext cx="1920240" cy="2743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028431" y="5230368"/>
            <a:ext cx="1828800" cy="228600"/>
          </a:xfrm>
          <a:prstGeom prst="rect">
            <a:avLst/>
          </a:prstGeom>
          <a:noFill/>
        </p:spPr>
        <p:txBody>
          <a:bodyPr wrap="square">
            <a:spAutoFit/>
          </a:bodyPr>
          <a:lstStyle/>
          <a:p>
            <a:pPr algn="l"/>
            <a:r>
              <a:rPr sz="950" b="0" i="0">
                <a:solidFill>
                  <a:srgbClr val="FFFFFF"/>
                </a:solidFill>
              </a:rPr>
              <a:t>Langfuseのみ</a:t>
            </a:r>
          </a:p>
        </p:txBody>
      </p:sp>
      <p:sp>
        <p:nvSpPr>
          <p:cNvPr id="60" name="Rectangle 59"/>
          <p:cNvSpPr/>
          <p:nvPr/>
        </p:nvSpPr>
        <p:spPr>
          <a:xfrm>
            <a:off x="9875519" y="5193792"/>
            <a:ext cx="2011680" cy="2743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948672" y="5230368"/>
            <a:ext cx="1920240" cy="228600"/>
          </a:xfrm>
          <a:prstGeom prst="rect">
            <a:avLst/>
          </a:prstGeom>
          <a:noFill/>
        </p:spPr>
        <p:txBody>
          <a:bodyPr wrap="square">
            <a:spAutoFit/>
          </a:bodyPr>
          <a:lstStyle/>
          <a:p>
            <a:pPr algn="l"/>
            <a:r>
              <a:rPr sz="950" b="0" i="0">
                <a:solidFill>
                  <a:srgbClr val="FFFFFF"/>
                </a:solidFill>
              </a:rPr>
              <a:t>エラーがAIエージェントロジック/LLM呼び出しに起因</a:t>
            </a:r>
          </a:p>
        </p:txBody>
      </p:sp>
      <p:sp>
        <p:nvSpPr>
          <p:cNvPr id="62" name="Rectangle 61"/>
          <p:cNvSpPr/>
          <p:nvPr/>
        </p:nvSpPr>
        <p:spPr>
          <a:xfrm>
            <a:off x="6126480" y="5468112"/>
            <a:ext cx="1828800" cy="274320"/>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199632" y="5504688"/>
            <a:ext cx="1737360" cy="228600"/>
          </a:xfrm>
          <a:prstGeom prst="rect">
            <a:avLst/>
          </a:prstGeom>
          <a:noFill/>
        </p:spPr>
        <p:txBody>
          <a:bodyPr wrap="square">
            <a:spAutoFit/>
          </a:bodyPr>
          <a:lstStyle/>
          <a:p>
            <a:pPr algn="l"/>
            <a:r>
              <a:rPr sz="950" b="0" i="0">
                <a:solidFill>
                  <a:srgbClr val="FFFFFF"/>
                </a:solidFill>
              </a:rPr>
              <a:t>InfraLogs</a:t>
            </a:r>
          </a:p>
        </p:txBody>
      </p:sp>
      <p:sp>
        <p:nvSpPr>
          <p:cNvPr id="64" name="Rectangle 63"/>
          <p:cNvSpPr/>
          <p:nvPr/>
        </p:nvSpPr>
        <p:spPr>
          <a:xfrm>
            <a:off x="7955279" y="5468112"/>
            <a:ext cx="1920240" cy="274320"/>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028431" y="5504688"/>
            <a:ext cx="1828800" cy="228600"/>
          </a:xfrm>
          <a:prstGeom prst="rect">
            <a:avLst/>
          </a:prstGeom>
          <a:noFill/>
        </p:spPr>
        <p:txBody>
          <a:bodyPr wrap="square">
            <a:spAutoFit/>
          </a:bodyPr>
          <a:lstStyle/>
          <a:p>
            <a:pPr algn="l"/>
            <a:r>
              <a:rPr sz="950" b="0" i="0">
                <a:solidFill>
                  <a:srgbClr val="FFFFFF"/>
                </a:solidFill>
              </a:rPr>
              <a:t>Prometheusのみ</a:t>
            </a:r>
          </a:p>
        </p:txBody>
      </p:sp>
      <p:sp>
        <p:nvSpPr>
          <p:cNvPr id="66" name="Rectangle 65"/>
          <p:cNvSpPr/>
          <p:nvPr/>
        </p:nvSpPr>
        <p:spPr>
          <a:xfrm>
            <a:off x="9875519" y="5468112"/>
            <a:ext cx="2011680" cy="274320"/>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948672" y="5504688"/>
            <a:ext cx="1920240" cy="228600"/>
          </a:xfrm>
          <a:prstGeom prst="rect">
            <a:avLst/>
          </a:prstGeom>
          <a:noFill/>
        </p:spPr>
        <p:txBody>
          <a:bodyPr wrap="square">
            <a:spAutoFit/>
          </a:bodyPr>
          <a:lstStyle/>
          <a:p>
            <a:pPr algn="l"/>
            <a:r>
              <a:rPr sz="950" b="0" i="0">
                <a:solidFill>
                  <a:srgbClr val="FFFFFF"/>
                </a:solidFill>
              </a:rPr>
              <a:t>エラーがインフラ/リソースに起因</a:t>
            </a:r>
          </a:p>
        </p:txBody>
      </p:sp>
      <p:sp>
        <p:nvSpPr>
          <p:cNvPr id="68" name="Rectangle 67"/>
          <p:cNvSpPr/>
          <p:nvPr/>
        </p:nvSpPr>
        <p:spPr>
          <a:xfrm>
            <a:off x="6126480" y="5742431"/>
            <a:ext cx="1828800" cy="2743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199632" y="5779007"/>
            <a:ext cx="1737360" cy="228600"/>
          </a:xfrm>
          <a:prstGeom prst="rect">
            <a:avLst/>
          </a:prstGeom>
          <a:noFill/>
        </p:spPr>
        <p:txBody>
          <a:bodyPr wrap="square">
            <a:spAutoFit/>
          </a:bodyPr>
          <a:lstStyle/>
          <a:p>
            <a:pPr algn="l"/>
            <a:r>
              <a:rPr sz="950" b="0" i="0">
                <a:solidFill>
                  <a:srgbClr val="FFFFFF"/>
                </a:solidFill>
              </a:rPr>
              <a:t>Unknown</a:t>
            </a:r>
          </a:p>
        </p:txBody>
      </p:sp>
      <p:sp>
        <p:nvSpPr>
          <p:cNvPr id="70" name="Rectangle 69"/>
          <p:cNvSpPr/>
          <p:nvPr/>
        </p:nvSpPr>
        <p:spPr>
          <a:xfrm>
            <a:off x="7955279" y="5742431"/>
            <a:ext cx="1920240" cy="2743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028431" y="5779007"/>
            <a:ext cx="1828800" cy="228600"/>
          </a:xfrm>
          <a:prstGeom prst="rect">
            <a:avLst/>
          </a:prstGeom>
          <a:noFill/>
        </p:spPr>
        <p:txBody>
          <a:bodyPr wrap="square">
            <a:spAutoFit/>
          </a:bodyPr>
          <a:lstStyle/>
          <a:p>
            <a:pPr algn="l"/>
            <a:r>
              <a:rPr sz="950" b="0" i="0">
                <a:solidFill>
                  <a:srgbClr val="FFFFFF"/>
                </a:solidFill>
              </a:rPr>
              <a:t>Langfuse + Prometheus両方</a:t>
            </a:r>
          </a:p>
        </p:txBody>
      </p:sp>
      <p:sp>
        <p:nvSpPr>
          <p:cNvPr id="72" name="Rectangle 71"/>
          <p:cNvSpPr/>
          <p:nvPr/>
        </p:nvSpPr>
        <p:spPr>
          <a:xfrm>
            <a:off x="9875519" y="5742431"/>
            <a:ext cx="2011680" cy="2743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948672" y="5779007"/>
            <a:ext cx="1920240" cy="228600"/>
          </a:xfrm>
          <a:prstGeom prst="rect">
            <a:avLst/>
          </a:prstGeom>
          <a:noFill/>
        </p:spPr>
        <p:txBody>
          <a:bodyPr wrap="square">
            <a:spAutoFit/>
          </a:bodyPr>
          <a:lstStyle/>
          <a:p>
            <a:pPr algn="l"/>
            <a:r>
              <a:rPr sz="950" b="0" i="0">
                <a:solidFill>
                  <a:srgbClr val="FFFFFF"/>
                </a:solidFill>
              </a:rPr>
              <a:t>エラー起因不明 — 両方でクロスチェック</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685800"/>
          </a:xfrm>
          <a:prstGeom prst="rect">
            <a:avLst/>
          </a:prstGeom>
          <a:solidFill>
            <a:srgbClr val="1A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502920"/>
          </a:xfrm>
          <a:prstGeom prst="rect">
            <a:avLst/>
          </a:prstGeom>
          <a:noFill/>
        </p:spPr>
        <p:txBody>
          <a:bodyPr wrap="square">
            <a:spAutoFit/>
          </a:bodyPr>
          <a:lstStyle/>
          <a:p>
            <a:pPr algn="l"/>
            <a:r>
              <a:rPr sz="2000" b="1" i="0">
                <a:solidFill>
                  <a:srgbClr val="2E86AB"/>
                </a:solidFill>
              </a:rPr>
              <a:t>エージェント3 — エラー分析エージェント</a:t>
            </a:r>
          </a:p>
        </p:txBody>
      </p:sp>
      <p:sp>
        <p:nvSpPr>
          <p:cNvPr id="4" name="TextBox 3"/>
          <p:cNvSpPr txBox="1"/>
          <p:nvPr/>
        </p:nvSpPr>
        <p:spPr>
          <a:xfrm>
            <a:off x="274320" y="713232"/>
            <a:ext cx="11430000" cy="320040"/>
          </a:xfrm>
          <a:prstGeom prst="rect">
            <a:avLst/>
          </a:prstGeom>
          <a:noFill/>
        </p:spPr>
        <p:txBody>
          <a:bodyPr wrap="square">
            <a:spAutoFit/>
          </a:bodyPr>
          <a:lstStyle/>
          <a:p>
            <a:pPr algn="l"/>
            <a:r>
              <a:rPr sz="1100" b="0" i="1">
                <a:solidFill>
                  <a:srgbClr val="CCD6E0"/>
                </a:solidFill>
              </a:rPr>
              <a:t>目的: 詳細なエラー抽出 — 各エラーにユニークID・カテゴリ・重大度・証拠を付与</a:t>
            </a:r>
          </a:p>
        </p:txBody>
      </p:sp>
      <p:sp>
        <p:nvSpPr>
          <p:cNvPr id="5" name="Rectangle 4"/>
          <p:cNvSpPr/>
          <p:nvPr/>
        </p:nvSpPr>
        <p:spPr>
          <a:xfrm>
            <a:off x="274320" y="914400"/>
            <a:ext cx="11612880" cy="5029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14400"/>
            <a:ext cx="73152" cy="5029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969264"/>
            <a:ext cx="11247120" cy="384048"/>
          </a:xfrm>
          <a:prstGeom prst="rect">
            <a:avLst/>
          </a:prstGeom>
          <a:noFill/>
        </p:spPr>
        <p:txBody>
          <a:bodyPr wrap="square">
            <a:spAutoFit/>
          </a:bodyPr>
          <a:lstStyle/>
          <a:p>
            <a:pPr algn="l"/>
            <a:r>
              <a:rPr sz="1000" b="1" i="0">
                <a:solidFill>
                  <a:srgbClr val="FFFFFF"/>
                </a:solidFill>
              </a:rPr>
              <a:t>厳格なスコープ: エラーの識別と分類のみ。根本原因・推奨・推測は行わない。</a:t>
            </a:r>
          </a:p>
        </p:txBody>
      </p:sp>
      <p:sp>
        <p:nvSpPr>
          <p:cNvPr id="8" name="TextBox 7"/>
          <p:cNvSpPr txBox="1"/>
          <p:nvPr/>
        </p:nvSpPr>
        <p:spPr>
          <a:xfrm>
            <a:off x="274320" y="1554480"/>
            <a:ext cx="5394960" cy="256032"/>
          </a:xfrm>
          <a:prstGeom prst="rect">
            <a:avLst/>
          </a:prstGeom>
          <a:noFill/>
        </p:spPr>
        <p:txBody>
          <a:bodyPr wrap="square">
            <a:spAutoFit/>
          </a:bodyPr>
          <a:lstStyle/>
          <a:p>
            <a:pPr algn="l"/>
            <a:r>
              <a:rPr sz="1000" b="1" i="0">
                <a:solidFill>
                  <a:srgbClr val="2E86AB"/>
                </a:solidFill>
              </a:rPr>
              <a:t>ターゲットデータ取得</a:t>
            </a:r>
          </a:p>
        </p:txBody>
      </p:sp>
      <p:sp>
        <p:nvSpPr>
          <p:cNvPr id="9" name="Rectangle 8"/>
          <p:cNvSpPr/>
          <p:nvPr/>
        </p:nvSpPr>
        <p:spPr>
          <a:xfrm>
            <a:off x="274320" y="1847088"/>
            <a:ext cx="1828800" cy="274320"/>
          </a:xfrm>
          <a:prstGeom prst="rect">
            <a:avLst/>
          </a:prstGeom>
          <a:solidFill>
            <a:srgbClr val="1A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7472" y="1883664"/>
            <a:ext cx="1737360" cy="228600"/>
          </a:xfrm>
          <a:prstGeom prst="rect">
            <a:avLst/>
          </a:prstGeom>
          <a:noFill/>
        </p:spPr>
        <p:txBody>
          <a:bodyPr wrap="square">
            <a:spAutoFit/>
          </a:bodyPr>
          <a:lstStyle/>
          <a:p>
            <a:pPr algn="l"/>
            <a:r>
              <a:rPr sz="950" b="1" i="0">
                <a:solidFill>
                  <a:srgbClr val="FFFFFF"/>
                </a:solidFill>
              </a:rPr>
              <a:t>analysis_target</a:t>
            </a:r>
          </a:p>
        </p:txBody>
      </p:sp>
      <p:sp>
        <p:nvSpPr>
          <p:cNvPr id="11" name="Rectangle 10"/>
          <p:cNvSpPr/>
          <p:nvPr/>
        </p:nvSpPr>
        <p:spPr>
          <a:xfrm>
            <a:off x="2103120" y="1847088"/>
            <a:ext cx="1783080" cy="274320"/>
          </a:xfrm>
          <a:prstGeom prst="rect">
            <a:avLst/>
          </a:prstGeom>
          <a:solidFill>
            <a:srgbClr val="1A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76272" y="1883664"/>
            <a:ext cx="1691639" cy="228600"/>
          </a:xfrm>
          <a:prstGeom prst="rect">
            <a:avLst/>
          </a:prstGeom>
          <a:noFill/>
        </p:spPr>
        <p:txBody>
          <a:bodyPr wrap="square">
            <a:spAutoFit/>
          </a:bodyPr>
          <a:lstStyle/>
          <a:p>
            <a:pPr algn="l"/>
            <a:r>
              <a:rPr sz="950" b="1" i="0">
                <a:solidFill>
                  <a:srgbClr val="FFFFFF"/>
                </a:solidFill>
              </a:rPr>
              <a:t>Langfuse</a:t>
            </a:r>
          </a:p>
        </p:txBody>
      </p:sp>
      <p:sp>
        <p:nvSpPr>
          <p:cNvPr id="13" name="Rectangle 12"/>
          <p:cNvSpPr/>
          <p:nvPr/>
        </p:nvSpPr>
        <p:spPr>
          <a:xfrm>
            <a:off x="3886200" y="1847088"/>
            <a:ext cx="1783080" cy="274320"/>
          </a:xfrm>
          <a:prstGeom prst="rect">
            <a:avLst/>
          </a:prstGeom>
          <a:solidFill>
            <a:srgbClr val="1A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959352" y="1883664"/>
            <a:ext cx="1691639" cy="228600"/>
          </a:xfrm>
          <a:prstGeom prst="rect">
            <a:avLst/>
          </a:prstGeom>
          <a:noFill/>
        </p:spPr>
        <p:txBody>
          <a:bodyPr wrap="square">
            <a:spAutoFit/>
          </a:bodyPr>
          <a:lstStyle/>
          <a:p>
            <a:pPr algn="l"/>
            <a:r>
              <a:rPr sz="950" b="1" i="0">
                <a:solidFill>
                  <a:srgbClr val="FFFFFF"/>
                </a:solidFill>
              </a:rPr>
              <a:t>Prometheus</a:t>
            </a:r>
          </a:p>
        </p:txBody>
      </p:sp>
      <p:sp>
        <p:nvSpPr>
          <p:cNvPr id="15" name="Rectangle 14"/>
          <p:cNvSpPr/>
          <p:nvPr/>
        </p:nvSpPr>
        <p:spPr>
          <a:xfrm>
            <a:off x="274320" y="2121408"/>
            <a:ext cx="1828800" cy="2743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472" y="2157984"/>
            <a:ext cx="1737360" cy="228600"/>
          </a:xfrm>
          <a:prstGeom prst="rect">
            <a:avLst/>
          </a:prstGeom>
          <a:noFill/>
        </p:spPr>
        <p:txBody>
          <a:bodyPr wrap="square">
            <a:spAutoFit/>
          </a:bodyPr>
          <a:lstStyle/>
          <a:p>
            <a:pPr algn="l"/>
            <a:r>
              <a:rPr sz="950" b="0" i="0">
                <a:solidFill>
                  <a:srgbClr val="FFFFFF"/>
                </a:solidFill>
              </a:rPr>
              <a:t>Agent</a:t>
            </a:r>
          </a:p>
        </p:txBody>
      </p:sp>
      <p:sp>
        <p:nvSpPr>
          <p:cNvPr id="17" name="Rectangle 16"/>
          <p:cNvSpPr/>
          <p:nvPr/>
        </p:nvSpPr>
        <p:spPr>
          <a:xfrm>
            <a:off x="2103120" y="2121408"/>
            <a:ext cx="1783080" cy="2743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76272" y="2157984"/>
            <a:ext cx="1691639" cy="228600"/>
          </a:xfrm>
          <a:prstGeom prst="rect">
            <a:avLst/>
          </a:prstGeom>
          <a:noFill/>
        </p:spPr>
        <p:txBody>
          <a:bodyPr wrap="square">
            <a:spAutoFit/>
          </a:bodyPr>
          <a:lstStyle/>
          <a:p>
            <a:pPr algn="l"/>
            <a:r>
              <a:rPr sz="950" b="0" i="0">
                <a:solidFill>
                  <a:srgbClr val="FFFFFF"/>
                </a:solidFill>
              </a:rPr>
              <a:t>✓  取得（trace_id必要）</a:t>
            </a:r>
          </a:p>
        </p:txBody>
      </p:sp>
      <p:sp>
        <p:nvSpPr>
          <p:cNvPr id="19" name="Rectangle 18"/>
          <p:cNvSpPr/>
          <p:nvPr/>
        </p:nvSpPr>
        <p:spPr>
          <a:xfrm>
            <a:off x="3886200" y="2121408"/>
            <a:ext cx="1783080" cy="2743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59352" y="2157984"/>
            <a:ext cx="1691639" cy="228600"/>
          </a:xfrm>
          <a:prstGeom prst="rect">
            <a:avLst/>
          </a:prstGeom>
          <a:noFill/>
        </p:spPr>
        <p:txBody>
          <a:bodyPr wrap="square">
            <a:spAutoFit/>
          </a:bodyPr>
          <a:lstStyle/>
          <a:p>
            <a:pPr algn="l"/>
            <a:r>
              <a:rPr sz="950" b="0" i="0">
                <a:solidFill>
                  <a:srgbClr val="FFFFFF"/>
                </a:solidFill>
              </a:rPr>
              <a:t>✗  取得しない</a:t>
            </a:r>
          </a:p>
        </p:txBody>
      </p:sp>
      <p:sp>
        <p:nvSpPr>
          <p:cNvPr id="21" name="Rectangle 20"/>
          <p:cNvSpPr/>
          <p:nvPr/>
        </p:nvSpPr>
        <p:spPr>
          <a:xfrm>
            <a:off x="274320" y="2395727"/>
            <a:ext cx="1828800" cy="274320"/>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7472" y="2432303"/>
            <a:ext cx="1737360" cy="228600"/>
          </a:xfrm>
          <a:prstGeom prst="rect">
            <a:avLst/>
          </a:prstGeom>
          <a:noFill/>
        </p:spPr>
        <p:txBody>
          <a:bodyPr wrap="square">
            <a:spAutoFit/>
          </a:bodyPr>
          <a:lstStyle/>
          <a:p>
            <a:pPr algn="l"/>
            <a:r>
              <a:rPr sz="950" b="0" i="0">
                <a:solidFill>
                  <a:srgbClr val="FFFFFF"/>
                </a:solidFill>
              </a:rPr>
              <a:t>InfraLogs</a:t>
            </a:r>
          </a:p>
        </p:txBody>
      </p:sp>
      <p:sp>
        <p:nvSpPr>
          <p:cNvPr id="23" name="Rectangle 22"/>
          <p:cNvSpPr/>
          <p:nvPr/>
        </p:nvSpPr>
        <p:spPr>
          <a:xfrm>
            <a:off x="2103120" y="2395727"/>
            <a:ext cx="1783080" cy="274320"/>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76272" y="2432303"/>
            <a:ext cx="1691639" cy="228600"/>
          </a:xfrm>
          <a:prstGeom prst="rect">
            <a:avLst/>
          </a:prstGeom>
          <a:noFill/>
        </p:spPr>
        <p:txBody>
          <a:bodyPr wrap="square">
            <a:spAutoFit/>
          </a:bodyPr>
          <a:lstStyle/>
          <a:p>
            <a:pPr algn="l"/>
            <a:r>
              <a:rPr sz="950" b="0" i="0">
                <a:solidFill>
                  <a:srgbClr val="FFFFFF"/>
                </a:solidFill>
              </a:rPr>
              <a:t>✗  取得しない</a:t>
            </a:r>
          </a:p>
        </p:txBody>
      </p:sp>
      <p:sp>
        <p:nvSpPr>
          <p:cNvPr id="25" name="Rectangle 24"/>
          <p:cNvSpPr/>
          <p:nvPr/>
        </p:nvSpPr>
        <p:spPr>
          <a:xfrm>
            <a:off x="3886200" y="2395727"/>
            <a:ext cx="1783080" cy="274320"/>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59352" y="2432303"/>
            <a:ext cx="1691639" cy="228600"/>
          </a:xfrm>
          <a:prstGeom prst="rect">
            <a:avLst/>
          </a:prstGeom>
          <a:noFill/>
        </p:spPr>
        <p:txBody>
          <a:bodyPr wrap="square">
            <a:spAutoFit/>
          </a:bodyPr>
          <a:lstStyle/>
          <a:p>
            <a:pPr algn="l"/>
            <a:r>
              <a:rPr sz="950" b="0" i="0">
                <a:solidFill>
                  <a:srgbClr val="FFFFFF"/>
                </a:solidFill>
              </a:rPr>
              <a:t>✓  取得</a:t>
            </a:r>
          </a:p>
        </p:txBody>
      </p:sp>
      <p:sp>
        <p:nvSpPr>
          <p:cNvPr id="27" name="Rectangle 26"/>
          <p:cNvSpPr/>
          <p:nvPr/>
        </p:nvSpPr>
        <p:spPr>
          <a:xfrm>
            <a:off x="274320" y="2670047"/>
            <a:ext cx="1828800" cy="2743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7472" y="2706623"/>
            <a:ext cx="1737360" cy="228600"/>
          </a:xfrm>
          <a:prstGeom prst="rect">
            <a:avLst/>
          </a:prstGeom>
          <a:noFill/>
        </p:spPr>
        <p:txBody>
          <a:bodyPr wrap="square">
            <a:spAutoFit/>
          </a:bodyPr>
          <a:lstStyle/>
          <a:p>
            <a:pPr algn="l"/>
            <a:r>
              <a:rPr sz="950" b="0" i="0">
                <a:solidFill>
                  <a:srgbClr val="FFFFFF"/>
                </a:solidFill>
              </a:rPr>
              <a:t>Unknown</a:t>
            </a:r>
          </a:p>
        </p:txBody>
      </p:sp>
      <p:sp>
        <p:nvSpPr>
          <p:cNvPr id="29" name="Rectangle 28"/>
          <p:cNvSpPr/>
          <p:nvPr/>
        </p:nvSpPr>
        <p:spPr>
          <a:xfrm>
            <a:off x="2103120" y="2670047"/>
            <a:ext cx="1783080" cy="2743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176272" y="2706623"/>
            <a:ext cx="1691639" cy="228600"/>
          </a:xfrm>
          <a:prstGeom prst="rect">
            <a:avLst/>
          </a:prstGeom>
          <a:noFill/>
        </p:spPr>
        <p:txBody>
          <a:bodyPr wrap="square">
            <a:spAutoFit/>
          </a:bodyPr>
          <a:lstStyle/>
          <a:p>
            <a:pPr algn="l"/>
            <a:r>
              <a:rPr sz="950" b="0" i="0">
                <a:solidFill>
                  <a:srgbClr val="FFFFFF"/>
                </a:solidFill>
              </a:rPr>
              <a:t>✓  取得（trace_id必要）</a:t>
            </a:r>
          </a:p>
        </p:txBody>
      </p:sp>
      <p:sp>
        <p:nvSpPr>
          <p:cNvPr id="31" name="Rectangle 30"/>
          <p:cNvSpPr/>
          <p:nvPr/>
        </p:nvSpPr>
        <p:spPr>
          <a:xfrm>
            <a:off x="3886200" y="2670047"/>
            <a:ext cx="1783080" cy="2743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959352" y="2706623"/>
            <a:ext cx="1691639" cy="228600"/>
          </a:xfrm>
          <a:prstGeom prst="rect">
            <a:avLst/>
          </a:prstGeom>
          <a:noFill/>
        </p:spPr>
        <p:txBody>
          <a:bodyPr wrap="square">
            <a:spAutoFit/>
          </a:bodyPr>
          <a:lstStyle/>
          <a:p>
            <a:pPr algn="l"/>
            <a:r>
              <a:rPr sz="950" b="0" i="0">
                <a:solidFill>
                  <a:srgbClr val="FFFFFF"/>
                </a:solidFill>
              </a:rPr>
              <a:t>✓  取得</a:t>
            </a:r>
          </a:p>
        </p:txBody>
      </p:sp>
      <p:sp>
        <p:nvSpPr>
          <p:cNvPr id="33" name="TextBox 32"/>
          <p:cNvSpPr txBox="1"/>
          <p:nvPr/>
        </p:nvSpPr>
        <p:spPr>
          <a:xfrm>
            <a:off x="274320" y="2788920"/>
            <a:ext cx="5394960" cy="256032"/>
          </a:xfrm>
          <a:prstGeom prst="rect">
            <a:avLst/>
          </a:prstGeom>
          <a:noFill/>
        </p:spPr>
        <p:txBody>
          <a:bodyPr wrap="square">
            <a:spAutoFit/>
          </a:bodyPr>
          <a:lstStyle/>
          <a:p>
            <a:pPr algn="l"/>
            <a:r>
              <a:rPr sz="1000" b="1" i="0">
                <a:solidFill>
                  <a:srgbClr val="2E86AB"/>
                </a:solidFill>
              </a:rPr>
              <a:t>処理ステップ</a:t>
            </a:r>
          </a:p>
        </p:txBody>
      </p:sp>
      <p:sp>
        <p:nvSpPr>
          <p:cNvPr id="34" name="Rectangle 33"/>
          <p:cNvSpPr/>
          <p:nvPr/>
        </p:nvSpPr>
        <p:spPr>
          <a:xfrm>
            <a:off x="274320" y="3063240"/>
            <a:ext cx="292608" cy="25603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4320" y="3081528"/>
            <a:ext cx="292608" cy="219456"/>
          </a:xfrm>
          <a:prstGeom prst="rect">
            <a:avLst/>
          </a:prstGeom>
          <a:noFill/>
        </p:spPr>
        <p:txBody>
          <a:bodyPr wrap="square">
            <a:spAutoFit/>
          </a:bodyPr>
          <a:lstStyle/>
          <a:p>
            <a:pPr algn="ctr"/>
            <a:r>
              <a:rPr sz="950" b="1" i="0">
                <a:solidFill>
                  <a:srgbClr val="FFFFFF"/>
                </a:solidFill>
              </a:rPr>
              <a:t>1</a:t>
            </a:r>
          </a:p>
        </p:txBody>
      </p:sp>
      <p:sp>
        <p:nvSpPr>
          <p:cNvPr id="36" name="TextBox 35"/>
          <p:cNvSpPr txBox="1"/>
          <p:nvPr/>
        </p:nvSpPr>
        <p:spPr>
          <a:xfrm>
            <a:off x="612648" y="3081528"/>
            <a:ext cx="4937760" cy="237744"/>
          </a:xfrm>
          <a:prstGeom prst="rect">
            <a:avLst/>
          </a:prstGeom>
          <a:noFill/>
        </p:spPr>
        <p:txBody>
          <a:bodyPr wrap="square">
            <a:spAutoFit/>
          </a:bodyPr>
          <a:lstStyle/>
          <a:p>
            <a:pPr algn="l"/>
            <a:r>
              <a:rPr sz="950" b="0" i="0">
                <a:solidFill>
                  <a:srgbClr val="FFFFFF"/>
                </a:solidFill>
              </a:rPr>
              <a:t>CorrelationResultからanalysis_targetを読み取る</a:t>
            </a:r>
          </a:p>
        </p:txBody>
      </p:sp>
      <p:sp>
        <p:nvSpPr>
          <p:cNvPr id="37" name="Rectangle 36"/>
          <p:cNvSpPr/>
          <p:nvPr/>
        </p:nvSpPr>
        <p:spPr>
          <a:xfrm>
            <a:off x="274320" y="3364992"/>
            <a:ext cx="292608" cy="25603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4320" y="3383280"/>
            <a:ext cx="292608" cy="219456"/>
          </a:xfrm>
          <a:prstGeom prst="rect">
            <a:avLst/>
          </a:prstGeom>
          <a:noFill/>
        </p:spPr>
        <p:txBody>
          <a:bodyPr wrap="square">
            <a:spAutoFit/>
          </a:bodyPr>
          <a:lstStyle/>
          <a:p>
            <a:pPr algn="ctr"/>
            <a:r>
              <a:rPr sz="950" b="1" i="0">
                <a:solidFill>
                  <a:srgbClr val="FFFFFF"/>
                </a:solidFill>
              </a:rPr>
              <a:t>2</a:t>
            </a:r>
          </a:p>
        </p:txBody>
      </p:sp>
      <p:sp>
        <p:nvSpPr>
          <p:cNvPr id="39" name="TextBox 38"/>
          <p:cNvSpPr txBox="1"/>
          <p:nvPr/>
        </p:nvSpPr>
        <p:spPr>
          <a:xfrm>
            <a:off x="612648" y="3383280"/>
            <a:ext cx="4937760" cy="237744"/>
          </a:xfrm>
          <a:prstGeom prst="rect">
            <a:avLst/>
          </a:prstGeom>
          <a:noFill/>
        </p:spPr>
        <p:txBody>
          <a:bodyPr wrap="square">
            <a:spAutoFit/>
          </a:bodyPr>
          <a:lstStyle/>
          <a:p>
            <a:pPr algn="l"/>
            <a:r>
              <a:rPr sz="950" b="0" i="0">
                <a:solidFill>
                  <a:srgbClr val="FFFFFF"/>
                </a:solidFill>
              </a:rPr>
              <a:t>対象データソースのみを取得</a:t>
            </a:r>
          </a:p>
        </p:txBody>
      </p:sp>
      <p:sp>
        <p:nvSpPr>
          <p:cNvPr id="40" name="Rectangle 39"/>
          <p:cNvSpPr/>
          <p:nvPr/>
        </p:nvSpPr>
        <p:spPr>
          <a:xfrm>
            <a:off x="274320" y="3666744"/>
            <a:ext cx="292608" cy="25603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74320" y="3685031"/>
            <a:ext cx="292608" cy="219456"/>
          </a:xfrm>
          <a:prstGeom prst="rect">
            <a:avLst/>
          </a:prstGeom>
          <a:noFill/>
        </p:spPr>
        <p:txBody>
          <a:bodyPr wrap="square">
            <a:spAutoFit/>
          </a:bodyPr>
          <a:lstStyle/>
          <a:p>
            <a:pPr algn="ctr"/>
            <a:r>
              <a:rPr sz="950" b="1" i="0">
                <a:solidFill>
                  <a:srgbClr val="FFFFFF"/>
                </a:solidFill>
              </a:rPr>
              <a:t>3</a:t>
            </a:r>
          </a:p>
        </p:txBody>
      </p:sp>
      <p:sp>
        <p:nvSpPr>
          <p:cNvPr id="42" name="TextBox 41"/>
          <p:cNvSpPr txBox="1"/>
          <p:nvPr/>
        </p:nvSpPr>
        <p:spPr>
          <a:xfrm>
            <a:off x="612648" y="3685031"/>
            <a:ext cx="4937760" cy="237744"/>
          </a:xfrm>
          <a:prstGeom prst="rect">
            <a:avLst/>
          </a:prstGeom>
          <a:noFill/>
        </p:spPr>
        <p:txBody>
          <a:bodyPr wrap="square">
            <a:spAutoFit/>
          </a:bodyPr>
          <a:lstStyle/>
          <a:p>
            <a:pPr algn="l"/>
            <a:r>
              <a:rPr sz="950" b="0" i="0">
                <a:solidFill>
                  <a:srgbClr val="FFFFFF"/>
                </a:solidFill>
              </a:rPr>
              <a:t>全ログをマージして時系列ソート</a:t>
            </a:r>
          </a:p>
        </p:txBody>
      </p:sp>
      <p:sp>
        <p:nvSpPr>
          <p:cNvPr id="43" name="Rectangle 42"/>
          <p:cNvSpPr/>
          <p:nvPr/>
        </p:nvSpPr>
        <p:spPr>
          <a:xfrm>
            <a:off x="274320" y="3968496"/>
            <a:ext cx="292608" cy="25603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74320" y="3986783"/>
            <a:ext cx="292608" cy="219456"/>
          </a:xfrm>
          <a:prstGeom prst="rect">
            <a:avLst/>
          </a:prstGeom>
          <a:noFill/>
        </p:spPr>
        <p:txBody>
          <a:bodyPr wrap="square">
            <a:spAutoFit/>
          </a:bodyPr>
          <a:lstStyle/>
          <a:p>
            <a:pPr algn="ctr"/>
            <a:r>
              <a:rPr sz="950" b="1" i="0">
                <a:solidFill>
                  <a:srgbClr val="FFFFFF"/>
                </a:solidFill>
              </a:rPr>
              <a:t>4</a:t>
            </a:r>
          </a:p>
        </p:txBody>
      </p:sp>
      <p:sp>
        <p:nvSpPr>
          <p:cNvPr id="45" name="TextBox 44"/>
          <p:cNvSpPr txBox="1"/>
          <p:nvPr/>
        </p:nvSpPr>
        <p:spPr>
          <a:xfrm>
            <a:off x="612648" y="3986783"/>
            <a:ext cx="4937760" cy="237744"/>
          </a:xfrm>
          <a:prstGeom prst="rect">
            <a:avLst/>
          </a:prstGeom>
          <a:noFill/>
        </p:spPr>
        <p:txBody>
          <a:bodyPr wrap="square">
            <a:spAutoFit/>
          </a:bodyPr>
          <a:lstStyle/>
          <a:p>
            <a:pPr algn="l"/>
            <a:r>
              <a:rPr sz="950" b="0" i="0">
                <a:solidFill>
                  <a:srgbClr val="FFFFFF"/>
                </a:solidFill>
              </a:rPr>
              <a:t>プロンプト構築: 相関コンテキスト + 正規化データ + ログ</a:t>
            </a:r>
          </a:p>
        </p:txBody>
      </p:sp>
      <p:sp>
        <p:nvSpPr>
          <p:cNvPr id="46" name="Rectangle 45"/>
          <p:cNvSpPr/>
          <p:nvPr/>
        </p:nvSpPr>
        <p:spPr>
          <a:xfrm>
            <a:off x="274320" y="4270248"/>
            <a:ext cx="292608" cy="25603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74320" y="4288536"/>
            <a:ext cx="292608" cy="219456"/>
          </a:xfrm>
          <a:prstGeom prst="rect">
            <a:avLst/>
          </a:prstGeom>
          <a:noFill/>
        </p:spPr>
        <p:txBody>
          <a:bodyPr wrap="square">
            <a:spAutoFit/>
          </a:bodyPr>
          <a:lstStyle/>
          <a:p>
            <a:pPr algn="ctr"/>
            <a:r>
              <a:rPr sz="950" b="1" i="0">
                <a:solidFill>
                  <a:srgbClr val="FFFFFF"/>
                </a:solidFill>
              </a:rPr>
              <a:t>5</a:t>
            </a:r>
          </a:p>
        </p:txBody>
      </p:sp>
      <p:sp>
        <p:nvSpPr>
          <p:cNvPr id="48" name="TextBox 47"/>
          <p:cNvSpPr txBox="1"/>
          <p:nvPr/>
        </p:nvSpPr>
        <p:spPr>
          <a:xfrm>
            <a:off x="612648" y="4288536"/>
            <a:ext cx="4937760" cy="237744"/>
          </a:xfrm>
          <a:prstGeom prst="rect">
            <a:avLst/>
          </a:prstGeom>
          <a:noFill/>
        </p:spPr>
        <p:txBody>
          <a:bodyPr wrap="square">
            <a:spAutoFit/>
          </a:bodyPr>
          <a:lstStyle/>
          <a:p>
            <a:pPr algn="l"/>
            <a:r>
              <a:rPr sz="950" b="0" i="0">
                <a:solidFill>
                  <a:srgbClr val="FFFFFF"/>
                </a:solidFill>
              </a:rPr>
              <a:t>ErrorAnalysisResultスキーマでGPT-4o呼び出し</a:t>
            </a:r>
          </a:p>
        </p:txBody>
      </p:sp>
      <p:sp>
        <p:nvSpPr>
          <p:cNvPr id="49" name="Rectangle 48"/>
          <p:cNvSpPr/>
          <p:nvPr/>
        </p:nvSpPr>
        <p:spPr>
          <a:xfrm>
            <a:off x="274320" y="4572000"/>
            <a:ext cx="292608" cy="25603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74320" y="4590288"/>
            <a:ext cx="292608" cy="219456"/>
          </a:xfrm>
          <a:prstGeom prst="rect">
            <a:avLst/>
          </a:prstGeom>
          <a:noFill/>
        </p:spPr>
        <p:txBody>
          <a:bodyPr wrap="square">
            <a:spAutoFit/>
          </a:bodyPr>
          <a:lstStyle/>
          <a:p>
            <a:pPr algn="ctr"/>
            <a:r>
              <a:rPr sz="950" b="1" i="0">
                <a:solidFill>
                  <a:srgbClr val="FFFFFF"/>
                </a:solidFill>
              </a:rPr>
              <a:t>6</a:t>
            </a:r>
          </a:p>
        </p:txBody>
      </p:sp>
      <p:sp>
        <p:nvSpPr>
          <p:cNvPr id="51" name="TextBox 50"/>
          <p:cNvSpPr txBox="1"/>
          <p:nvPr/>
        </p:nvSpPr>
        <p:spPr>
          <a:xfrm>
            <a:off x="612648" y="4590288"/>
            <a:ext cx="4937760" cy="237744"/>
          </a:xfrm>
          <a:prstGeom prst="rect">
            <a:avLst/>
          </a:prstGeom>
          <a:noFill/>
        </p:spPr>
        <p:txBody>
          <a:bodyPr wrap="square">
            <a:spAutoFit/>
          </a:bodyPr>
          <a:lstStyle/>
          <a:p>
            <a:pPr algn="l"/>
            <a:r>
              <a:rPr sz="950" b="0" i="0">
                <a:solidFill>
                  <a:srgbClr val="FFFFFF"/>
                </a:solidFill>
              </a:rPr>
              <a:t>Pydanticバリデーション — エラー証拠の欠落を拒否</a:t>
            </a:r>
          </a:p>
        </p:txBody>
      </p:sp>
      <p:sp>
        <p:nvSpPr>
          <p:cNvPr id="52" name="Rectangle 51"/>
          <p:cNvSpPr/>
          <p:nvPr/>
        </p:nvSpPr>
        <p:spPr>
          <a:xfrm>
            <a:off x="274320" y="4873752"/>
            <a:ext cx="292608" cy="25603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4320" y="4892040"/>
            <a:ext cx="292608" cy="219456"/>
          </a:xfrm>
          <a:prstGeom prst="rect">
            <a:avLst/>
          </a:prstGeom>
          <a:noFill/>
        </p:spPr>
        <p:txBody>
          <a:bodyPr wrap="square">
            <a:spAutoFit/>
          </a:bodyPr>
          <a:lstStyle/>
          <a:p>
            <a:pPr algn="ctr"/>
            <a:r>
              <a:rPr sz="950" b="1" i="0">
                <a:solidFill>
                  <a:srgbClr val="FFFFFF"/>
                </a:solidFill>
              </a:rPr>
              <a:t>7</a:t>
            </a:r>
          </a:p>
        </p:txBody>
      </p:sp>
      <p:sp>
        <p:nvSpPr>
          <p:cNvPr id="54" name="TextBox 53"/>
          <p:cNvSpPr txBox="1"/>
          <p:nvPr/>
        </p:nvSpPr>
        <p:spPr>
          <a:xfrm>
            <a:off x="612648" y="4892040"/>
            <a:ext cx="4937760" cy="237744"/>
          </a:xfrm>
          <a:prstGeom prst="rect">
            <a:avLst/>
          </a:prstGeom>
          <a:noFill/>
        </p:spPr>
        <p:txBody>
          <a:bodyPr wrap="square">
            <a:spAutoFit/>
          </a:bodyPr>
          <a:lstStyle/>
          <a:p>
            <a:pPr algn="l"/>
            <a:r>
              <a:rPr sz="950" b="0" i="0">
                <a:solidFill>
                  <a:srgbClr val="FFFFFF"/>
                </a:solidFill>
              </a:rPr>
              <a:t>ErrorAnalysisResult + rca_target（パススルー）を返却</a:t>
            </a:r>
          </a:p>
        </p:txBody>
      </p:sp>
      <p:sp>
        <p:nvSpPr>
          <p:cNvPr id="55" name="TextBox 54"/>
          <p:cNvSpPr txBox="1"/>
          <p:nvPr/>
        </p:nvSpPr>
        <p:spPr>
          <a:xfrm>
            <a:off x="6126480" y="1554480"/>
            <a:ext cx="5760720" cy="256032"/>
          </a:xfrm>
          <a:prstGeom prst="rect">
            <a:avLst/>
          </a:prstGeom>
          <a:noFill/>
        </p:spPr>
        <p:txBody>
          <a:bodyPr wrap="square">
            <a:spAutoFit/>
          </a:bodyPr>
          <a:lstStyle/>
          <a:p>
            <a:pPr algn="l"/>
            <a:r>
              <a:rPr sz="1000" b="1" i="0">
                <a:solidFill>
                  <a:srgbClr val="2E86AB"/>
                </a:solidFill>
              </a:rPr>
              <a:t>出力: ErrorAnalysisResult</a:t>
            </a:r>
          </a:p>
        </p:txBody>
      </p:sp>
      <p:sp>
        <p:nvSpPr>
          <p:cNvPr id="56" name="Rectangle 55"/>
          <p:cNvSpPr/>
          <p:nvPr/>
        </p:nvSpPr>
        <p:spPr>
          <a:xfrm>
            <a:off x="6126480" y="1847088"/>
            <a:ext cx="5760720" cy="256032"/>
          </a:xfrm>
          <a:prstGeom prst="rect">
            <a:avLst/>
          </a:prstGeom>
          <a:solidFill>
            <a:srgbClr val="1A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263640" y="1874519"/>
            <a:ext cx="5577840" cy="201168"/>
          </a:xfrm>
          <a:prstGeom prst="rect">
            <a:avLst/>
          </a:prstGeom>
          <a:noFill/>
        </p:spPr>
        <p:txBody>
          <a:bodyPr wrap="square">
            <a:spAutoFit/>
          </a:bodyPr>
          <a:lstStyle/>
          <a:p>
            <a:pPr algn="l"/>
            <a:r>
              <a:rPr sz="900" b="1" i="0">
                <a:solidFill>
                  <a:srgbClr val="CCD6E0"/>
                </a:solidFill>
              </a:rPr>
              <a:t>トップレベルフィールド</a:t>
            </a:r>
          </a:p>
        </p:txBody>
      </p:sp>
      <p:sp>
        <p:nvSpPr>
          <p:cNvPr id="58" name="Rectangle 57"/>
          <p:cNvSpPr/>
          <p:nvPr/>
        </p:nvSpPr>
        <p:spPr>
          <a:xfrm>
            <a:off x="6126480" y="2103120"/>
            <a:ext cx="5760720" cy="2743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263640" y="2139696"/>
            <a:ext cx="2286000" cy="201168"/>
          </a:xfrm>
          <a:prstGeom prst="rect">
            <a:avLst/>
          </a:prstGeom>
          <a:noFill/>
        </p:spPr>
        <p:txBody>
          <a:bodyPr wrap="square">
            <a:spAutoFit/>
          </a:bodyPr>
          <a:lstStyle/>
          <a:p>
            <a:pPr algn="l"/>
            <a:r>
              <a:rPr sz="950" b="1" i="0">
                <a:solidFill>
                  <a:srgbClr val="F39C12"/>
                </a:solidFill>
              </a:rPr>
              <a:t>analysis_summary</a:t>
            </a:r>
          </a:p>
        </p:txBody>
      </p:sp>
      <p:sp>
        <p:nvSpPr>
          <p:cNvPr id="60" name="TextBox 59"/>
          <p:cNvSpPr txBox="1"/>
          <p:nvPr/>
        </p:nvSpPr>
        <p:spPr>
          <a:xfrm>
            <a:off x="8595360" y="2139696"/>
            <a:ext cx="3200400" cy="201168"/>
          </a:xfrm>
          <a:prstGeom prst="rect">
            <a:avLst/>
          </a:prstGeom>
          <a:noFill/>
        </p:spPr>
        <p:txBody>
          <a:bodyPr wrap="square">
            <a:spAutoFit/>
          </a:bodyPr>
          <a:lstStyle/>
          <a:p>
            <a:pPr algn="l"/>
            <a:r>
              <a:rPr sz="950" b="0" i="0">
                <a:solidFill>
                  <a:srgbClr val="FFFFFF"/>
                </a:solidFill>
              </a:rPr>
              <a:t>str（最大500文字）</a:t>
            </a:r>
          </a:p>
        </p:txBody>
      </p:sp>
      <p:sp>
        <p:nvSpPr>
          <p:cNvPr id="61" name="Rectangle 60"/>
          <p:cNvSpPr/>
          <p:nvPr/>
        </p:nvSpPr>
        <p:spPr>
          <a:xfrm>
            <a:off x="6126480" y="2395727"/>
            <a:ext cx="5760720" cy="2743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263640" y="2432303"/>
            <a:ext cx="2286000" cy="201168"/>
          </a:xfrm>
          <a:prstGeom prst="rect">
            <a:avLst/>
          </a:prstGeom>
          <a:noFill/>
        </p:spPr>
        <p:txBody>
          <a:bodyPr wrap="square">
            <a:spAutoFit/>
          </a:bodyPr>
          <a:lstStyle/>
          <a:p>
            <a:pPr algn="l"/>
            <a:r>
              <a:rPr sz="950" b="1" i="0">
                <a:solidFill>
                  <a:srgbClr val="F39C12"/>
                </a:solidFill>
              </a:rPr>
              <a:t>analysis_target</a:t>
            </a:r>
          </a:p>
        </p:txBody>
      </p:sp>
      <p:sp>
        <p:nvSpPr>
          <p:cNvPr id="63" name="TextBox 62"/>
          <p:cNvSpPr txBox="1"/>
          <p:nvPr/>
        </p:nvSpPr>
        <p:spPr>
          <a:xfrm>
            <a:off x="8595360" y="2432303"/>
            <a:ext cx="3200400" cy="201168"/>
          </a:xfrm>
          <a:prstGeom prst="rect">
            <a:avLst/>
          </a:prstGeom>
          <a:noFill/>
        </p:spPr>
        <p:txBody>
          <a:bodyPr wrap="square">
            <a:spAutoFit/>
          </a:bodyPr>
          <a:lstStyle/>
          <a:p>
            <a:pPr algn="l"/>
            <a:r>
              <a:rPr sz="950" b="0" i="0">
                <a:solidFill>
                  <a:srgbClr val="FFFFFF"/>
                </a:solidFill>
              </a:rPr>
              <a:t>Agent | InfraLogs | Unknown</a:t>
            </a:r>
          </a:p>
        </p:txBody>
      </p:sp>
      <p:sp>
        <p:nvSpPr>
          <p:cNvPr id="64" name="Rectangle 63"/>
          <p:cNvSpPr/>
          <p:nvPr/>
        </p:nvSpPr>
        <p:spPr>
          <a:xfrm>
            <a:off x="6126480" y="2688335"/>
            <a:ext cx="5760720" cy="2743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263640" y="2724911"/>
            <a:ext cx="2286000" cy="201168"/>
          </a:xfrm>
          <a:prstGeom prst="rect">
            <a:avLst/>
          </a:prstGeom>
          <a:noFill/>
        </p:spPr>
        <p:txBody>
          <a:bodyPr wrap="square">
            <a:spAutoFit/>
          </a:bodyPr>
          <a:lstStyle/>
          <a:p>
            <a:pPr algn="l"/>
            <a:r>
              <a:rPr sz="950" b="1" i="0">
                <a:solidFill>
                  <a:srgbClr val="F39C12"/>
                </a:solidFill>
              </a:rPr>
              <a:t>errors</a:t>
            </a:r>
          </a:p>
        </p:txBody>
      </p:sp>
      <p:sp>
        <p:nvSpPr>
          <p:cNvPr id="66" name="TextBox 65"/>
          <p:cNvSpPr txBox="1"/>
          <p:nvPr/>
        </p:nvSpPr>
        <p:spPr>
          <a:xfrm>
            <a:off x="8595360" y="2724911"/>
            <a:ext cx="3200400" cy="201168"/>
          </a:xfrm>
          <a:prstGeom prst="rect">
            <a:avLst/>
          </a:prstGeom>
          <a:noFill/>
        </p:spPr>
        <p:txBody>
          <a:bodyPr wrap="square">
            <a:spAutoFit/>
          </a:bodyPr>
          <a:lstStyle/>
          <a:p>
            <a:pPr algn="l"/>
            <a:r>
              <a:rPr sz="950" b="0" i="0">
                <a:solidFill>
                  <a:srgbClr val="FFFFFF"/>
                </a:solidFill>
              </a:rPr>
              <a:t>list[ErrorDetail]  — 最低1件必須</a:t>
            </a:r>
          </a:p>
        </p:txBody>
      </p:sp>
      <p:sp>
        <p:nvSpPr>
          <p:cNvPr id="67" name="Rectangle 66"/>
          <p:cNvSpPr/>
          <p:nvPr/>
        </p:nvSpPr>
        <p:spPr>
          <a:xfrm>
            <a:off x="6126480" y="2980943"/>
            <a:ext cx="5760720" cy="2743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263640" y="3017519"/>
            <a:ext cx="2286000" cy="201168"/>
          </a:xfrm>
          <a:prstGeom prst="rect">
            <a:avLst/>
          </a:prstGeom>
          <a:noFill/>
        </p:spPr>
        <p:txBody>
          <a:bodyPr wrap="square">
            <a:spAutoFit/>
          </a:bodyPr>
          <a:lstStyle/>
          <a:p>
            <a:pPr algn="l"/>
            <a:r>
              <a:rPr sz="950" b="1" i="0">
                <a:solidFill>
                  <a:srgbClr val="F39C12"/>
                </a:solidFill>
              </a:rPr>
              <a:t>error_patterns</a:t>
            </a:r>
          </a:p>
        </p:txBody>
      </p:sp>
      <p:sp>
        <p:nvSpPr>
          <p:cNvPr id="69" name="TextBox 68"/>
          <p:cNvSpPr txBox="1"/>
          <p:nvPr/>
        </p:nvSpPr>
        <p:spPr>
          <a:xfrm>
            <a:off x="8595360" y="3017519"/>
            <a:ext cx="3200400" cy="201168"/>
          </a:xfrm>
          <a:prstGeom prst="rect">
            <a:avLst/>
          </a:prstGeom>
          <a:noFill/>
        </p:spPr>
        <p:txBody>
          <a:bodyPr wrap="square">
            <a:spAutoFit/>
          </a:bodyPr>
          <a:lstStyle/>
          <a:p>
            <a:pPr algn="l"/>
            <a:r>
              <a:rPr sz="950" b="0" i="0">
                <a:solidFill>
                  <a:srgbClr val="FFFFFF"/>
                </a:solidFill>
              </a:rPr>
              <a:t>list[ErrorPattern]  — 2件以上の発生が必要</a:t>
            </a:r>
          </a:p>
        </p:txBody>
      </p:sp>
      <p:sp>
        <p:nvSpPr>
          <p:cNvPr id="70" name="Rectangle 69"/>
          <p:cNvSpPr/>
          <p:nvPr/>
        </p:nvSpPr>
        <p:spPr>
          <a:xfrm>
            <a:off x="6126480" y="3273551"/>
            <a:ext cx="5760720" cy="2743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263640" y="3310127"/>
            <a:ext cx="2286000" cy="201168"/>
          </a:xfrm>
          <a:prstGeom prst="rect">
            <a:avLst/>
          </a:prstGeom>
          <a:noFill/>
        </p:spPr>
        <p:txBody>
          <a:bodyPr wrap="square">
            <a:spAutoFit/>
          </a:bodyPr>
          <a:lstStyle/>
          <a:p>
            <a:pPr algn="l"/>
            <a:r>
              <a:rPr sz="950" b="1" i="0">
                <a:solidFill>
                  <a:srgbClr val="F39C12"/>
                </a:solidFill>
              </a:rPr>
              <a:t>error_impacts</a:t>
            </a:r>
          </a:p>
        </p:txBody>
      </p:sp>
      <p:sp>
        <p:nvSpPr>
          <p:cNvPr id="72" name="TextBox 71"/>
          <p:cNvSpPr txBox="1"/>
          <p:nvPr/>
        </p:nvSpPr>
        <p:spPr>
          <a:xfrm>
            <a:off x="8595360" y="3310127"/>
            <a:ext cx="3200400" cy="201168"/>
          </a:xfrm>
          <a:prstGeom prst="rect">
            <a:avLst/>
          </a:prstGeom>
          <a:noFill/>
        </p:spPr>
        <p:txBody>
          <a:bodyPr wrap="square">
            <a:spAutoFit/>
          </a:bodyPr>
          <a:lstStyle/>
          <a:p>
            <a:pPr algn="l"/>
            <a:r>
              <a:rPr sz="950" b="0" i="0">
                <a:solidFill>
                  <a:srgbClr val="FFFFFF"/>
                </a:solidFill>
              </a:rPr>
              <a:t>list[ErrorImpact]  — コンポーネント毎の影響評価</a:t>
            </a:r>
          </a:p>
        </p:txBody>
      </p:sp>
      <p:sp>
        <p:nvSpPr>
          <p:cNvPr id="73" name="Rectangle 72"/>
          <p:cNvSpPr/>
          <p:nvPr/>
        </p:nvSpPr>
        <p:spPr>
          <a:xfrm>
            <a:off x="6126480" y="3566159"/>
            <a:ext cx="5760720" cy="2743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263640" y="3602735"/>
            <a:ext cx="2286000" cy="201168"/>
          </a:xfrm>
          <a:prstGeom prst="rect">
            <a:avLst/>
          </a:prstGeom>
          <a:noFill/>
        </p:spPr>
        <p:txBody>
          <a:bodyPr wrap="square">
            <a:spAutoFit/>
          </a:bodyPr>
          <a:lstStyle/>
          <a:p>
            <a:pPr algn="l"/>
            <a:r>
              <a:rPr sz="950" b="1" i="0">
                <a:solidFill>
                  <a:srgbClr val="F39C12"/>
                </a:solidFill>
              </a:rPr>
              <a:t>error_propagation_path</a:t>
            </a:r>
          </a:p>
        </p:txBody>
      </p:sp>
      <p:sp>
        <p:nvSpPr>
          <p:cNvPr id="75" name="TextBox 74"/>
          <p:cNvSpPr txBox="1"/>
          <p:nvPr/>
        </p:nvSpPr>
        <p:spPr>
          <a:xfrm>
            <a:off x="8595360" y="3602735"/>
            <a:ext cx="3200400" cy="201168"/>
          </a:xfrm>
          <a:prstGeom prst="rect">
            <a:avLst/>
          </a:prstGeom>
          <a:noFill/>
        </p:spPr>
        <p:txBody>
          <a:bodyPr wrap="square">
            <a:spAutoFit/>
          </a:bodyPr>
          <a:lstStyle/>
          <a:p>
            <a:pPr algn="l"/>
            <a:r>
              <a:rPr sz="950" b="0" i="0">
                <a:solidFill>
                  <a:srgbClr val="FFFFFF"/>
                </a:solidFill>
              </a:rPr>
              <a:t>list[str]  — 時系列順の伝播経路</a:t>
            </a:r>
          </a:p>
        </p:txBody>
      </p:sp>
      <p:sp>
        <p:nvSpPr>
          <p:cNvPr id="76" name="Rectangle 75"/>
          <p:cNvSpPr/>
          <p:nvPr/>
        </p:nvSpPr>
        <p:spPr>
          <a:xfrm>
            <a:off x="6126480" y="3858767"/>
            <a:ext cx="5760720" cy="2743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263640" y="3895343"/>
            <a:ext cx="2286000" cy="201168"/>
          </a:xfrm>
          <a:prstGeom prst="rect">
            <a:avLst/>
          </a:prstGeom>
          <a:noFill/>
        </p:spPr>
        <p:txBody>
          <a:bodyPr wrap="square">
            <a:spAutoFit/>
          </a:bodyPr>
          <a:lstStyle/>
          <a:p>
            <a:pPr algn="l"/>
            <a:r>
              <a:rPr sz="950" b="1" i="0">
                <a:solidFill>
                  <a:srgbClr val="F39C12"/>
                </a:solidFill>
              </a:rPr>
              <a:t>confidence</a:t>
            </a:r>
          </a:p>
        </p:txBody>
      </p:sp>
      <p:sp>
        <p:nvSpPr>
          <p:cNvPr id="78" name="TextBox 77"/>
          <p:cNvSpPr txBox="1"/>
          <p:nvPr/>
        </p:nvSpPr>
        <p:spPr>
          <a:xfrm>
            <a:off x="8595360" y="3895343"/>
            <a:ext cx="3200400" cy="201168"/>
          </a:xfrm>
          <a:prstGeom prst="rect">
            <a:avLst/>
          </a:prstGeom>
          <a:noFill/>
        </p:spPr>
        <p:txBody>
          <a:bodyPr wrap="square">
            <a:spAutoFit/>
          </a:bodyPr>
          <a:lstStyle/>
          <a:p>
            <a:pPr algn="l"/>
            <a:r>
              <a:rPr sz="950" b="0" i="0">
                <a:solidFill>
                  <a:srgbClr val="FFFFFF"/>
                </a:solidFill>
              </a:rPr>
              <a:t>float  0.0 – 1.0</a:t>
            </a:r>
          </a:p>
        </p:txBody>
      </p:sp>
      <p:sp>
        <p:nvSpPr>
          <p:cNvPr id="79" name="TextBox 78"/>
          <p:cNvSpPr txBox="1"/>
          <p:nvPr/>
        </p:nvSpPr>
        <p:spPr>
          <a:xfrm>
            <a:off x="6126480" y="4160520"/>
            <a:ext cx="5760720" cy="256032"/>
          </a:xfrm>
          <a:prstGeom prst="rect">
            <a:avLst/>
          </a:prstGeom>
          <a:noFill/>
        </p:spPr>
        <p:txBody>
          <a:bodyPr wrap="square">
            <a:spAutoFit/>
          </a:bodyPr>
          <a:lstStyle/>
          <a:p>
            <a:pPr algn="l"/>
            <a:r>
              <a:rPr sz="1000" b="1" i="0">
                <a:solidFill>
                  <a:srgbClr val="2E86AB"/>
                </a:solidFill>
              </a:rPr>
              <a:t>ErrorDetailスキーマ（エラー単位）</a:t>
            </a:r>
          </a:p>
        </p:txBody>
      </p:sp>
      <p:sp>
        <p:nvSpPr>
          <p:cNvPr id="80" name="Rectangle 79"/>
          <p:cNvSpPr/>
          <p:nvPr/>
        </p:nvSpPr>
        <p:spPr>
          <a:xfrm>
            <a:off x="6126480" y="4434840"/>
            <a:ext cx="5760720" cy="1691640"/>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263640" y="4480560"/>
            <a:ext cx="1463040" cy="219456"/>
          </a:xfrm>
          <a:prstGeom prst="rect">
            <a:avLst/>
          </a:prstGeom>
          <a:noFill/>
        </p:spPr>
        <p:txBody>
          <a:bodyPr wrap="square">
            <a:spAutoFit/>
          </a:bodyPr>
          <a:lstStyle/>
          <a:p>
            <a:pPr algn="l"/>
            <a:r>
              <a:rPr sz="900" b="1" i="0">
                <a:solidFill>
                  <a:srgbClr val="F39C12"/>
                </a:solidFill>
              </a:rPr>
              <a:t>error_id</a:t>
            </a:r>
          </a:p>
        </p:txBody>
      </p:sp>
      <p:sp>
        <p:nvSpPr>
          <p:cNvPr id="82" name="TextBox 81"/>
          <p:cNvSpPr txBox="1"/>
          <p:nvPr/>
        </p:nvSpPr>
        <p:spPr>
          <a:xfrm>
            <a:off x="7772400" y="4480560"/>
            <a:ext cx="4023360" cy="219456"/>
          </a:xfrm>
          <a:prstGeom prst="rect">
            <a:avLst/>
          </a:prstGeom>
          <a:noFill/>
        </p:spPr>
        <p:txBody>
          <a:bodyPr wrap="square">
            <a:spAutoFit/>
          </a:bodyPr>
          <a:lstStyle/>
          <a:p>
            <a:pPr algn="l"/>
            <a:r>
              <a:rPr sz="900" b="0" i="0">
                <a:solidFill>
                  <a:srgbClr val="FFFFFF"/>
                </a:solidFill>
              </a:rPr>
              <a:t>"ERR-001"、"ERR-002" ...  ← ユニークな連番ID</a:t>
            </a:r>
          </a:p>
        </p:txBody>
      </p:sp>
      <p:sp>
        <p:nvSpPr>
          <p:cNvPr id="83" name="TextBox 82"/>
          <p:cNvSpPr txBox="1"/>
          <p:nvPr/>
        </p:nvSpPr>
        <p:spPr>
          <a:xfrm>
            <a:off x="6263640" y="4718304"/>
            <a:ext cx="1463040" cy="219456"/>
          </a:xfrm>
          <a:prstGeom prst="rect">
            <a:avLst/>
          </a:prstGeom>
          <a:noFill/>
        </p:spPr>
        <p:txBody>
          <a:bodyPr wrap="square">
            <a:spAutoFit/>
          </a:bodyPr>
          <a:lstStyle/>
          <a:p>
            <a:pPr algn="l"/>
            <a:r>
              <a:rPr sz="900" b="1" i="0">
                <a:solidFill>
                  <a:srgbClr val="F39C12"/>
                </a:solidFill>
              </a:rPr>
              <a:t>category</a:t>
            </a:r>
          </a:p>
        </p:txBody>
      </p:sp>
      <p:sp>
        <p:nvSpPr>
          <p:cNvPr id="84" name="TextBox 83"/>
          <p:cNvSpPr txBox="1"/>
          <p:nvPr/>
        </p:nvSpPr>
        <p:spPr>
          <a:xfrm>
            <a:off x="7772400" y="4718304"/>
            <a:ext cx="4023360" cy="219456"/>
          </a:xfrm>
          <a:prstGeom prst="rect">
            <a:avLst/>
          </a:prstGeom>
          <a:noFill/>
        </p:spPr>
        <p:txBody>
          <a:bodyPr wrap="square">
            <a:spAutoFit/>
          </a:bodyPr>
          <a:lstStyle/>
          <a:p>
            <a:pPr algn="l"/>
            <a:r>
              <a:rPr sz="900" b="0" i="0">
                <a:solidFill>
                  <a:srgbClr val="FFFFFF"/>
                </a:solidFill>
              </a:rPr>
              <a:t>llm_failure | timeout | dns_failure | configuration_error | ...</a:t>
            </a:r>
          </a:p>
        </p:txBody>
      </p:sp>
      <p:sp>
        <p:nvSpPr>
          <p:cNvPr id="85" name="TextBox 84"/>
          <p:cNvSpPr txBox="1"/>
          <p:nvPr/>
        </p:nvSpPr>
        <p:spPr>
          <a:xfrm>
            <a:off x="6263640" y="4956048"/>
            <a:ext cx="1463040" cy="219456"/>
          </a:xfrm>
          <a:prstGeom prst="rect">
            <a:avLst/>
          </a:prstGeom>
          <a:noFill/>
        </p:spPr>
        <p:txBody>
          <a:bodyPr wrap="square">
            <a:spAutoFit/>
          </a:bodyPr>
          <a:lstStyle/>
          <a:p>
            <a:pPr algn="l"/>
            <a:r>
              <a:rPr sz="900" b="1" i="0">
                <a:solidFill>
                  <a:srgbClr val="F39C12"/>
                </a:solidFill>
              </a:rPr>
              <a:t>severity</a:t>
            </a:r>
          </a:p>
        </p:txBody>
      </p:sp>
      <p:sp>
        <p:nvSpPr>
          <p:cNvPr id="86" name="TextBox 85"/>
          <p:cNvSpPr txBox="1"/>
          <p:nvPr/>
        </p:nvSpPr>
        <p:spPr>
          <a:xfrm>
            <a:off x="7772400" y="4956048"/>
            <a:ext cx="4023360" cy="219456"/>
          </a:xfrm>
          <a:prstGeom prst="rect">
            <a:avLst/>
          </a:prstGeom>
          <a:noFill/>
        </p:spPr>
        <p:txBody>
          <a:bodyPr wrap="square">
            <a:spAutoFit/>
          </a:bodyPr>
          <a:lstStyle/>
          <a:p>
            <a:pPr algn="l"/>
            <a:r>
              <a:rPr sz="900" b="0" i="0">
                <a:solidFill>
                  <a:srgbClr val="FFFFFF"/>
                </a:solidFill>
              </a:rPr>
              <a:t>critical | high | medium | low | info</a:t>
            </a:r>
          </a:p>
        </p:txBody>
      </p:sp>
      <p:sp>
        <p:nvSpPr>
          <p:cNvPr id="87" name="TextBox 86"/>
          <p:cNvSpPr txBox="1"/>
          <p:nvPr/>
        </p:nvSpPr>
        <p:spPr>
          <a:xfrm>
            <a:off x="6263640" y="5193792"/>
            <a:ext cx="1463040" cy="219456"/>
          </a:xfrm>
          <a:prstGeom prst="rect">
            <a:avLst/>
          </a:prstGeom>
          <a:noFill/>
        </p:spPr>
        <p:txBody>
          <a:bodyPr wrap="square">
            <a:spAutoFit/>
          </a:bodyPr>
          <a:lstStyle/>
          <a:p>
            <a:pPr algn="l"/>
            <a:r>
              <a:rPr sz="900" b="1" i="0">
                <a:solidFill>
                  <a:srgbClr val="F39C12"/>
                </a:solidFill>
              </a:rPr>
              <a:t>component</a:t>
            </a:r>
          </a:p>
        </p:txBody>
      </p:sp>
      <p:sp>
        <p:nvSpPr>
          <p:cNvPr id="88" name="TextBox 87"/>
          <p:cNvSpPr txBox="1"/>
          <p:nvPr/>
        </p:nvSpPr>
        <p:spPr>
          <a:xfrm>
            <a:off x="7772400" y="5193792"/>
            <a:ext cx="4023360" cy="219456"/>
          </a:xfrm>
          <a:prstGeom prst="rect">
            <a:avLst/>
          </a:prstGeom>
          <a:noFill/>
        </p:spPr>
        <p:txBody>
          <a:bodyPr wrap="square">
            <a:spAutoFit/>
          </a:bodyPr>
          <a:lstStyle/>
          <a:p>
            <a:pPr algn="l"/>
            <a:r>
              <a:rPr sz="900" b="0" i="0">
                <a:solidFill>
                  <a:srgbClr val="FFFFFF"/>
                </a:solidFill>
              </a:rPr>
              <a:t>ログから抽出した正確なサービス/コンポーネント名</a:t>
            </a:r>
          </a:p>
        </p:txBody>
      </p:sp>
      <p:sp>
        <p:nvSpPr>
          <p:cNvPr id="89" name="TextBox 88"/>
          <p:cNvSpPr txBox="1"/>
          <p:nvPr/>
        </p:nvSpPr>
        <p:spPr>
          <a:xfrm>
            <a:off x="6263640" y="5431536"/>
            <a:ext cx="1463040" cy="219456"/>
          </a:xfrm>
          <a:prstGeom prst="rect">
            <a:avLst/>
          </a:prstGeom>
          <a:noFill/>
        </p:spPr>
        <p:txBody>
          <a:bodyPr wrap="square">
            <a:spAutoFit/>
          </a:bodyPr>
          <a:lstStyle/>
          <a:p>
            <a:pPr algn="l"/>
            <a:r>
              <a:rPr sz="900" b="1" i="0">
                <a:solidFill>
                  <a:srgbClr val="F39C12"/>
                </a:solidFill>
              </a:rPr>
              <a:t>error_message</a:t>
            </a:r>
          </a:p>
        </p:txBody>
      </p:sp>
      <p:sp>
        <p:nvSpPr>
          <p:cNvPr id="90" name="TextBox 89"/>
          <p:cNvSpPr txBox="1"/>
          <p:nvPr/>
        </p:nvSpPr>
        <p:spPr>
          <a:xfrm>
            <a:off x="7772400" y="5431536"/>
            <a:ext cx="4023360" cy="219456"/>
          </a:xfrm>
          <a:prstGeom prst="rect">
            <a:avLst/>
          </a:prstGeom>
          <a:noFill/>
        </p:spPr>
        <p:txBody>
          <a:bodyPr wrap="square">
            <a:spAutoFit/>
          </a:bodyPr>
          <a:lstStyle/>
          <a:p>
            <a:pPr algn="l"/>
            <a:r>
              <a:rPr sz="900" b="0" i="0">
                <a:solidFill>
                  <a:srgbClr val="FFFFFF"/>
                </a:solidFill>
              </a:rPr>
              <a:t>ログから抽出した正確なエラーテキスト</a:t>
            </a:r>
          </a:p>
        </p:txBody>
      </p:sp>
      <p:sp>
        <p:nvSpPr>
          <p:cNvPr id="91" name="TextBox 90"/>
          <p:cNvSpPr txBox="1"/>
          <p:nvPr/>
        </p:nvSpPr>
        <p:spPr>
          <a:xfrm>
            <a:off x="6263640" y="5669279"/>
            <a:ext cx="1463040" cy="219456"/>
          </a:xfrm>
          <a:prstGeom prst="rect">
            <a:avLst/>
          </a:prstGeom>
          <a:noFill/>
        </p:spPr>
        <p:txBody>
          <a:bodyPr wrap="square">
            <a:spAutoFit/>
          </a:bodyPr>
          <a:lstStyle/>
          <a:p>
            <a:pPr algn="l"/>
            <a:r>
              <a:rPr sz="900" b="1" i="0">
                <a:solidFill>
                  <a:srgbClr val="F39C12"/>
                </a:solidFill>
              </a:rPr>
              <a:t>evidence</a:t>
            </a:r>
          </a:p>
        </p:txBody>
      </p:sp>
      <p:sp>
        <p:nvSpPr>
          <p:cNvPr id="92" name="TextBox 91"/>
          <p:cNvSpPr txBox="1"/>
          <p:nvPr/>
        </p:nvSpPr>
        <p:spPr>
          <a:xfrm>
            <a:off x="7772400" y="5669279"/>
            <a:ext cx="4023360" cy="219456"/>
          </a:xfrm>
          <a:prstGeom prst="rect">
            <a:avLst/>
          </a:prstGeom>
          <a:noFill/>
        </p:spPr>
        <p:txBody>
          <a:bodyPr wrap="square">
            <a:spAutoFit/>
          </a:bodyPr>
          <a:lstStyle/>
          <a:p>
            <a:pPr algn="l"/>
            <a:r>
              <a:rPr sz="900" b="0" i="0">
                <a:solidFill>
                  <a:srgbClr val="FFFFFF"/>
                </a:solidFill>
              </a:rPr>
              <a:t>このエラーの存在を証明する生ログ行</a:t>
            </a:r>
          </a:p>
        </p:txBody>
      </p:sp>
      <p:sp>
        <p:nvSpPr>
          <p:cNvPr id="93" name="TextBox 92"/>
          <p:cNvSpPr txBox="1"/>
          <p:nvPr/>
        </p:nvSpPr>
        <p:spPr>
          <a:xfrm>
            <a:off x="6263640" y="5907023"/>
            <a:ext cx="1463040" cy="219456"/>
          </a:xfrm>
          <a:prstGeom prst="rect">
            <a:avLst/>
          </a:prstGeom>
          <a:noFill/>
        </p:spPr>
        <p:txBody>
          <a:bodyPr wrap="square">
            <a:spAutoFit/>
          </a:bodyPr>
          <a:lstStyle/>
          <a:p>
            <a:pPr algn="l"/>
            <a:r>
              <a:rPr sz="900" b="1" i="0">
                <a:solidFill>
                  <a:srgbClr val="F39C12"/>
                </a:solidFill>
              </a:rPr>
              <a:t>source</a:t>
            </a:r>
          </a:p>
        </p:txBody>
      </p:sp>
      <p:sp>
        <p:nvSpPr>
          <p:cNvPr id="94" name="TextBox 93"/>
          <p:cNvSpPr txBox="1"/>
          <p:nvPr/>
        </p:nvSpPr>
        <p:spPr>
          <a:xfrm>
            <a:off x="7772400" y="5907023"/>
            <a:ext cx="4023360" cy="219456"/>
          </a:xfrm>
          <a:prstGeom prst="rect">
            <a:avLst/>
          </a:prstGeom>
          <a:noFill/>
        </p:spPr>
        <p:txBody>
          <a:bodyPr wrap="square">
            <a:spAutoFit/>
          </a:bodyPr>
          <a:lstStyle/>
          <a:p>
            <a:pPr algn="l"/>
            <a:r>
              <a:rPr sz="900" b="0" i="0">
                <a:solidFill>
                  <a:srgbClr val="FFFFFF"/>
                </a:solidFill>
              </a:rPr>
              <a:t>langfuse | prometheus</a:t>
            </a:r>
          </a:p>
        </p:txBody>
      </p:sp>
      <p:sp>
        <p:nvSpPr>
          <p:cNvPr id="95" name="Rectangle 94"/>
          <p:cNvSpPr/>
          <p:nvPr/>
        </p:nvSpPr>
        <p:spPr>
          <a:xfrm>
            <a:off x="6126480" y="6172200"/>
            <a:ext cx="5760720" cy="4114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263640" y="6217920"/>
            <a:ext cx="5577840" cy="320040"/>
          </a:xfrm>
          <a:prstGeom prst="rect">
            <a:avLst/>
          </a:prstGeom>
          <a:noFill/>
        </p:spPr>
        <p:txBody>
          <a:bodyPr wrap="square">
            <a:spAutoFit/>
          </a:bodyPr>
          <a:lstStyle/>
          <a:p>
            <a:pPr algn="l"/>
            <a:r>
              <a:rPr sz="900" b="1" i="0">
                <a:solidFill>
                  <a:srgbClr val="0D1B2A"/>
                </a:solidFill>
              </a:rPr>
              <a:t>error_idクロス参照: RCAは特定エラーをIDで参照。推奨エージェントも各ソリューションで特定エラーをIDで参照。</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685800"/>
          </a:xfrm>
          <a:prstGeom prst="rect">
            <a:avLst/>
          </a:prstGeom>
          <a:solidFill>
            <a:srgbClr val="1A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502920"/>
          </a:xfrm>
          <a:prstGeom prst="rect">
            <a:avLst/>
          </a:prstGeom>
          <a:noFill/>
        </p:spPr>
        <p:txBody>
          <a:bodyPr wrap="square">
            <a:spAutoFit/>
          </a:bodyPr>
          <a:lstStyle/>
          <a:p>
            <a:pPr algn="l"/>
            <a:r>
              <a:rPr sz="2000" b="1" i="0">
                <a:solidFill>
                  <a:srgbClr val="2E86AB"/>
                </a:solidFill>
              </a:rPr>
              <a:t>エージェント4 — 根本原因分析エージェント</a:t>
            </a:r>
          </a:p>
        </p:txBody>
      </p:sp>
      <p:sp>
        <p:nvSpPr>
          <p:cNvPr id="4" name="TextBox 3"/>
          <p:cNvSpPr txBox="1"/>
          <p:nvPr/>
        </p:nvSpPr>
        <p:spPr>
          <a:xfrm>
            <a:off x="274320" y="713232"/>
            <a:ext cx="11430000" cy="320040"/>
          </a:xfrm>
          <a:prstGeom prst="rect">
            <a:avLst/>
          </a:prstGeom>
          <a:noFill/>
        </p:spPr>
        <p:txBody>
          <a:bodyPr wrap="square">
            <a:spAutoFit/>
          </a:bodyPr>
          <a:lstStyle/>
          <a:p>
            <a:pPr algn="l"/>
            <a:r>
              <a:rPr sz="1100" b="0" i="1">
                <a:solidFill>
                  <a:srgbClr val="CCD6E0"/>
                </a:solidFill>
              </a:rPr>
              <a:t>目的: エラーが発生した「なぜ」を決定的に特定 — 根本原因・因果連鎖・5つのなぜ分析</a:t>
            </a:r>
          </a:p>
        </p:txBody>
      </p:sp>
      <p:sp>
        <p:nvSpPr>
          <p:cNvPr id="5" name="Rectangle 4"/>
          <p:cNvSpPr/>
          <p:nvPr/>
        </p:nvSpPr>
        <p:spPr>
          <a:xfrm>
            <a:off x="274320" y="914400"/>
            <a:ext cx="11612880" cy="5029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14400"/>
            <a:ext cx="73152" cy="5029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969264"/>
            <a:ext cx="11247120" cy="384048"/>
          </a:xfrm>
          <a:prstGeom prst="rect">
            <a:avLst/>
          </a:prstGeom>
          <a:noFill/>
        </p:spPr>
        <p:txBody>
          <a:bodyPr wrap="square">
            <a:spAutoFit/>
          </a:bodyPr>
          <a:lstStyle/>
          <a:p>
            <a:pPr algn="l"/>
            <a:r>
              <a:rPr sz="1000" b="1" i="0">
                <a:solidFill>
                  <a:srgbClr val="FFFFFF"/>
                </a:solidFill>
              </a:rPr>
              <a:t>最も分析負荷の高いエージェント。厳格なスコープ: 根本原因の特定のみ。推奨・修復手順は行わない。</a:t>
            </a:r>
          </a:p>
        </p:txBody>
      </p:sp>
      <p:sp>
        <p:nvSpPr>
          <p:cNvPr id="8" name="TextBox 7"/>
          <p:cNvSpPr txBox="1"/>
          <p:nvPr/>
        </p:nvSpPr>
        <p:spPr>
          <a:xfrm>
            <a:off x="274320" y="1554480"/>
            <a:ext cx="5486400" cy="256032"/>
          </a:xfrm>
          <a:prstGeom prst="rect">
            <a:avLst/>
          </a:prstGeom>
          <a:noFill/>
        </p:spPr>
        <p:txBody>
          <a:bodyPr wrap="square">
            <a:spAutoFit/>
          </a:bodyPr>
          <a:lstStyle/>
          <a:p>
            <a:pPr algn="l"/>
            <a:r>
              <a:rPr sz="1000" b="1" i="0">
                <a:solidFill>
                  <a:srgbClr val="2E86AB"/>
                </a:solidFill>
              </a:rPr>
              <a:t>処理ステップ</a:t>
            </a:r>
          </a:p>
        </p:txBody>
      </p:sp>
      <p:sp>
        <p:nvSpPr>
          <p:cNvPr id="9" name="Rectangle 8"/>
          <p:cNvSpPr/>
          <p:nvPr/>
        </p:nvSpPr>
        <p:spPr>
          <a:xfrm>
            <a:off x="274320" y="1847088"/>
            <a:ext cx="320040" cy="512064"/>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1938528"/>
            <a:ext cx="320040" cy="320040"/>
          </a:xfrm>
          <a:prstGeom prst="rect">
            <a:avLst/>
          </a:prstGeom>
          <a:noFill/>
        </p:spPr>
        <p:txBody>
          <a:bodyPr wrap="square">
            <a:spAutoFit/>
          </a:bodyPr>
          <a:lstStyle/>
          <a:p>
            <a:pPr algn="ctr"/>
            <a:r>
              <a:rPr sz="1400" b="1" i="0">
                <a:solidFill>
                  <a:srgbClr val="FFFFFF"/>
                </a:solidFill>
              </a:rPr>
              <a:t>1</a:t>
            </a:r>
          </a:p>
        </p:txBody>
      </p:sp>
      <p:sp>
        <p:nvSpPr>
          <p:cNvPr id="11" name="Rectangle 10"/>
          <p:cNvSpPr/>
          <p:nvPr/>
        </p:nvSpPr>
        <p:spPr>
          <a:xfrm>
            <a:off x="594360" y="1847088"/>
            <a:ext cx="5074920" cy="512064"/>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883664"/>
            <a:ext cx="4846320" cy="219456"/>
          </a:xfrm>
          <a:prstGeom prst="rect">
            <a:avLst/>
          </a:prstGeom>
          <a:noFill/>
        </p:spPr>
        <p:txBody>
          <a:bodyPr wrap="square">
            <a:spAutoFit/>
          </a:bodyPr>
          <a:lstStyle/>
          <a:p>
            <a:pPr algn="l"/>
            <a:r>
              <a:rPr sz="1000" b="1" i="0">
                <a:solidFill>
                  <a:srgbClr val="F39C12"/>
                </a:solidFill>
              </a:rPr>
              <a:t>rca_target読み取り</a:t>
            </a:r>
          </a:p>
        </p:txBody>
      </p:sp>
      <p:sp>
        <p:nvSpPr>
          <p:cNvPr id="13" name="TextBox 12"/>
          <p:cNvSpPr txBox="1"/>
          <p:nvPr/>
        </p:nvSpPr>
        <p:spPr>
          <a:xfrm>
            <a:off x="731520" y="2121408"/>
            <a:ext cx="4846320" cy="219456"/>
          </a:xfrm>
          <a:prstGeom prst="rect">
            <a:avLst/>
          </a:prstGeom>
          <a:noFill/>
        </p:spPr>
        <p:txBody>
          <a:bodyPr wrap="square">
            <a:spAutoFit/>
          </a:bodyPr>
          <a:lstStyle/>
          <a:p>
            <a:pPr algn="l"/>
            <a:r>
              <a:rPr sz="950" b="0" i="0">
                <a:solidFill>
                  <a:srgbClr val="CCD6E0"/>
                </a:solidFill>
              </a:rPr>
              <a:t>エラー分析からパススルー（= analysis_target）</a:t>
            </a:r>
          </a:p>
        </p:txBody>
      </p:sp>
      <p:sp>
        <p:nvSpPr>
          <p:cNvPr id="14" name="Rectangle 13"/>
          <p:cNvSpPr/>
          <p:nvPr/>
        </p:nvSpPr>
        <p:spPr>
          <a:xfrm>
            <a:off x="274320" y="2423160"/>
            <a:ext cx="320040" cy="512064"/>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2514600"/>
            <a:ext cx="320040" cy="320040"/>
          </a:xfrm>
          <a:prstGeom prst="rect">
            <a:avLst/>
          </a:prstGeom>
          <a:noFill/>
        </p:spPr>
        <p:txBody>
          <a:bodyPr wrap="square">
            <a:spAutoFit/>
          </a:bodyPr>
          <a:lstStyle/>
          <a:p>
            <a:pPr algn="ctr"/>
            <a:r>
              <a:rPr sz="1400" b="1" i="0">
                <a:solidFill>
                  <a:srgbClr val="FFFFFF"/>
                </a:solidFill>
              </a:rPr>
              <a:t>2</a:t>
            </a:r>
          </a:p>
        </p:txBody>
      </p:sp>
      <p:sp>
        <p:nvSpPr>
          <p:cNvPr id="16" name="Rectangle 15"/>
          <p:cNvSpPr/>
          <p:nvPr/>
        </p:nvSpPr>
        <p:spPr>
          <a:xfrm>
            <a:off x="594360" y="2423160"/>
            <a:ext cx="5074920" cy="512064"/>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459736"/>
            <a:ext cx="4846320" cy="219456"/>
          </a:xfrm>
          <a:prstGeom prst="rect">
            <a:avLst/>
          </a:prstGeom>
          <a:noFill/>
        </p:spPr>
        <p:txBody>
          <a:bodyPr wrap="square">
            <a:spAutoFit/>
          </a:bodyPr>
          <a:lstStyle/>
          <a:p>
            <a:pPr algn="l"/>
            <a:r>
              <a:rPr sz="1000" b="1" i="0">
                <a:solidFill>
                  <a:srgbClr val="F39C12"/>
                </a:solidFill>
              </a:rPr>
              <a:t>データ取得ルーティング</a:t>
            </a:r>
          </a:p>
        </p:txBody>
      </p:sp>
      <p:sp>
        <p:nvSpPr>
          <p:cNvPr id="18" name="TextBox 17"/>
          <p:cNvSpPr txBox="1"/>
          <p:nvPr/>
        </p:nvSpPr>
        <p:spPr>
          <a:xfrm>
            <a:off x="731520" y="2697479"/>
            <a:ext cx="4846320" cy="219456"/>
          </a:xfrm>
          <a:prstGeom prst="rect">
            <a:avLst/>
          </a:prstGeom>
          <a:noFill/>
        </p:spPr>
        <p:txBody>
          <a:bodyPr wrap="square">
            <a:spAutoFit/>
          </a:bodyPr>
          <a:lstStyle/>
          <a:p>
            <a:pPr algn="l"/>
            <a:r>
              <a:rPr sz="950" b="0" i="0">
                <a:solidFill>
                  <a:srgbClr val="CCD6E0"/>
                </a:solidFill>
              </a:rPr>
              <a:t>Agent→Langfuseのみ  |  InfraLogs→Prometheusのみ  |  Unknown→両方</a:t>
            </a:r>
          </a:p>
        </p:txBody>
      </p:sp>
      <p:sp>
        <p:nvSpPr>
          <p:cNvPr id="19" name="Rectangle 18"/>
          <p:cNvSpPr/>
          <p:nvPr/>
        </p:nvSpPr>
        <p:spPr>
          <a:xfrm>
            <a:off x="274320" y="2999232"/>
            <a:ext cx="320040" cy="512064"/>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4320" y="3090672"/>
            <a:ext cx="320040" cy="320040"/>
          </a:xfrm>
          <a:prstGeom prst="rect">
            <a:avLst/>
          </a:prstGeom>
          <a:noFill/>
        </p:spPr>
        <p:txBody>
          <a:bodyPr wrap="square">
            <a:spAutoFit/>
          </a:bodyPr>
          <a:lstStyle/>
          <a:p>
            <a:pPr algn="ctr"/>
            <a:r>
              <a:rPr sz="1400" b="1" i="0">
                <a:solidFill>
                  <a:srgbClr val="FFFFFF"/>
                </a:solidFill>
              </a:rPr>
              <a:t>3</a:t>
            </a:r>
          </a:p>
        </p:txBody>
      </p:sp>
      <p:sp>
        <p:nvSpPr>
          <p:cNvPr id="21" name="Rectangle 20"/>
          <p:cNvSpPr/>
          <p:nvPr/>
        </p:nvSpPr>
        <p:spPr>
          <a:xfrm>
            <a:off x="594360" y="2999232"/>
            <a:ext cx="5074920" cy="512064"/>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3035808"/>
            <a:ext cx="4846320" cy="219456"/>
          </a:xfrm>
          <a:prstGeom prst="rect">
            <a:avLst/>
          </a:prstGeom>
          <a:noFill/>
        </p:spPr>
        <p:txBody>
          <a:bodyPr wrap="square">
            <a:spAutoFit/>
          </a:bodyPr>
          <a:lstStyle/>
          <a:p>
            <a:pPr algn="l"/>
            <a:r>
              <a:rPr sz="1000" b="1" i="0">
                <a:solidFill>
                  <a:srgbClr val="F39C12"/>
                </a:solidFill>
              </a:rPr>
              <a:t>新鮮なログの再取得</a:t>
            </a:r>
          </a:p>
        </p:txBody>
      </p:sp>
      <p:sp>
        <p:nvSpPr>
          <p:cNvPr id="23" name="TextBox 22"/>
          <p:cNvSpPr txBox="1"/>
          <p:nvPr/>
        </p:nvSpPr>
        <p:spPr>
          <a:xfrm>
            <a:off x="731520" y="3273551"/>
            <a:ext cx="4846320" cy="219456"/>
          </a:xfrm>
          <a:prstGeom prst="rect">
            <a:avLst/>
          </a:prstGeom>
          <a:noFill/>
        </p:spPr>
        <p:txBody>
          <a:bodyPr wrap="square">
            <a:spAutoFit/>
          </a:bodyPr>
          <a:lstStyle/>
          <a:p>
            <a:pPr algn="l"/>
            <a:r>
              <a:rPr sz="950" b="0" i="0">
                <a:solidFill>
                  <a:srgbClr val="CCD6E0"/>
                </a:solidFill>
              </a:rPr>
              <a:t>同一ソースから独立取得 — 因果関係分析のための完全なコンテキスト</a:t>
            </a:r>
          </a:p>
        </p:txBody>
      </p:sp>
      <p:sp>
        <p:nvSpPr>
          <p:cNvPr id="24" name="Rectangle 23"/>
          <p:cNvSpPr/>
          <p:nvPr/>
        </p:nvSpPr>
        <p:spPr>
          <a:xfrm>
            <a:off x="274320" y="3575303"/>
            <a:ext cx="320040" cy="512064"/>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4320" y="3666744"/>
            <a:ext cx="320040" cy="320040"/>
          </a:xfrm>
          <a:prstGeom prst="rect">
            <a:avLst/>
          </a:prstGeom>
          <a:noFill/>
        </p:spPr>
        <p:txBody>
          <a:bodyPr wrap="square">
            <a:spAutoFit/>
          </a:bodyPr>
          <a:lstStyle/>
          <a:p>
            <a:pPr algn="ctr"/>
            <a:r>
              <a:rPr sz="1400" b="1" i="0">
                <a:solidFill>
                  <a:srgbClr val="FFFFFF"/>
                </a:solidFill>
              </a:rPr>
              <a:t>4</a:t>
            </a:r>
          </a:p>
        </p:txBody>
      </p:sp>
      <p:sp>
        <p:nvSpPr>
          <p:cNvPr id="26" name="Rectangle 25"/>
          <p:cNvSpPr/>
          <p:nvPr/>
        </p:nvSpPr>
        <p:spPr>
          <a:xfrm>
            <a:off x="594360" y="3575303"/>
            <a:ext cx="5074920" cy="512064"/>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3611879"/>
            <a:ext cx="4846320" cy="219456"/>
          </a:xfrm>
          <a:prstGeom prst="rect">
            <a:avLst/>
          </a:prstGeom>
          <a:noFill/>
        </p:spPr>
        <p:txBody>
          <a:bodyPr wrap="square">
            <a:spAutoFit/>
          </a:bodyPr>
          <a:lstStyle/>
          <a:p>
            <a:pPr algn="l"/>
            <a:r>
              <a:rPr sz="1000" b="1" i="0">
                <a:solidFill>
                  <a:srgbClr val="F39C12"/>
                </a:solidFill>
              </a:rPr>
              <a:t>リッチユーザーメッセージ構築</a:t>
            </a:r>
          </a:p>
        </p:txBody>
      </p:sp>
      <p:sp>
        <p:nvSpPr>
          <p:cNvPr id="28" name="TextBox 27"/>
          <p:cNvSpPr txBox="1"/>
          <p:nvPr/>
        </p:nvSpPr>
        <p:spPr>
          <a:xfrm>
            <a:off x="731520" y="3849624"/>
            <a:ext cx="4846320" cy="219456"/>
          </a:xfrm>
          <a:prstGeom prst="rect">
            <a:avLst/>
          </a:prstGeom>
          <a:noFill/>
        </p:spPr>
        <p:txBody>
          <a:bodyPr wrap="square">
            <a:spAutoFit/>
          </a:bodyPr>
          <a:lstStyle/>
          <a:p>
            <a:pPr algn="l"/>
            <a:r>
              <a:rPr sz="950" b="0" i="0">
                <a:solidFill>
                  <a:srgbClr val="CCD6E0"/>
                </a:solidFill>
              </a:rPr>
              <a:t>全ErrorDetail + 新鮮なログ + インシデントコンテキスト</a:t>
            </a:r>
          </a:p>
        </p:txBody>
      </p:sp>
      <p:sp>
        <p:nvSpPr>
          <p:cNvPr id="29" name="Rectangle 28"/>
          <p:cNvSpPr/>
          <p:nvPr/>
        </p:nvSpPr>
        <p:spPr>
          <a:xfrm>
            <a:off x="274320" y="4151376"/>
            <a:ext cx="320040" cy="512064"/>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4320" y="4242816"/>
            <a:ext cx="320040" cy="320040"/>
          </a:xfrm>
          <a:prstGeom prst="rect">
            <a:avLst/>
          </a:prstGeom>
          <a:noFill/>
        </p:spPr>
        <p:txBody>
          <a:bodyPr wrap="square">
            <a:spAutoFit/>
          </a:bodyPr>
          <a:lstStyle/>
          <a:p>
            <a:pPr algn="ctr"/>
            <a:r>
              <a:rPr sz="1400" b="1" i="0">
                <a:solidFill>
                  <a:srgbClr val="FFFFFF"/>
                </a:solidFill>
              </a:rPr>
              <a:t>5</a:t>
            </a:r>
          </a:p>
        </p:txBody>
      </p:sp>
      <p:sp>
        <p:nvSpPr>
          <p:cNvPr id="31" name="Rectangle 30"/>
          <p:cNvSpPr/>
          <p:nvPr/>
        </p:nvSpPr>
        <p:spPr>
          <a:xfrm>
            <a:off x="594360" y="4151376"/>
            <a:ext cx="5074920" cy="512064"/>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4187952"/>
            <a:ext cx="4846320" cy="219456"/>
          </a:xfrm>
          <a:prstGeom prst="rect">
            <a:avLst/>
          </a:prstGeom>
          <a:noFill/>
        </p:spPr>
        <p:txBody>
          <a:bodyPr wrap="square">
            <a:spAutoFit/>
          </a:bodyPr>
          <a:lstStyle/>
          <a:p>
            <a:pPr algn="l"/>
            <a:r>
              <a:rPr sz="1000" b="1" i="0">
                <a:solidFill>
                  <a:srgbClr val="F39C12"/>
                </a:solidFill>
              </a:rPr>
              <a:t>システムプロンプト構築</a:t>
            </a:r>
          </a:p>
        </p:txBody>
      </p:sp>
      <p:sp>
        <p:nvSpPr>
          <p:cNvPr id="33" name="TextBox 32"/>
          <p:cNvSpPr txBox="1"/>
          <p:nvPr/>
        </p:nvSpPr>
        <p:spPr>
          <a:xfrm>
            <a:off x="731520" y="4425696"/>
            <a:ext cx="4846320" cy="219456"/>
          </a:xfrm>
          <a:prstGeom prst="rect">
            <a:avLst/>
          </a:prstGeom>
          <a:noFill/>
        </p:spPr>
        <p:txBody>
          <a:bodyPr wrap="square">
            <a:spAutoFit/>
          </a:bodyPr>
          <a:lstStyle/>
          <a:p>
            <a:pPr algn="l"/>
            <a:r>
              <a:rPr sz="950" b="0" i="0">
                <a:solidFill>
                  <a:srgbClr val="CCD6E0"/>
                </a:solidFill>
              </a:rPr>
              <a:t>エラーカテゴリ・伝播経路・5つのなぜルール・RCAResultスキーマ</a:t>
            </a:r>
          </a:p>
        </p:txBody>
      </p:sp>
      <p:sp>
        <p:nvSpPr>
          <p:cNvPr id="34" name="Rectangle 33"/>
          <p:cNvSpPr/>
          <p:nvPr/>
        </p:nvSpPr>
        <p:spPr>
          <a:xfrm>
            <a:off x="274320" y="4727448"/>
            <a:ext cx="320040" cy="512064"/>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4320" y="4818888"/>
            <a:ext cx="320040" cy="320040"/>
          </a:xfrm>
          <a:prstGeom prst="rect">
            <a:avLst/>
          </a:prstGeom>
          <a:noFill/>
        </p:spPr>
        <p:txBody>
          <a:bodyPr wrap="square">
            <a:spAutoFit/>
          </a:bodyPr>
          <a:lstStyle/>
          <a:p>
            <a:pPr algn="ctr"/>
            <a:r>
              <a:rPr sz="1400" b="1" i="0">
                <a:solidFill>
                  <a:srgbClr val="FFFFFF"/>
                </a:solidFill>
              </a:rPr>
              <a:t>6</a:t>
            </a:r>
          </a:p>
        </p:txBody>
      </p:sp>
      <p:sp>
        <p:nvSpPr>
          <p:cNvPr id="36" name="Rectangle 35"/>
          <p:cNvSpPr/>
          <p:nvPr/>
        </p:nvSpPr>
        <p:spPr>
          <a:xfrm>
            <a:off x="594360" y="4727448"/>
            <a:ext cx="5074920" cy="512064"/>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 y="4764024"/>
            <a:ext cx="4846320" cy="219456"/>
          </a:xfrm>
          <a:prstGeom prst="rect">
            <a:avLst/>
          </a:prstGeom>
          <a:noFill/>
        </p:spPr>
        <p:txBody>
          <a:bodyPr wrap="square">
            <a:spAutoFit/>
          </a:bodyPr>
          <a:lstStyle/>
          <a:p>
            <a:pPr algn="l"/>
            <a:r>
              <a:rPr sz="1000" b="1" i="0">
                <a:solidFill>
                  <a:srgbClr val="F39C12"/>
                </a:solidFill>
              </a:rPr>
              <a:t>GPT-4o呼び出し</a:t>
            </a:r>
          </a:p>
        </p:txBody>
      </p:sp>
      <p:sp>
        <p:nvSpPr>
          <p:cNvPr id="38" name="TextBox 37"/>
          <p:cNvSpPr txBox="1"/>
          <p:nvPr/>
        </p:nvSpPr>
        <p:spPr>
          <a:xfrm>
            <a:off x="731520" y="5001768"/>
            <a:ext cx="4846320" cy="219456"/>
          </a:xfrm>
          <a:prstGeom prst="rect">
            <a:avLst/>
          </a:prstGeom>
          <a:noFill/>
        </p:spPr>
        <p:txBody>
          <a:bodyPr wrap="square">
            <a:spAutoFit/>
          </a:bodyPr>
          <a:lstStyle/>
          <a:p>
            <a:pPr algn="l"/>
            <a:r>
              <a:rPr sz="950" b="0" i="0">
                <a:solidFill>
                  <a:srgbClr val="CCD6E0"/>
                </a:solidFill>
              </a:rPr>
              <a:t>temperature=0.0  ·  5つのなぜを強制した完全RCAResult</a:t>
            </a:r>
          </a:p>
        </p:txBody>
      </p:sp>
      <p:sp>
        <p:nvSpPr>
          <p:cNvPr id="39" name="Rectangle 38"/>
          <p:cNvSpPr/>
          <p:nvPr/>
        </p:nvSpPr>
        <p:spPr>
          <a:xfrm>
            <a:off x="274320" y="5303520"/>
            <a:ext cx="320040" cy="512064"/>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4320" y="5394959"/>
            <a:ext cx="320040" cy="320040"/>
          </a:xfrm>
          <a:prstGeom prst="rect">
            <a:avLst/>
          </a:prstGeom>
          <a:noFill/>
        </p:spPr>
        <p:txBody>
          <a:bodyPr wrap="square">
            <a:spAutoFit/>
          </a:bodyPr>
          <a:lstStyle/>
          <a:p>
            <a:pPr algn="ctr"/>
            <a:r>
              <a:rPr sz="1400" b="1" i="0">
                <a:solidFill>
                  <a:srgbClr val="FFFFFF"/>
                </a:solidFill>
              </a:rPr>
              <a:t>7</a:t>
            </a:r>
          </a:p>
        </p:txBody>
      </p:sp>
      <p:sp>
        <p:nvSpPr>
          <p:cNvPr id="41" name="Rectangle 40"/>
          <p:cNvSpPr/>
          <p:nvPr/>
        </p:nvSpPr>
        <p:spPr>
          <a:xfrm>
            <a:off x="594360" y="5303520"/>
            <a:ext cx="5074920" cy="512064"/>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5340096"/>
            <a:ext cx="4846320" cy="219456"/>
          </a:xfrm>
          <a:prstGeom prst="rect">
            <a:avLst/>
          </a:prstGeom>
          <a:noFill/>
        </p:spPr>
        <p:txBody>
          <a:bodyPr wrap="square">
            <a:spAutoFit/>
          </a:bodyPr>
          <a:lstStyle/>
          <a:p>
            <a:pPr algn="l"/>
            <a:r>
              <a:rPr sz="1000" b="1" i="0">
                <a:solidFill>
                  <a:srgbClr val="F39C12"/>
                </a:solidFill>
              </a:rPr>
              <a:t>Pydanticバリデーション</a:t>
            </a:r>
          </a:p>
        </p:txBody>
      </p:sp>
      <p:sp>
        <p:nvSpPr>
          <p:cNvPr id="43" name="TextBox 42"/>
          <p:cNvSpPr txBox="1"/>
          <p:nvPr/>
        </p:nvSpPr>
        <p:spPr>
          <a:xfrm>
            <a:off x="731520" y="5577840"/>
            <a:ext cx="4846320" cy="219456"/>
          </a:xfrm>
          <a:prstGeom prst="rect">
            <a:avLst/>
          </a:prstGeom>
          <a:noFill/>
        </p:spPr>
        <p:txBody>
          <a:bodyPr wrap="square">
            <a:spAutoFit/>
          </a:bodyPr>
          <a:lstStyle/>
          <a:p>
            <a:pPr algn="l"/>
            <a:r>
              <a:rPr sz="950" b="0" i="0">
                <a:solidFill>
                  <a:srgbClr val="CCD6E0"/>
                </a:solidFill>
              </a:rPr>
              <a:t>RCAResult.model_validate — five_why_analysis欠損・不完全は拒否</a:t>
            </a:r>
          </a:p>
        </p:txBody>
      </p:sp>
      <p:sp>
        <p:nvSpPr>
          <p:cNvPr id="44" name="TextBox 43"/>
          <p:cNvSpPr txBox="1"/>
          <p:nvPr/>
        </p:nvSpPr>
        <p:spPr>
          <a:xfrm>
            <a:off x="6126480" y="1554480"/>
            <a:ext cx="5760720" cy="256032"/>
          </a:xfrm>
          <a:prstGeom prst="rect">
            <a:avLst/>
          </a:prstGeom>
          <a:noFill/>
        </p:spPr>
        <p:txBody>
          <a:bodyPr wrap="square">
            <a:spAutoFit/>
          </a:bodyPr>
          <a:lstStyle/>
          <a:p>
            <a:pPr algn="l"/>
            <a:r>
              <a:rPr sz="1000" b="1" i="0">
                <a:solidFill>
                  <a:srgbClr val="2E86AB"/>
                </a:solidFill>
              </a:rPr>
              <a:t>出力: RCAResult</a:t>
            </a:r>
          </a:p>
        </p:txBody>
      </p:sp>
      <p:sp>
        <p:nvSpPr>
          <p:cNvPr id="45" name="Rectangle 44"/>
          <p:cNvSpPr/>
          <p:nvPr/>
        </p:nvSpPr>
        <p:spPr>
          <a:xfrm>
            <a:off x="6126480" y="1847088"/>
            <a:ext cx="5760720" cy="512064"/>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63640" y="1883664"/>
            <a:ext cx="2103120" cy="219456"/>
          </a:xfrm>
          <a:prstGeom prst="rect">
            <a:avLst/>
          </a:prstGeom>
          <a:noFill/>
        </p:spPr>
        <p:txBody>
          <a:bodyPr wrap="square">
            <a:spAutoFit/>
          </a:bodyPr>
          <a:lstStyle/>
          <a:p>
            <a:pPr algn="l"/>
            <a:r>
              <a:rPr sz="950" b="1" i="0">
                <a:solidFill>
                  <a:srgbClr val="F39C12"/>
                </a:solidFill>
              </a:rPr>
              <a:t>rca_summary</a:t>
            </a:r>
          </a:p>
        </p:txBody>
      </p:sp>
      <p:sp>
        <p:nvSpPr>
          <p:cNvPr id="47" name="TextBox 46"/>
          <p:cNvSpPr txBox="1"/>
          <p:nvPr/>
        </p:nvSpPr>
        <p:spPr>
          <a:xfrm>
            <a:off x="6263640" y="2121408"/>
            <a:ext cx="5577840" cy="201168"/>
          </a:xfrm>
          <a:prstGeom prst="rect">
            <a:avLst/>
          </a:prstGeom>
          <a:noFill/>
        </p:spPr>
        <p:txBody>
          <a:bodyPr wrap="square">
            <a:spAutoFit/>
          </a:bodyPr>
          <a:lstStyle/>
          <a:p>
            <a:pPr algn="l"/>
            <a:r>
              <a:rPr sz="900" b="0" i="0">
                <a:solidFill>
                  <a:srgbClr val="FFFFFF"/>
                </a:solidFill>
              </a:rPr>
              <a:t>str  最大800文字 — エグゼクティブサマリー</a:t>
            </a:r>
          </a:p>
        </p:txBody>
      </p:sp>
      <p:sp>
        <p:nvSpPr>
          <p:cNvPr id="48" name="Rectangle 47"/>
          <p:cNvSpPr/>
          <p:nvPr/>
        </p:nvSpPr>
        <p:spPr>
          <a:xfrm>
            <a:off x="6126480" y="2395728"/>
            <a:ext cx="5760720" cy="512064"/>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63640" y="2432304"/>
            <a:ext cx="2103120" cy="219456"/>
          </a:xfrm>
          <a:prstGeom prst="rect">
            <a:avLst/>
          </a:prstGeom>
          <a:noFill/>
        </p:spPr>
        <p:txBody>
          <a:bodyPr wrap="square">
            <a:spAutoFit/>
          </a:bodyPr>
          <a:lstStyle/>
          <a:p>
            <a:pPr algn="l"/>
            <a:r>
              <a:rPr sz="950" b="1" i="0">
                <a:solidFill>
                  <a:srgbClr val="F39C12"/>
                </a:solidFill>
              </a:rPr>
              <a:t>root_cause</a:t>
            </a:r>
          </a:p>
        </p:txBody>
      </p:sp>
      <p:sp>
        <p:nvSpPr>
          <p:cNvPr id="50" name="TextBox 49"/>
          <p:cNvSpPr txBox="1"/>
          <p:nvPr/>
        </p:nvSpPr>
        <p:spPr>
          <a:xfrm>
            <a:off x="6263640" y="2670048"/>
            <a:ext cx="5577840" cy="201168"/>
          </a:xfrm>
          <a:prstGeom prst="rect">
            <a:avLst/>
          </a:prstGeom>
          <a:noFill/>
        </p:spPr>
        <p:txBody>
          <a:bodyPr wrap="square">
            <a:spAutoFit/>
          </a:bodyPr>
          <a:lstStyle/>
          <a:p>
            <a:pPr algn="l"/>
            <a:r>
              <a:rPr sz="900" b="0" i="0">
                <a:solidFill>
                  <a:srgbClr val="FFFFFF"/>
                </a:solidFill>
              </a:rPr>
              <a:t>RootCause  （カテゴリ・コンポーネント・説明・証拠・error_ids・信頼度）</a:t>
            </a:r>
          </a:p>
        </p:txBody>
      </p:sp>
      <p:sp>
        <p:nvSpPr>
          <p:cNvPr id="51" name="Rectangle 50"/>
          <p:cNvSpPr/>
          <p:nvPr/>
        </p:nvSpPr>
        <p:spPr>
          <a:xfrm>
            <a:off x="6126480" y="2944368"/>
            <a:ext cx="5760720" cy="512064"/>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63640" y="2980944"/>
            <a:ext cx="2103120" cy="219456"/>
          </a:xfrm>
          <a:prstGeom prst="rect">
            <a:avLst/>
          </a:prstGeom>
          <a:noFill/>
        </p:spPr>
        <p:txBody>
          <a:bodyPr wrap="square">
            <a:spAutoFit/>
          </a:bodyPr>
          <a:lstStyle/>
          <a:p>
            <a:pPr algn="l"/>
            <a:r>
              <a:rPr sz="950" b="1" i="0">
                <a:solidFill>
                  <a:srgbClr val="F39C12"/>
                </a:solidFill>
              </a:rPr>
              <a:t>causal_chain</a:t>
            </a:r>
          </a:p>
        </p:txBody>
      </p:sp>
      <p:sp>
        <p:nvSpPr>
          <p:cNvPr id="53" name="TextBox 52"/>
          <p:cNvSpPr txBox="1"/>
          <p:nvPr/>
        </p:nvSpPr>
        <p:spPr>
          <a:xfrm>
            <a:off x="6263640" y="3218688"/>
            <a:ext cx="5577840" cy="201168"/>
          </a:xfrm>
          <a:prstGeom prst="rect">
            <a:avLst/>
          </a:prstGeom>
          <a:noFill/>
        </p:spPr>
        <p:txBody>
          <a:bodyPr wrap="square">
            <a:spAutoFit/>
          </a:bodyPr>
          <a:lstStyle/>
          <a:p>
            <a:pPr algn="l"/>
            <a:r>
              <a:rPr sz="900" b="0" i="0">
                <a:solidFill>
                  <a:srgbClr val="FFFFFF"/>
                </a:solidFill>
              </a:rPr>
              <a:t>list[CausalLink]  最低1件  —  link_type+証拠を持つsource→target</a:t>
            </a:r>
          </a:p>
        </p:txBody>
      </p:sp>
      <p:sp>
        <p:nvSpPr>
          <p:cNvPr id="54" name="Rectangle 53"/>
          <p:cNvSpPr/>
          <p:nvPr/>
        </p:nvSpPr>
        <p:spPr>
          <a:xfrm>
            <a:off x="6126480" y="3493008"/>
            <a:ext cx="5760720" cy="512064"/>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263640" y="3529584"/>
            <a:ext cx="2103120" cy="219456"/>
          </a:xfrm>
          <a:prstGeom prst="rect">
            <a:avLst/>
          </a:prstGeom>
          <a:noFill/>
        </p:spPr>
        <p:txBody>
          <a:bodyPr wrap="square">
            <a:spAutoFit/>
          </a:bodyPr>
          <a:lstStyle/>
          <a:p>
            <a:pPr algn="l"/>
            <a:r>
              <a:rPr sz="950" b="1" i="0">
                <a:solidFill>
                  <a:srgbClr val="F39C12"/>
                </a:solidFill>
              </a:rPr>
              <a:t>contributing_factors</a:t>
            </a:r>
          </a:p>
        </p:txBody>
      </p:sp>
      <p:sp>
        <p:nvSpPr>
          <p:cNvPr id="56" name="TextBox 55"/>
          <p:cNvSpPr txBox="1"/>
          <p:nvPr/>
        </p:nvSpPr>
        <p:spPr>
          <a:xfrm>
            <a:off x="6263640" y="3767328"/>
            <a:ext cx="5577840" cy="201168"/>
          </a:xfrm>
          <a:prstGeom prst="rect">
            <a:avLst/>
          </a:prstGeom>
          <a:noFill/>
        </p:spPr>
        <p:txBody>
          <a:bodyPr wrap="square">
            <a:spAutoFit/>
          </a:bodyPr>
          <a:lstStyle/>
          <a:p>
            <a:pPr algn="l"/>
            <a:r>
              <a:rPr sz="900" b="0" i="0">
                <a:solidFill>
                  <a:srgbClr val="FFFFFF"/>
                </a:solidFill>
              </a:rPr>
              <a:t>list[ContributingFactor]  —  障害を悪化させた増幅要因</a:t>
            </a:r>
          </a:p>
        </p:txBody>
      </p:sp>
      <p:sp>
        <p:nvSpPr>
          <p:cNvPr id="57" name="Rectangle 56"/>
          <p:cNvSpPr/>
          <p:nvPr/>
        </p:nvSpPr>
        <p:spPr>
          <a:xfrm>
            <a:off x="6126480" y="4041648"/>
            <a:ext cx="5760720" cy="512064"/>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263640" y="4078224"/>
            <a:ext cx="2103120" cy="219456"/>
          </a:xfrm>
          <a:prstGeom prst="rect">
            <a:avLst/>
          </a:prstGeom>
          <a:noFill/>
        </p:spPr>
        <p:txBody>
          <a:bodyPr wrap="square">
            <a:spAutoFit/>
          </a:bodyPr>
          <a:lstStyle/>
          <a:p>
            <a:pPr algn="l"/>
            <a:r>
              <a:rPr sz="950" b="1" i="0">
                <a:solidFill>
                  <a:srgbClr val="F39C12"/>
                </a:solidFill>
              </a:rPr>
              <a:t>failure_timeline</a:t>
            </a:r>
          </a:p>
        </p:txBody>
      </p:sp>
      <p:sp>
        <p:nvSpPr>
          <p:cNvPr id="59" name="TextBox 58"/>
          <p:cNvSpPr txBox="1"/>
          <p:nvPr/>
        </p:nvSpPr>
        <p:spPr>
          <a:xfrm>
            <a:off x="6263640" y="4315968"/>
            <a:ext cx="5577840" cy="201168"/>
          </a:xfrm>
          <a:prstGeom prst="rect">
            <a:avLst/>
          </a:prstGeom>
          <a:noFill/>
        </p:spPr>
        <p:txBody>
          <a:bodyPr wrap="square">
            <a:spAutoFit/>
          </a:bodyPr>
          <a:lstStyle/>
          <a:p>
            <a:pPr algn="l"/>
            <a:r>
              <a:rPr sz="900" b="0" i="0">
                <a:solidFill>
                  <a:srgbClr val="FFFFFF"/>
                </a:solidFill>
              </a:rPr>
              <a:t>list[FailureTimeline]  —  is_root_causeフラグ付き時系列イベント</a:t>
            </a:r>
          </a:p>
        </p:txBody>
      </p:sp>
      <p:sp>
        <p:nvSpPr>
          <p:cNvPr id="60" name="Rectangle 59"/>
          <p:cNvSpPr/>
          <p:nvPr/>
        </p:nvSpPr>
        <p:spPr>
          <a:xfrm>
            <a:off x="6126480" y="4590288"/>
            <a:ext cx="5760720" cy="512064"/>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263640" y="4626864"/>
            <a:ext cx="2103120" cy="219456"/>
          </a:xfrm>
          <a:prstGeom prst="rect">
            <a:avLst/>
          </a:prstGeom>
          <a:noFill/>
        </p:spPr>
        <p:txBody>
          <a:bodyPr wrap="square">
            <a:spAutoFit/>
          </a:bodyPr>
          <a:lstStyle/>
          <a:p>
            <a:pPr algn="l"/>
            <a:r>
              <a:rPr sz="950" b="1" i="0">
                <a:solidFill>
                  <a:srgbClr val="F39C12"/>
                </a:solidFill>
              </a:rPr>
              <a:t>blast_radius</a:t>
            </a:r>
          </a:p>
        </p:txBody>
      </p:sp>
      <p:sp>
        <p:nvSpPr>
          <p:cNvPr id="62" name="TextBox 61"/>
          <p:cNvSpPr txBox="1"/>
          <p:nvPr/>
        </p:nvSpPr>
        <p:spPr>
          <a:xfrm>
            <a:off x="6263640" y="4864607"/>
            <a:ext cx="5577840" cy="201168"/>
          </a:xfrm>
          <a:prstGeom prst="rect">
            <a:avLst/>
          </a:prstGeom>
          <a:noFill/>
        </p:spPr>
        <p:txBody>
          <a:bodyPr wrap="square">
            <a:spAutoFit/>
          </a:bodyPr>
          <a:lstStyle/>
          <a:p>
            <a:pPr algn="l"/>
            <a:r>
              <a:rPr sz="900" b="0" i="0">
                <a:solidFill>
                  <a:srgbClr val="FFFFFF"/>
                </a:solidFill>
              </a:rPr>
              <a:t>list[str]  —  根本原因の影響を受けた全コンポーネント</a:t>
            </a:r>
          </a:p>
        </p:txBody>
      </p:sp>
      <p:sp>
        <p:nvSpPr>
          <p:cNvPr id="63" name="Rectangle 62"/>
          <p:cNvSpPr/>
          <p:nvPr/>
        </p:nvSpPr>
        <p:spPr>
          <a:xfrm>
            <a:off x="6126480" y="5138927"/>
            <a:ext cx="5760720" cy="512064"/>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263640" y="5175503"/>
            <a:ext cx="2103120" cy="219456"/>
          </a:xfrm>
          <a:prstGeom prst="rect">
            <a:avLst/>
          </a:prstGeom>
          <a:noFill/>
        </p:spPr>
        <p:txBody>
          <a:bodyPr wrap="square">
            <a:spAutoFit/>
          </a:bodyPr>
          <a:lstStyle/>
          <a:p>
            <a:pPr algn="l"/>
            <a:r>
              <a:rPr sz="950" b="1" i="0">
                <a:solidFill>
                  <a:srgbClr val="F39C12"/>
                </a:solidFill>
              </a:rPr>
              <a:t>five_why_analysis</a:t>
            </a:r>
          </a:p>
        </p:txBody>
      </p:sp>
      <p:sp>
        <p:nvSpPr>
          <p:cNvPr id="65" name="TextBox 64"/>
          <p:cNvSpPr txBox="1"/>
          <p:nvPr/>
        </p:nvSpPr>
        <p:spPr>
          <a:xfrm>
            <a:off x="6263640" y="5413247"/>
            <a:ext cx="5577840" cy="201168"/>
          </a:xfrm>
          <a:prstGeom prst="rect">
            <a:avLst/>
          </a:prstGeom>
          <a:noFill/>
        </p:spPr>
        <p:txBody>
          <a:bodyPr wrap="square">
            <a:spAutoFit/>
          </a:bodyPr>
          <a:lstStyle/>
          <a:p>
            <a:pPr algn="l"/>
            <a:r>
              <a:rPr sz="900" b="0" i="0">
                <a:solidFill>
                  <a:srgbClr val="FFFFFF"/>
                </a:solidFill>
              </a:rPr>
              <a:t>FiveWhyAnalysis  —  正確に5つのWhyStep + fundamental_root_cause  ← 新規</a:t>
            </a:r>
          </a:p>
        </p:txBody>
      </p:sp>
      <p:sp>
        <p:nvSpPr>
          <p:cNvPr id="66" name="Rectangle 65"/>
          <p:cNvSpPr/>
          <p:nvPr/>
        </p:nvSpPr>
        <p:spPr>
          <a:xfrm>
            <a:off x="6126480" y="5687567"/>
            <a:ext cx="5760720" cy="512064"/>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263640" y="5724143"/>
            <a:ext cx="2103120" cy="219456"/>
          </a:xfrm>
          <a:prstGeom prst="rect">
            <a:avLst/>
          </a:prstGeom>
          <a:noFill/>
        </p:spPr>
        <p:txBody>
          <a:bodyPr wrap="square">
            <a:spAutoFit/>
          </a:bodyPr>
          <a:lstStyle/>
          <a:p>
            <a:pPr algn="l"/>
            <a:r>
              <a:rPr sz="950" b="1" i="0">
                <a:solidFill>
                  <a:srgbClr val="F39C12"/>
                </a:solidFill>
              </a:rPr>
              <a:t>confidence</a:t>
            </a:r>
          </a:p>
        </p:txBody>
      </p:sp>
      <p:sp>
        <p:nvSpPr>
          <p:cNvPr id="68" name="TextBox 67"/>
          <p:cNvSpPr txBox="1"/>
          <p:nvPr/>
        </p:nvSpPr>
        <p:spPr>
          <a:xfrm>
            <a:off x="6263640" y="5961887"/>
            <a:ext cx="5577840" cy="201168"/>
          </a:xfrm>
          <a:prstGeom prst="rect">
            <a:avLst/>
          </a:prstGeom>
          <a:noFill/>
        </p:spPr>
        <p:txBody>
          <a:bodyPr wrap="square">
            <a:spAutoFit/>
          </a:bodyPr>
          <a:lstStyle/>
          <a:p>
            <a:pPr algn="l"/>
            <a:r>
              <a:rPr sz="900" b="0" i="0">
                <a:solidFill>
                  <a:srgbClr val="FFFFFF"/>
                </a:solidFill>
              </a:rPr>
              <a:t>float  0.0 – 1.0  —  証拠の強度に連動</a:t>
            </a:r>
          </a:p>
        </p:txBody>
      </p:sp>
      <p:sp>
        <p:nvSpPr>
          <p:cNvPr id="69" name="Rectangle 68"/>
          <p:cNvSpPr/>
          <p:nvPr/>
        </p:nvSpPr>
        <p:spPr>
          <a:xfrm>
            <a:off x="6126480" y="6236208"/>
            <a:ext cx="5760720" cy="347472"/>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263640" y="6281928"/>
            <a:ext cx="5577840" cy="256032"/>
          </a:xfrm>
          <a:prstGeom prst="rect">
            <a:avLst/>
          </a:prstGeom>
          <a:noFill/>
        </p:spPr>
        <p:txBody>
          <a:bodyPr wrap="square">
            <a:spAutoFit/>
          </a:bodyPr>
          <a:lstStyle/>
          <a:p>
            <a:pPr algn="l"/>
            <a:r>
              <a:rPr sz="950" b="1" i="0">
                <a:solidFill>
                  <a:srgbClr val="0D1B2A"/>
                </a:solidFill>
              </a:rPr>
              <a:t>CausalLinkタイプ:  direct_cause  |  indirect_cause  |  trigger  |  amplifier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685800"/>
          </a:xfrm>
          <a:prstGeom prst="rect">
            <a:avLst/>
          </a:prstGeom>
          <a:solidFill>
            <a:srgbClr val="1A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502920"/>
          </a:xfrm>
          <a:prstGeom prst="rect">
            <a:avLst/>
          </a:prstGeom>
          <a:noFill/>
        </p:spPr>
        <p:txBody>
          <a:bodyPr wrap="square">
            <a:spAutoFit/>
          </a:bodyPr>
          <a:lstStyle/>
          <a:p>
            <a:pPr algn="l"/>
            <a:r>
              <a:rPr sz="2000" b="1" i="0">
                <a:solidFill>
                  <a:srgbClr val="2E86AB"/>
                </a:solidFill>
              </a:rPr>
              <a:t>エージェント4 — 5つのなぜ分析</a:t>
            </a:r>
          </a:p>
        </p:txBody>
      </p:sp>
      <p:sp>
        <p:nvSpPr>
          <p:cNvPr id="4" name="TextBox 3"/>
          <p:cNvSpPr txBox="1"/>
          <p:nvPr/>
        </p:nvSpPr>
        <p:spPr>
          <a:xfrm>
            <a:off x="274320" y="713232"/>
            <a:ext cx="11430000" cy="320040"/>
          </a:xfrm>
          <a:prstGeom prst="rect">
            <a:avLst/>
          </a:prstGeom>
          <a:noFill/>
        </p:spPr>
        <p:txBody>
          <a:bodyPr wrap="square">
            <a:spAutoFit/>
          </a:bodyPr>
          <a:lstStyle/>
          <a:p>
            <a:pPr algn="l"/>
            <a:r>
              <a:rPr sz="1100" b="0" i="1">
                <a:solidFill>
                  <a:srgbClr val="CCD6E0"/>
                </a:solidFill>
              </a:rPr>
              <a:t>反復的手法: 各回答が次の「なぜ？」の対象になる — 症状から根本原因へ掘り下げる</a:t>
            </a:r>
          </a:p>
        </p:txBody>
      </p:sp>
      <p:sp>
        <p:nvSpPr>
          <p:cNvPr id="5" name="TextBox 4"/>
          <p:cNvSpPr txBox="1"/>
          <p:nvPr/>
        </p:nvSpPr>
        <p:spPr>
          <a:xfrm>
            <a:off x="274320" y="914400"/>
            <a:ext cx="11612880" cy="256032"/>
          </a:xfrm>
          <a:prstGeom prst="rect">
            <a:avLst/>
          </a:prstGeom>
          <a:noFill/>
        </p:spPr>
        <p:txBody>
          <a:bodyPr wrap="square">
            <a:spAutoFit/>
          </a:bodyPr>
          <a:lstStyle/>
          <a:p>
            <a:pPr algn="l"/>
            <a:r>
              <a:rPr sz="1000" b="1" i="0">
                <a:solidFill>
                  <a:srgbClr val="2E86AB"/>
                </a:solidFill>
              </a:rPr>
              <a:t>WhyStepスキーマ（5件必須）</a:t>
            </a:r>
          </a:p>
        </p:txBody>
      </p:sp>
      <p:sp>
        <p:nvSpPr>
          <p:cNvPr id="6" name="Rectangle 5"/>
          <p:cNvSpPr/>
          <p:nvPr/>
        </p:nvSpPr>
        <p:spPr>
          <a:xfrm>
            <a:off x="274320" y="1207008"/>
            <a:ext cx="1280160" cy="256032"/>
          </a:xfrm>
          <a:prstGeom prst="rect">
            <a:avLst/>
          </a:prstGeom>
          <a:solidFill>
            <a:srgbClr val="1A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7472" y="1243584"/>
            <a:ext cx="1188719" cy="210312"/>
          </a:xfrm>
          <a:prstGeom prst="rect">
            <a:avLst/>
          </a:prstGeom>
          <a:noFill/>
        </p:spPr>
        <p:txBody>
          <a:bodyPr wrap="square">
            <a:spAutoFit/>
          </a:bodyPr>
          <a:lstStyle/>
          <a:p>
            <a:pPr algn="l"/>
            <a:r>
              <a:rPr sz="950" b="1" i="0">
                <a:solidFill>
                  <a:srgbClr val="FFFFFF"/>
                </a:solidFill>
              </a:rPr>
              <a:t>フィールド</a:t>
            </a:r>
          </a:p>
        </p:txBody>
      </p:sp>
      <p:sp>
        <p:nvSpPr>
          <p:cNvPr id="8" name="Rectangle 7"/>
          <p:cNvSpPr/>
          <p:nvPr/>
        </p:nvSpPr>
        <p:spPr>
          <a:xfrm>
            <a:off x="1554480" y="1207008"/>
            <a:ext cx="1280160" cy="256032"/>
          </a:xfrm>
          <a:prstGeom prst="rect">
            <a:avLst/>
          </a:prstGeom>
          <a:solidFill>
            <a:srgbClr val="1A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27632" y="1243584"/>
            <a:ext cx="1188719" cy="210312"/>
          </a:xfrm>
          <a:prstGeom prst="rect">
            <a:avLst/>
          </a:prstGeom>
          <a:noFill/>
        </p:spPr>
        <p:txBody>
          <a:bodyPr wrap="square">
            <a:spAutoFit/>
          </a:bodyPr>
          <a:lstStyle/>
          <a:p>
            <a:pPr algn="l"/>
            <a:r>
              <a:rPr sz="950" b="1" i="0">
                <a:solidFill>
                  <a:srgbClr val="FFFFFF"/>
                </a:solidFill>
              </a:rPr>
              <a:t>型</a:t>
            </a:r>
          </a:p>
        </p:txBody>
      </p:sp>
      <p:sp>
        <p:nvSpPr>
          <p:cNvPr id="10" name="Rectangle 9"/>
          <p:cNvSpPr/>
          <p:nvPr/>
        </p:nvSpPr>
        <p:spPr>
          <a:xfrm>
            <a:off x="2834639" y="1207008"/>
            <a:ext cx="8412480" cy="256032"/>
          </a:xfrm>
          <a:prstGeom prst="rect">
            <a:avLst/>
          </a:prstGeom>
          <a:solidFill>
            <a:srgbClr val="1A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07791" y="1243584"/>
            <a:ext cx="8321040" cy="210312"/>
          </a:xfrm>
          <a:prstGeom prst="rect">
            <a:avLst/>
          </a:prstGeom>
          <a:noFill/>
        </p:spPr>
        <p:txBody>
          <a:bodyPr wrap="square">
            <a:spAutoFit/>
          </a:bodyPr>
          <a:lstStyle/>
          <a:p>
            <a:pPr algn="l"/>
            <a:r>
              <a:rPr sz="950" b="1" i="0">
                <a:solidFill>
                  <a:srgbClr val="FFFFFF"/>
                </a:solidFill>
              </a:rPr>
              <a:t>説明</a:t>
            </a:r>
          </a:p>
        </p:txBody>
      </p:sp>
      <p:sp>
        <p:nvSpPr>
          <p:cNvPr id="12" name="Rectangle 11"/>
          <p:cNvSpPr/>
          <p:nvPr/>
        </p:nvSpPr>
        <p:spPr>
          <a:xfrm>
            <a:off x="274320" y="1463040"/>
            <a:ext cx="1280160" cy="256032"/>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7472" y="1499616"/>
            <a:ext cx="1188719" cy="210312"/>
          </a:xfrm>
          <a:prstGeom prst="rect">
            <a:avLst/>
          </a:prstGeom>
          <a:noFill/>
        </p:spPr>
        <p:txBody>
          <a:bodyPr wrap="square">
            <a:spAutoFit/>
          </a:bodyPr>
          <a:lstStyle/>
          <a:p>
            <a:pPr algn="l"/>
            <a:r>
              <a:rPr sz="950" b="0" i="0">
                <a:solidFill>
                  <a:srgbClr val="FFFFFF"/>
                </a:solidFill>
              </a:rPr>
              <a:t>step</a:t>
            </a:r>
          </a:p>
        </p:txBody>
      </p:sp>
      <p:sp>
        <p:nvSpPr>
          <p:cNvPr id="14" name="Rectangle 13"/>
          <p:cNvSpPr/>
          <p:nvPr/>
        </p:nvSpPr>
        <p:spPr>
          <a:xfrm>
            <a:off x="1554480" y="1463040"/>
            <a:ext cx="1280160" cy="256032"/>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27632" y="1499616"/>
            <a:ext cx="1188719" cy="210312"/>
          </a:xfrm>
          <a:prstGeom prst="rect">
            <a:avLst/>
          </a:prstGeom>
          <a:noFill/>
        </p:spPr>
        <p:txBody>
          <a:bodyPr wrap="square">
            <a:spAutoFit/>
          </a:bodyPr>
          <a:lstStyle/>
          <a:p>
            <a:pPr algn="l"/>
            <a:r>
              <a:rPr sz="950" b="0" i="0">
                <a:solidFill>
                  <a:srgbClr val="FFFFFF"/>
                </a:solidFill>
              </a:rPr>
              <a:t>int 1–5</a:t>
            </a:r>
          </a:p>
        </p:txBody>
      </p:sp>
      <p:sp>
        <p:nvSpPr>
          <p:cNvPr id="16" name="Rectangle 15"/>
          <p:cNvSpPr/>
          <p:nvPr/>
        </p:nvSpPr>
        <p:spPr>
          <a:xfrm>
            <a:off x="2834639" y="1463040"/>
            <a:ext cx="8412480" cy="256032"/>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07791" y="1499616"/>
            <a:ext cx="8321040" cy="210312"/>
          </a:xfrm>
          <a:prstGeom prst="rect">
            <a:avLst/>
          </a:prstGeom>
          <a:noFill/>
        </p:spPr>
        <p:txBody>
          <a:bodyPr wrap="square">
            <a:spAutoFit/>
          </a:bodyPr>
          <a:lstStyle/>
          <a:p>
            <a:pPr algn="l"/>
            <a:r>
              <a:rPr sz="950" b="0" i="0">
                <a:solidFill>
                  <a:srgbClr val="FFFFFF"/>
                </a:solidFill>
              </a:rPr>
              <a:t>シーケンス内の位置</a:t>
            </a:r>
          </a:p>
        </p:txBody>
      </p:sp>
      <p:sp>
        <p:nvSpPr>
          <p:cNvPr id="18" name="Rectangle 17"/>
          <p:cNvSpPr/>
          <p:nvPr/>
        </p:nvSpPr>
        <p:spPr>
          <a:xfrm>
            <a:off x="274320" y="1719072"/>
            <a:ext cx="1280160" cy="256032"/>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7472" y="1755648"/>
            <a:ext cx="1188719" cy="210312"/>
          </a:xfrm>
          <a:prstGeom prst="rect">
            <a:avLst/>
          </a:prstGeom>
          <a:noFill/>
        </p:spPr>
        <p:txBody>
          <a:bodyPr wrap="square">
            <a:spAutoFit/>
          </a:bodyPr>
          <a:lstStyle/>
          <a:p>
            <a:pPr algn="l"/>
            <a:r>
              <a:rPr sz="950" b="0" i="0">
                <a:solidFill>
                  <a:srgbClr val="FFFFFF"/>
                </a:solidFill>
              </a:rPr>
              <a:t>question</a:t>
            </a:r>
          </a:p>
        </p:txBody>
      </p:sp>
      <p:sp>
        <p:nvSpPr>
          <p:cNvPr id="20" name="Rectangle 19"/>
          <p:cNvSpPr/>
          <p:nvPr/>
        </p:nvSpPr>
        <p:spPr>
          <a:xfrm>
            <a:off x="1554480" y="1719072"/>
            <a:ext cx="1280160" cy="256032"/>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627632" y="1755648"/>
            <a:ext cx="1188719" cy="210312"/>
          </a:xfrm>
          <a:prstGeom prst="rect">
            <a:avLst/>
          </a:prstGeom>
          <a:noFill/>
        </p:spPr>
        <p:txBody>
          <a:bodyPr wrap="square">
            <a:spAutoFit/>
          </a:bodyPr>
          <a:lstStyle/>
          <a:p>
            <a:pPr algn="l"/>
            <a:r>
              <a:rPr sz="950" b="0" i="0">
                <a:solidFill>
                  <a:srgbClr val="FFFFFF"/>
                </a:solidFill>
              </a:rPr>
              <a:t>str</a:t>
            </a:r>
          </a:p>
        </p:txBody>
      </p:sp>
      <p:sp>
        <p:nvSpPr>
          <p:cNvPr id="22" name="Rectangle 21"/>
          <p:cNvSpPr/>
          <p:nvPr/>
        </p:nvSpPr>
        <p:spPr>
          <a:xfrm>
            <a:off x="2834639" y="1719072"/>
            <a:ext cx="8412480" cy="256032"/>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07791" y="1755648"/>
            <a:ext cx="8321040" cy="210312"/>
          </a:xfrm>
          <a:prstGeom prst="rect">
            <a:avLst/>
          </a:prstGeom>
          <a:noFill/>
        </p:spPr>
        <p:txBody>
          <a:bodyPr wrap="square">
            <a:spAutoFit/>
          </a:bodyPr>
          <a:lstStyle/>
          <a:p>
            <a:pPr algn="l"/>
            <a:r>
              <a:rPr sz="950" b="0" i="0">
                <a:solidFill>
                  <a:srgbClr val="FFFFFF"/>
                </a:solidFill>
              </a:rPr>
              <a:t>"なぜ[前回の回答]が発生したのか？"</a:t>
            </a:r>
          </a:p>
        </p:txBody>
      </p:sp>
      <p:sp>
        <p:nvSpPr>
          <p:cNvPr id="24" name="Rectangle 23"/>
          <p:cNvSpPr/>
          <p:nvPr/>
        </p:nvSpPr>
        <p:spPr>
          <a:xfrm>
            <a:off x="274320" y="1975104"/>
            <a:ext cx="1280160" cy="256032"/>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472" y="2011680"/>
            <a:ext cx="1188719" cy="210312"/>
          </a:xfrm>
          <a:prstGeom prst="rect">
            <a:avLst/>
          </a:prstGeom>
          <a:noFill/>
        </p:spPr>
        <p:txBody>
          <a:bodyPr wrap="square">
            <a:spAutoFit/>
          </a:bodyPr>
          <a:lstStyle/>
          <a:p>
            <a:pPr algn="l"/>
            <a:r>
              <a:rPr sz="950" b="0" i="0">
                <a:solidFill>
                  <a:srgbClr val="FFFFFF"/>
                </a:solidFill>
              </a:rPr>
              <a:t>answer</a:t>
            </a:r>
          </a:p>
        </p:txBody>
      </p:sp>
      <p:sp>
        <p:nvSpPr>
          <p:cNvPr id="26" name="Rectangle 25"/>
          <p:cNvSpPr/>
          <p:nvPr/>
        </p:nvSpPr>
        <p:spPr>
          <a:xfrm>
            <a:off x="1554480" y="1975104"/>
            <a:ext cx="1280160" cy="256032"/>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2011680"/>
            <a:ext cx="1188719" cy="210312"/>
          </a:xfrm>
          <a:prstGeom prst="rect">
            <a:avLst/>
          </a:prstGeom>
          <a:noFill/>
        </p:spPr>
        <p:txBody>
          <a:bodyPr wrap="square">
            <a:spAutoFit/>
          </a:bodyPr>
          <a:lstStyle/>
          <a:p>
            <a:pPr algn="l"/>
            <a:r>
              <a:rPr sz="950" b="0" i="0">
                <a:solidFill>
                  <a:srgbClr val="FFFFFF"/>
                </a:solidFill>
              </a:rPr>
              <a:t>str</a:t>
            </a:r>
          </a:p>
        </p:txBody>
      </p:sp>
      <p:sp>
        <p:nvSpPr>
          <p:cNvPr id="28" name="Rectangle 27"/>
          <p:cNvSpPr/>
          <p:nvPr/>
        </p:nvSpPr>
        <p:spPr>
          <a:xfrm>
            <a:off x="2834639" y="1975104"/>
            <a:ext cx="8412480" cy="256032"/>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07791" y="2011680"/>
            <a:ext cx="8321040" cy="210312"/>
          </a:xfrm>
          <a:prstGeom prst="rect">
            <a:avLst/>
          </a:prstGeom>
          <a:noFill/>
        </p:spPr>
        <p:txBody>
          <a:bodyPr wrap="square">
            <a:spAutoFit/>
          </a:bodyPr>
          <a:lstStyle/>
          <a:p>
            <a:pPr algn="l"/>
            <a:r>
              <a:rPr sz="950" b="0" i="0">
                <a:solidFill>
                  <a:srgbClr val="FFFFFF"/>
                </a:solidFill>
              </a:rPr>
              <a:t>このレベルでの原因の説明</a:t>
            </a:r>
          </a:p>
        </p:txBody>
      </p:sp>
      <p:sp>
        <p:nvSpPr>
          <p:cNvPr id="30" name="Rectangle 29"/>
          <p:cNvSpPr/>
          <p:nvPr/>
        </p:nvSpPr>
        <p:spPr>
          <a:xfrm>
            <a:off x="274320" y="2231136"/>
            <a:ext cx="1280160" cy="256032"/>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7472" y="2267712"/>
            <a:ext cx="1188719" cy="210312"/>
          </a:xfrm>
          <a:prstGeom prst="rect">
            <a:avLst/>
          </a:prstGeom>
          <a:noFill/>
        </p:spPr>
        <p:txBody>
          <a:bodyPr wrap="square">
            <a:spAutoFit/>
          </a:bodyPr>
          <a:lstStyle/>
          <a:p>
            <a:pPr algn="l"/>
            <a:r>
              <a:rPr sz="950" b="0" i="0">
                <a:solidFill>
                  <a:srgbClr val="FFFFFF"/>
                </a:solidFill>
              </a:rPr>
              <a:t>evidence</a:t>
            </a:r>
          </a:p>
        </p:txBody>
      </p:sp>
      <p:sp>
        <p:nvSpPr>
          <p:cNvPr id="32" name="Rectangle 31"/>
          <p:cNvSpPr/>
          <p:nvPr/>
        </p:nvSpPr>
        <p:spPr>
          <a:xfrm>
            <a:off x="1554480" y="2231136"/>
            <a:ext cx="1280160" cy="256032"/>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627632" y="2267712"/>
            <a:ext cx="1188719" cy="210312"/>
          </a:xfrm>
          <a:prstGeom prst="rect">
            <a:avLst/>
          </a:prstGeom>
          <a:noFill/>
        </p:spPr>
        <p:txBody>
          <a:bodyPr wrap="square">
            <a:spAutoFit/>
          </a:bodyPr>
          <a:lstStyle/>
          <a:p>
            <a:pPr algn="l"/>
            <a:r>
              <a:rPr sz="950" b="0" i="0">
                <a:solidFill>
                  <a:srgbClr val="FFFFFF"/>
                </a:solidFill>
              </a:rPr>
              <a:t>str</a:t>
            </a:r>
          </a:p>
        </p:txBody>
      </p:sp>
      <p:sp>
        <p:nvSpPr>
          <p:cNvPr id="34" name="Rectangle 33"/>
          <p:cNvSpPr/>
          <p:nvPr/>
        </p:nvSpPr>
        <p:spPr>
          <a:xfrm>
            <a:off x="2834639" y="2231136"/>
            <a:ext cx="8412480" cy="256032"/>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907791" y="2267712"/>
            <a:ext cx="8321040" cy="210312"/>
          </a:xfrm>
          <a:prstGeom prst="rect">
            <a:avLst/>
          </a:prstGeom>
          <a:noFill/>
        </p:spPr>
        <p:txBody>
          <a:bodyPr wrap="square">
            <a:spAutoFit/>
          </a:bodyPr>
          <a:lstStyle/>
          <a:p>
            <a:pPr algn="l"/>
            <a:r>
              <a:rPr sz="950" b="0" i="0">
                <a:solidFill>
                  <a:srgbClr val="FFFFFF"/>
                </a:solidFill>
              </a:rPr>
              <a:t>回答を裏付ける具体的なログ行またはメトリクス</a:t>
            </a:r>
          </a:p>
        </p:txBody>
      </p:sp>
      <p:sp>
        <p:nvSpPr>
          <p:cNvPr id="36" name="Rectangle 35"/>
          <p:cNvSpPr/>
          <p:nvPr/>
        </p:nvSpPr>
        <p:spPr>
          <a:xfrm>
            <a:off x="274320" y="2487168"/>
            <a:ext cx="1280160" cy="256032"/>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47472" y="2523744"/>
            <a:ext cx="1188719" cy="210312"/>
          </a:xfrm>
          <a:prstGeom prst="rect">
            <a:avLst/>
          </a:prstGeom>
          <a:noFill/>
        </p:spPr>
        <p:txBody>
          <a:bodyPr wrap="square">
            <a:spAutoFit/>
          </a:bodyPr>
          <a:lstStyle/>
          <a:p>
            <a:pPr algn="l"/>
            <a:r>
              <a:rPr sz="950" b="0" i="0">
                <a:solidFill>
                  <a:srgbClr val="FFFFFF"/>
                </a:solidFill>
              </a:rPr>
              <a:t>component</a:t>
            </a:r>
          </a:p>
        </p:txBody>
      </p:sp>
      <p:sp>
        <p:nvSpPr>
          <p:cNvPr id="38" name="Rectangle 37"/>
          <p:cNvSpPr/>
          <p:nvPr/>
        </p:nvSpPr>
        <p:spPr>
          <a:xfrm>
            <a:off x="1554480" y="2487168"/>
            <a:ext cx="1280160" cy="256032"/>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627632" y="2523744"/>
            <a:ext cx="1188719" cy="210312"/>
          </a:xfrm>
          <a:prstGeom prst="rect">
            <a:avLst/>
          </a:prstGeom>
          <a:noFill/>
        </p:spPr>
        <p:txBody>
          <a:bodyPr wrap="square">
            <a:spAutoFit/>
          </a:bodyPr>
          <a:lstStyle/>
          <a:p>
            <a:pPr algn="l"/>
            <a:r>
              <a:rPr sz="950" b="0" i="0">
                <a:solidFill>
                  <a:srgbClr val="FFFFFF"/>
                </a:solidFill>
              </a:rPr>
              <a:t>str</a:t>
            </a:r>
          </a:p>
        </p:txBody>
      </p:sp>
      <p:sp>
        <p:nvSpPr>
          <p:cNvPr id="40" name="Rectangle 39"/>
          <p:cNvSpPr/>
          <p:nvPr/>
        </p:nvSpPr>
        <p:spPr>
          <a:xfrm>
            <a:off x="2834639" y="2487168"/>
            <a:ext cx="8412480" cy="256032"/>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907791" y="2523744"/>
            <a:ext cx="8321040" cy="210312"/>
          </a:xfrm>
          <a:prstGeom prst="rect">
            <a:avLst/>
          </a:prstGeom>
          <a:noFill/>
        </p:spPr>
        <p:txBody>
          <a:bodyPr wrap="square">
            <a:spAutoFit/>
          </a:bodyPr>
          <a:lstStyle/>
          <a:p>
            <a:pPr algn="l"/>
            <a:r>
              <a:rPr sz="950" b="0" i="0">
                <a:solidFill>
                  <a:srgbClr val="FFFFFF"/>
                </a:solidFill>
              </a:rPr>
              <a:t>関与するサービスまたはシステム要素</a:t>
            </a:r>
          </a:p>
        </p:txBody>
      </p:sp>
      <p:sp>
        <p:nvSpPr>
          <p:cNvPr id="42" name="TextBox 41"/>
          <p:cNvSpPr txBox="1"/>
          <p:nvPr/>
        </p:nvSpPr>
        <p:spPr>
          <a:xfrm>
            <a:off x="274320" y="2651760"/>
            <a:ext cx="11612880" cy="256032"/>
          </a:xfrm>
          <a:prstGeom prst="rect">
            <a:avLst/>
          </a:prstGeom>
          <a:noFill/>
        </p:spPr>
        <p:txBody>
          <a:bodyPr wrap="square">
            <a:spAutoFit/>
          </a:bodyPr>
          <a:lstStyle/>
          <a:p>
            <a:pPr algn="l"/>
            <a:r>
              <a:rPr sz="1000" b="1" i="0">
                <a:solidFill>
                  <a:srgbClr val="2E86AB"/>
                </a:solidFill>
              </a:rPr>
              <a:t>例  —  'medical-rag'サービスでのLLMアクセス無効化</a:t>
            </a:r>
          </a:p>
        </p:txBody>
      </p:sp>
      <p:sp>
        <p:nvSpPr>
          <p:cNvPr id="43" name="Rectangle 42"/>
          <p:cNvSpPr/>
          <p:nvPr/>
        </p:nvSpPr>
        <p:spPr>
          <a:xfrm>
            <a:off x="274320" y="2944368"/>
            <a:ext cx="1097280" cy="502920"/>
          </a:xfrm>
          <a:prstGeom prst="rect">
            <a:avLst/>
          </a:prstGeom>
          <a:solidFill>
            <a:srgbClr val="1A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74320" y="3054096"/>
            <a:ext cx="1097280" cy="274320"/>
          </a:xfrm>
          <a:prstGeom prst="rect">
            <a:avLst/>
          </a:prstGeom>
          <a:noFill/>
        </p:spPr>
        <p:txBody>
          <a:bodyPr wrap="square">
            <a:spAutoFit/>
          </a:bodyPr>
          <a:lstStyle/>
          <a:p>
            <a:pPr algn="ctr"/>
            <a:r>
              <a:rPr sz="1000" b="1" i="0">
                <a:solidFill>
                  <a:srgbClr val="CCD6E0"/>
                </a:solidFill>
              </a:rPr>
              <a:t>問題</a:t>
            </a:r>
          </a:p>
        </p:txBody>
      </p:sp>
      <p:sp>
        <p:nvSpPr>
          <p:cNvPr id="45" name="Rectangle 44"/>
          <p:cNvSpPr/>
          <p:nvPr/>
        </p:nvSpPr>
        <p:spPr>
          <a:xfrm>
            <a:off x="1371600" y="2944368"/>
            <a:ext cx="10515600" cy="5029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508760" y="2962656"/>
            <a:ext cx="10241280" cy="219456"/>
          </a:xfrm>
          <a:prstGeom prst="rect">
            <a:avLst/>
          </a:prstGeom>
          <a:noFill/>
        </p:spPr>
        <p:txBody>
          <a:bodyPr wrap="square">
            <a:spAutoFit/>
          </a:bodyPr>
          <a:lstStyle/>
          <a:p>
            <a:pPr algn="l"/>
            <a:r>
              <a:rPr sz="950" b="0" i="0">
                <a:solidFill>
                  <a:srgbClr val="FFFFFF"/>
                </a:solidFill>
              </a:rPr>
              <a:t>medical-ragがリクエスト処理に失敗 — LLMアクセスが無効化されている</a:t>
            </a:r>
          </a:p>
        </p:txBody>
      </p:sp>
      <p:sp>
        <p:nvSpPr>
          <p:cNvPr id="47" name="TextBox 46"/>
          <p:cNvSpPr txBox="1"/>
          <p:nvPr/>
        </p:nvSpPr>
        <p:spPr>
          <a:xfrm>
            <a:off x="1508760" y="3218688"/>
            <a:ext cx="10241280" cy="201168"/>
          </a:xfrm>
          <a:prstGeom prst="rect">
            <a:avLst/>
          </a:prstGeom>
          <a:noFill/>
        </p:spPr>
        <p:txBody>
          <a:bodyPr wrap="square">
            <a:spAutoFit/>
          </a:bodyPr>
          <a:lstStyle/>
          <a:p>
            <a:pPr algn="l"/>
            <a:r>
              <a:rPr sz="850" b="0" i="1">
                <a:solidFill>
                  <a:srgbClr val="CCD6E0"/>
                </a:solidFill>
              </a:rPr>
              <a:t>証拠: LLMアクセスが無効（デモエラーモード）のログエントリ</a:t>
            </a:r>
          </a:p>
        </p:txBody>
      </p:sp>
      <p:sp>
        <p:nvSpPr>
          <p:cNvPr id="48" name="Rectangle 47"/>
          <p:cNvSpPr/>
          <p:nvPr/>
        </p:nvSpPr>
        <p:spPr>
          <a:xfrm>
            <a:off x="274320" y="3493008"/>
            <a:ext cx="1097280" cy="5029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74320" y="3602736"/>
            <a:ext cx="1097280" cy="274320"/>
          </a:xfrm>
          <a:prstGeom prst="rect">
            <a:avLst/>
          </a:prstGeom>
          <a:noFill/>
        </p:spPr>
        <p:txBody>
          <a:bodyPr wrap="square">
            <a:spAutoFit/>
          </a:bodyPr>
          <a:lstStyle/>
          <a:p>
            <a:pPr algn="ctr"/>
            <a:r>
              <a:rPr sz="1000" b="1" i="0">
                <a:solidFill>
                  <a:srgbClr val="FFFFFF"/>
                </a:solidFill>
              </a:rPr>
              <a:t>なぜ1</a:t>
            </a:r>
          </a:p>
        </p:txBody>
      </p:sp>
      <p:sp>
        <p:nvSpPr>
          <p:cNvPr id="50" name="Rectangle 49"/>
          <p:cNvSpPr/>
          <p:nvPr/>
        </p:nvSpPr>
        <p:spPr>
          <a:xfrm>
            <a:off x="1371600" y="3493008"/>
            <a:ext cx="10515600" cy="502920"/>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508760" y="3511296"/>
            <a:ext cx="10241280" cy="219456"/>
          </a:xfrm>
          <a:prstGeom prst="rect">
            <a:avLst/>
          </a:prstGeom>
          <a:noFill/>
        </p:spPr>
        <p:txBody>
          <a:bodyPr wrap="square">
            <a:spAutoFit/>
          </a:bodyPr>
          <a:lstStyle/>
          <a:p>
            <a:pPr algn="l"/>
            <a:r>
              <a:rPr sz="950" b="0" i="0">
                <a:solidFill>
                  <a:srgbClr val="FFFFFF"/>
                </a:solidFill>
              </a:rPr>
              <a:t>サービスのLLMアクセスが無効化されている</a:t>
            </a:r>
          </a:p>
        </p:txBody>
      </p:sp>
      <p:sp>
        <p:nvSpPr>
          <p:cNvPr id="52" name="TextBox 51"/>
          <p:cNvSpPr txBox="1"/>
          <p:nvPr/>
        </p:nvSpPr>
        <p:spPr>
          <a:xfrm>
            <a:off x="1508760" y="3767328"/>
            <a:ext cx="10241280" cy="201168"/>
          </a:xfrm>
          <a:prstGeom prst="rect">
            <a:avLst/>
          </a:prstGeom>
          <a:noFill/>
        </p:spPr>
        <p:txBody>
          <a:bodyPr wrap="square">
            <a:spAutoFit/>
          </a:bodyPr>
          <a:lstStyle/>
          <a:p>
            <a:pPr algn="l"/>
            <a:r>
              <a:rPr sz="850" b="0" i="1">
                <a:solidFill>
                  <a:srgbClr val="CCD6E0"/>
                </a:solidFill>
              </a:rPr>
              <a:t>証拠: ログ: LLM access is disabled (demo error mode). Click Enable LLM Access...</a:t>
            </a:r>
          </a:p>
        </p:txBody>
      </p:sp>
      <p:sp>
        <p:nvSpPr>
          <p:cNvPr id="53" name="Rectangle 52"/>
          <p:cNvSpPr/>
          <p:nvPr/>
        </p:nvSpPr>
        <p:spPr>
          <a:xfrm>
            <a:off x="274320" y="4041648"/>
            <a:ext cx="1097280" cy="5029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74320" y="4151376"/>
            <a:ext cx="1097280" cy="274320"/>
          </a:xfrm>
          <a:prstGeom prst="rect">
            <a:avLst/>
          </a:prstGeom>
          <a:noFill/>
        </p:spPr>
        <p:txBody>
          <a:bodyPr wrap="square">
            <a:spAutoFit/>
          </a:bodyPr>
          <a:lstStyle/>
          <a:p>
            <a:pPr algn="ctr"/>
            <a:r>
              <a:rPr sz="1000" b="1" i="0">
                <a:solidFill>
                  <a:srgbClr val="FFFFFF"/>
                </a:solidFill>
              </a:rPr>
              <a:t>なぜ2</a:t>
            </a:r>
          </a:p>
        </p:txBody>
      </p:sp>
      <p:sp>
        <p:nvSpPr>
          <p:cNvPr id="55" name="Rectangle 54"/>
          <p:cNvSpPr/>
          <p:nvPr/>
        </p:nvSpPr>
        <p:spPr>
          <a:xfrm>
            <a:off x="1371600" y="4041648"/>
            <a:ext cx="10515600" cy="5029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508760" y="4059935"/>
            <a:ext cx="10241280" cy="219456"/>
          </a:xfrm>
          <a:prstGeom prst="rect">
            <a:avLst/>
          </a:prstGeom>
          <a:noFill/>
        </p:spPr>
        <p:txBody>
          <a:bodyPr wrap="square">
            <a:spAutoFit/>
          </a:bodyPr>
          <a:lstStyle/>
          <a:p>
            <a:pPr algn="l"/>
            <a:r>
              <a:rPr sz="950" b="0" i="0">
                <a:solidFill>
                  <a:srgbClr val="FFFFFF"/>
                </a:solidFill>
              </a:rPr>
              <a:t>サービスがデモエラーモードで動作するよう設定されている</a:t>
            </a:r>
          </a:p>
        </p:txBody>
      </p:sp>
      <p:sp>
        <p:nvSpPr>
          <p:cNvPr id="57" name="TextBox 56"/>
          <p:cNvSpPr txBox="1"/>
          <p:nvPr/>
        </p:nvSpPr>
        <p:spPr>
          <a:xfrm>
            <a:off x="1508760" y="4315968"/>
            <a:ext cx="10241280" cy="201168"/>
          </a:xfrm>
          <a:prstGeom prst="rect">
            <a:avLst/>
          </a:prstGeom>
          <a:noFill/>
        </p:spPr>
        <p:txBody>
          <a:bodyPr wrap="square">
            <a:spAutoFit/>
          </a:bodyPr>
          <a:lstStyle/>
          <a:p>
            <a:pPr algn="l"/>
            <a:r>
              <a:rPr sz="850" b="0" i="1">
                <a:solidFill>
                  <a:srgbClr val="CCD6E0"/>
                </a:solidFill>
              </a:rPr>
              <a:t>証拠: エラーメッセージが原因として明示的に'demo error mode'を参照</a:t>
            </a:r>
          </a:p>
        </p:txBody>
      </p:sp>
      <p:sp>
        <p:nvSpPr>
          <p:cNvPr id="58" name="Rectangle 57"/>
          <p:cNvSpPr/>
          <p:nvPr/>
        </p:nvSpPr>
        <p:spPr>
          <a:xfrm>
            <a:off x="274320" y="4590288"/>
            <a:ext cx="1097280" cy="5029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74320" y="4700016"/>
            <a:ext cx="1097280" cy="274320"/>
          </a:xfrm>
          <a:prstGeom prst="rect">
            <a:avLst/>
          </a:prstGeom>
          <a:noFill/>
        </p:spPr>
        <p:txBody>
          <a:bodyPr wrap="square">
            <a:spAutoFit/>
          </a:bodyPr>
          <a:lstStyle/>
          <a:p>
            <a:pPr algn="ctr"/>
            <a:r>
              <a:rPr sz="1000" b="1" i="0">
                <a:solidFill>
                  <a:srgbClr val="FFFFFF"/>
                </a:solidFill>
              </a:rPr>
              <a:t>なぜ3</a:t>
            </a:r>
          </a:p>
        </p:txBody>
      </p:sp>
      <p:sp>
        <p:nvSpPr>
          <p:cNvPr id="60" name="Rectangle 59"/>
          <p:cNvSpPr/>
          <p:nvPr/>
        </p:nvSpPr>
        <p:spPr>
          <a:xfrm>
            <a:off x="1371600" y="4590288"/>
            <a:ext cx="10515600" cy="502920"/>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508760" y="4608575"/>
            <a:ext cx="10241280" cy="219456"/>
          </a:xfrm>
          <a:prstGeom prst="rect">
            <a:avLst/>
          </a:prstGeom>
          <a:noFill/>
        </p:spPr>
        <p:txBody>
          <a:bodyPr wrap="square">
            <a:spAutoFit/>
          </a:bodyPr>
          <a:lstStyle/>
          <a:p>
            <a:pPr algn="l"/>
            <a:r>
              <a:rPr sz="950" b="0" i="0">
                <a:solidFill>
                  <a:srgbClr val="FFFFFF"/>
                </a:solidFill>
              </a:rPr>
              <a:t>デモエラーモードの設定フラグが切り替えられた（UIまたはデプロイ経由）</a:t>
            </a:r>
          </a:p>
        </p:txBody>
      </p:sp>
      <p:sp>
        <p:nvSpPr>
          <p:cNvPr id="62" name="TextBox 61"/>
          <p:cNvSpPr txBox="1"/>
          <p:nvPr/>
        </p:nvSpPr>
        <p:spPr>
          <a:xfrm>
            <a:off x="1508760" y="4864607"/>
            <a:ext cx="10241280" cy="201168"/>
          </a:xfrm>
          <a:prstGeom prst="rect">
            <a:avLst/>
          </a:prstGeom>
          <a:noFill/>
        </p:spPr>
        <p:txBody>
          <a:bodyPr wrap="square">
            <a:spAutoFit/>
          </a:bodyPr>
          <a:lstStyle/>
          <a:p>
            <a:pPr algn="l"/>
            <a:r>
              <a:rPr sz="850" b="0" i="1">
                <a:solidFill>
                  <a:srgbClr val="CCD6E0"/>
                </a:solidFill>
              </a:rPr>
              <a:t>証拠: エラーがUIの'Enable LLM Access'クリックを指示 — UIトグルがこれを制御</a:t>
            </a:r>
          </a:p>
        </p:txBody>
      </p:sp>
      <p:sp>
        <p:nvSpPr>
          <p:cNvPr id="63" name="Rectangle 62"/>
          <p:cNvSpPr/>
          <p:nvPr/>
        </p:nvSpPr>
        <p:spPr>
          <a:xfrm>
            <a:off x="274320" y="5138927"/>
            <a:ext cx="1097280" cy="5029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74320" y="5248655"/>
            <a:ext cx="1097280" cy="274320"/>
          </a:xfrm>
          <a:prstGeom prst="rect">
            <a:avLst/>
          </a:prstGeom>
          <a:noFill/>
        </p:spPr>
        <p:txBody>
          <a:bodyPr wrap="square">
            <a:spAutoFit/>
          </a:bodyPr>
          <a:lstStyle/>
          <a:p>
            <a:pPr algn="ctr"/>
            <a:r>
              <a:rPr sz="1000" b="1" i="0">
                <a:solidFill>
                  <a:srgbClr val="FFFFFF"/>
                </a:solidFill>
              </a:rPr>
              <a:t>なぜ4</a:t>
            </a:r>
          </a:p>
        </p:txBody>
      </p:sp>
      <p:sp>
        <p:nvSpPr>
          <p:cNvPr id="65" name="Rectangle 64"/>
          <p:cNvSpPr/>
          <p:nvPr/>
        </p:nvSpPr>
        <p:spPr>
          <a:xfrm>
            <a:off x="1371600" y="5138927"/>
            <a:ext cx="10515600" cy="5029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508760" y="5157215"/>
            <a:ext cx="10241280" cy="219456"/>
          </a:xfrm>
          <a:prstGeom prst="rect">
            <a:avLst/>
          </a:prstGeom>
          <a:noFill/>
        </p:spPr>
        <p:txBody>
          <a:bodyPr wrap="square">
            <a:spAutoFit/>
          </a:bodyPr>
          <a:lstStyle/>
          <a:p>
            <a:pPr algn="l"/>
            <a:r>
              <a:rPr sz="950" b="0" i="0">
                <a:solidFill>
                  <a:srgbClr val="FFFFFF"/>
                </a:solidFill>
              </a:rPr>
              <a:t>リクエスト受付前にLLMアクセス状態を確認するプリフライトバリデーションがない</a:t>
            </a:r>
          </a:p>
        </p:txBody>
      </p:sp>
      <p:sp>
        <p:nvSpPr>
          <p:cNvPr id="67" name="TextBox 66"/>
          <p:cNvSpPr txBox="1"/>
          <p:nvPr/>
        </p:nvSpPr>
        <p:spPr>
          <a:xfrm>
            <a:off x="1508760" y="5413247"/>
            <a:ext cx="10241280" cy="201168"/>
          </a:xfrm>
          <a:prstGeom prst="rect">
            <a:avLst/>
          </a:prstGeom>
          <a:noFill/>
        </p:spPr>
        <p:txBody>
          <a:bodyPr wrap="square">
            <a:spAutoFit/>
          </a:bodyPr>
          <a:lstStyle/>
          <a:p>
            <a:pPr algn="l"/>
            <a:r>
              <a:rPr sz="850" b="0" i="1">
                <a:solidFill>
                  <a:srgbClr val="CCD6E0"/>
                </a:solidFill>
              </a:rPr>
              <a:t>証拠: サービスはリクエストを受け付け、LLM呼び出し段階でのみ失敗 — 早期拒否ログなし</a:t>
            </a:r>
          </a:p>
        </p:txBody>
      </p:sp>
      <p:sp>
        <p:nvSpPr>
          <p:cNvPr id="68" name="Rectangle 67"/>
          <p:cNvSpPr/>
          <p:nvPr/>
        </p:nvSpPr>
        <p:spPr>
          <a:xfrm>
            <a:off x="274320" y="5687567"/>
            <a:ext cx="1097280" cy="5029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74320" y="5797295"/>
            <a:ext cx="1097280" cy="274320"/>
          </a:xfrm>
          <a:prstGeom prst="rect">
            <a:avLst/>
          </a:prstGeom>
          <a:noFill/>
        </p:spPr>
        <p:txBody>
          <a:bodyPr wrap="square">
            <a:spAutoFit/>
          </a:bodyPr>
          <a:lstStyle/>
          <a:p>
            <a:pPr algn="ctr"/>
            <a:r>
              <a:rPr sz="1000" b="1" i="0">
                <a:solidFill>
                  <a:srgbClr val="F39C12"/>
                </a:solidFill>
              </a:rPr>
              <a:t>なぜ5</a:t>
            </a:r>
          </a:p>
        </p:txBody>
      </p:sp>
      <p:sp>
        <p:nvSpPr>
          <p:cNvPr id="70" name="Rectangle 69"/>
          <p:cNvSpPr/>
          <p:nvPr/>
        </p:nvSpPr>
        <p:spPr>
          <a:xfrm>
            <a:off x="1371600" y="5687567"/>
            <a:ext cx="10515600" cy="502920"/>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508760" y="5705855"/>
            <a:ext cx="10241280" cy="219456"/>
          </a:xfrm>
          <a:prstGeom prst="rect">
            <a:avLst/>
          </a:prstGeom>
          <a:noFill/>
        </p:spPr>
        <p:txBody>
          <a:bodyPr wrap="square">
            <a:spAutoFit/>
          </a:bodyPr>
          <a:lstStyle/>
          <a:p>
            <a:pPr algn="l"/>
            <a:r>
              <a:rPr sz="950" b="1" i="0">
                <a:solidFill>
                  <a:srgbClr val="FFFFFF"/>
                </a:solidFill>
              </a:rPr>
              <a:t>対応するレディネスゲートなしでデモエラーモードがテスト用に追加された</a:t>
            </a:r>
          </a:p>
        </p:txBody>
      </p:sp>
      <p:sp>
        <p:nvSpPr>
          <p:cNvPr id="72" name="TextBox 71"/>
          <p:cNvSpPr txBox="1"/>
          <p:nvPr/>
        </p:nvSpPr>
        <p:spPr>
          <a:xfrm>
            <a:off x="1508760" y="5961887"/>
            <a:ext cx="10241280" cy="201168"/>
          </a:xfrm>
          <a:prstGeom prst="rect">
            <a:avLst/>
          </a:prstGeom>
          <a:noFill/>
        </p:spPr>
        <p:txBody>
          <a:bodyPr wrap="square">
            <a:spAutoFit/>
          </a:bodyPr>
          <a:lstStyle/>
          <a:p>
            <a:pPr algn="l"/>
            <a:r>
              <a:rPr sz="850" b="0" i="1">
                <a:solidFill>
                  <a:srgbClr val="CCD6E0"/>
                </a:solidFill>
              </a:rPr>
              <a:t>証拠: デモモードを拒否するスタートアップ/レディネスログの不在から推定（可視性の限界）</a:t>
            </a:r>
          </a:p>
        </p:txBody>
      </p:sp>
      <p:sp>
        <p:nvSpPr>
          <p:cNvPr id="73" name="Rectangle 72"/>
          <p:cNvSpPr/>
          <p:nvPr/>
        </p:nvSpPr>
        <p:spPr>
          <a:xfrm>
            <a:off x="274320" y="6291072"/>
            <a:ext cx="11612880" cy="3474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57200" y="6336792"/>
            <a:ext cx="11247120" cy="256032"/>
          </a:xfrm>
          <a:prstGeom prst="rect">
            <a:avLst/>
          </a:prstGeom>
          <a:noFill/>
        </p:spPr>
        <p:txBody>
          <a:bodyPr wrap="square">
            <a:spAutoFit/>
          </a:bodyPr>
          <a:lstStyle/>
          <a:p>
            <a:pPr algn="l"/>
            <a:r>
              <a:rPr sz="950" b="1" i="0">
                <a:solidFill>
                  <a:srgbClr val="0D1B2A"/>
                </a:solidFill>
              </a:rPr>
              <a:t>根本的な根本原因:  デモエラーモード機能にレディネスゲートが欠如 — 設定トグルに強制メカニズムが対応付けられていなかった</a:t>
            </a:r>
          </a:p>
        </p:txBody>
      </p:sp>
      <p:sp>
        <p:nvSpPr>
          <p:cNvPr id="75" name="Rectangle 74"/>
          <p:cNvSpPr/>
          <p:nvPr/>
        </p:nvSpPr>
        <p:spPr>
          <a:xfrm>
            <a:off x="274320" y="6281927"/>
            <a:ext cx="11612880" cy="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685800"/>
          </a:xfrm>
          <a:prstGeom prst="rect">
            <a:avLst/>
          </a:prstGeom>
          <a:solidFill>
            <a:srgbClr val="1A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502920"/>
          </a:xfrm>
          <a:prstGeom prst="rect">
            <a:avLst/>
          </a:prstGeom>
          <a:noFill/>
        </p:spPr>
        <p:txBody>
          <a:bodyPr wrap="square">
            <a:spAutoFit/>
          </a:bodyPr>
          <a:lstStyle/>
          <a:p>
            <a:pPr algn="l"/>
            <a:r>
              <a:rPr sz="2000" b="1" i="0">
                <a:solidFill>
                  <a:srgbClr val="2E86AB"/>
                </a:solidFill>
              </a:rPr>
              <a:t>エージェント5 — 推奨エージェント</a:t>
            </a:r>
          </a:p>
        </p:txBody>
      </p:sp>
      <p:sp>
        <p:nvSpPr>
          <p:cNvPr id="4" name="TextBox 3"/>
          <p:cNvSpPr txBox="1"/>
          <p:nvPr/>
        </p:nvSpPr>
        <p:spPr>
          <a:xfrm>
            <a:off x="274320" y="713232"/>
            <a:ext cx="11430000" cy="320040"/>
          </a:xfrm>
          <a:prstGeom prst="rect">
            <a:avLst/>
          </a:prstGeom>
          <a:noFill/>
        </p:spPr>
        <p:txBody>
          <a:bodyPr wrap="square">
            <a:spAutoFit/>
          </a:bodyPr>
          <a:lstStyle/>
          <a:p>
            <a:pPr algn="l"/>
            <a:r>
              <a:rPr sz="1100" b="0" i="1">
                <a:solidFill>
                  <a:srgbClr val="CCD6E0"/>
                </a:solidFill>
              </a:rPr>
              <a:t>目的: エラー分析と根本原因分析を統合し、1〜4件のランク付き実行可能ソリューションを生成</a:t>
            </a:r>
          </a:p>
        </p:txBody>
      </p:sp>
      <p:sp>
        <p:nvSpPr>
          <p:cNvPr id="5" name="Rectangle 4"/>
          <p:cNvSpPr/>
          <p:nvPr/>
        </p:nvSpPr>
        <p:spPr>
          <a:xfrm>
            <a:off x="274320" y="914400"/>
            <a:ext cx="11612880" cy="47548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78408"/>
            <a:ext cx="11247120" cy="347472"/>
          </a:xfrm>
          <a:prstGeom prst="rect">
            <a:avLst/>
          </a:prstGeom>
          <a:noFill/>
        </p:spPr>
        <p:txBody>
          <a:bodyPr wrap="square">
            <a:spAutoFit/>
          </a:bodyPr>
          <a:lstStyle/>
          <a:p>
            <a:pPr algn="l"/>
            <a:r>
              <a:rPr sz="1000" b="1" i="0">
                <a:solidFill>
                  <a:srgbClr val="0D1B2A"/>
                </a:solidFill>
              </a:rPr>
              <a:t>外部データを一切取得しない唯一のエージェント。純粋な統合レイヤー — Langfuse・Prometheus・I/O待機なし。パイプラインで最速のステップ。</a:t>
            </a:r>
          </a:p>
        </p:txBody>
      </p:sp>
      <p:sp>
        <p:nvSpPr>
          <p:cNvPr id="7" name="TextBox 6"/>
          <p:cNvSpPr txBox="1"/>
          <p:nvPr/>
        </p:nvSpPr>
        <p:spPr>
          <a:xfrm>
            <a:off x="274320" y="1536192"/>
            <a:ext cx="5486400" cy="256032"/>
          </a:xfrm>
          <a:prstGeom prst="rect">
            <a:avLst/>
          </a:prstGeom>
          <a:noFill/>
        </p:spPr>
        <p:txBody>
          <a:bodyPr wrap="square">
            <a:spAutoFit/>
          </a:bodyPr>
          <a:lstStyle/>
          <a:p>
            <a:pPr algn="l"/>
            <a:r>
              <a:rPr sz="1000" b="1" i="0">
                <a:solidFill>
                  <a:srgbClr val="2E86AB"/>
                </a:solidFill>
              </a:rPr>
              <a:t>処理ステップ</a:t>
            </a:r>
          </a:p>
        </p:txBody>
      </p:sp>
      <p:sp>
        <p:nvSpPr>
          <p:cNvPr id="8" name="Rectangle 7"/>
          <p:cNvSpPr/>
          <p:nvPr/>
        </p:nvSpPr>
        <p:spPr>
          <a:xfrm>
            <a:off x="274320" y="1828800"/>
            <a:ext cx="320040" cy="80467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2029968"/>
            <a:ext cx="320040" cy="365760"/>
          </a:xfrm>
          <a:prstGeom prst="rect">
            <a:avLst/>
          </a:prstGeom>
          <a:noFill/>
        </p:spPr>
        <p:txBody>
          <a:bodyPr wrap="square">
            <a:spAutoFit/>
          </a:bodyPr>
          <a:lstStyle/>
          <a:p>
            <a:pPr algn="ctr"/>
            <a:r>
              <a:rPr sz="1800" b="1" i="0">
                <a:solidFill>
                  <a:srgbClr val="FFFFFF"/>
                </a:solidFill>
              </a:rPr>
              <a:t>1</a:t>
            </a:r>
          </a:p>
        </p:txBody>
      </p:sp>
      <p:sp>
        <p:nvSpPr>
          <p:cNvPr id="10" name="Rectangle 9"/>
          <p:cNvSpPr/>
          <p:nvPr/>
        </p:nvSpPr>
        <p:spPr>
          <a:xfrm>
            <a:off x="594360" y="1828800"/>
            <a:ext cx="5074920" cy="804672"/>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901952"/>
            <a:ext cx="4846320" cy="256032"/>
          </a:xfrm>
          <a:prstGeom prst="rect">
            <a:avLst/>
          </a:prstGeom>
          <a:noFill/>
        </p:spPr>
        <p:txBody>
          <a:bodyPr wrap="square">
            <a:spAutoFit/>
          </a:bodyPr>
          <a:lstStyle/>
          <a:p>
            <a:pPr algn="l"/>
            <a:r>
              <a:rPr sz="1000" b="1" i="0">
                <a:solidFill>
                  <a:srgbClr val="F39C12"/>
                </a:solidFill>
              </a:rPr>
              <a:t>リッチユーザーメッセージ構築</a:t>
            </a:r>
          </a:p>
        </p:txBody>
      </p:sp>
      <p:sp>
        <p:nvSpPr>
          <p:cNvPr id="12" name="TextBox 11"/>
          <p:cNvSpPr txBox="1"/>
          <p:nvPr/>
        </p:nvSpPr>
        <p:spPr>
          <a:xfrm>
            <a:off x="731520" y="2212848"/>
            <a:ext cx="4846320" cy="365760"/>
          </a:xfrm>
          <a:prstGeom prst="rect">
            <a:avLst/>
          </a:prstGeom>
          <a:noFill/>
        </p:spPr>
        <p:txBody>
          <a:bodyPr wrap="square">
            <a:spAutoFit/>
          </a:bodyPr>
          <a:lstStyle/>
          <a:p>
            <a:pPr algn="l"/>
            <a:r>
              <a:rPr sz="950" b="0" i="0">
                <a:solidFill>
                  <a:srgbClr val="CCD6E0"/>
                </a:solidFill>
              </a:rPr>
              <a:t>RCAサマリー + 因果連鎖 + 寄与要因 + 影響範囲 + 全エラー + パターン + 影響</a:t>
            </a:r>
          </a:p>
        </p:txBody>
      </p:sp>
      <p:sp>
        <p:nvSpPr>
          <p:cNvPr id="13" name="Rectangle 12"/>
          <p:cNvSpPr/>
          <p:nvPr/>
        </p:nvSpPr>
        <p:spPr>
          <a:xfrm>
            <a:off x="274320" y="2724912"/>
            <a:ext cx="320040" cy="80467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2926080"/>
            <a:ext cx="320040" cy="365760"/>
          </a:xfrm>
          <a:prstGeom prst="rect">
            <a:avLst/>
          </a:prstGeom>
          <a:noFill/>
        </p:spPr>
        <p:txBody>
          <a:bodyPr wrap="square">
            <a:spAutoFit/>
          </a:bodyPr>
          <a:lstStyle/>
          <a:p>
            <a:pPr algn="ctr"/>
            <a:r>
              <a:rPr sz="1800" b="1" i="0">
                <a:solidFill>
                  <a:srgbClr val="FFFFFF"/>
                </a:solidFill>
              </a:rPr>
              <a:t>2</a:t>
            </a:r>
          </a:p>
        </p:txBody>
      </p:sp>
      <p:sp>
        <p:nvSpPr>
          <p:cNvPr id="15" name="Rectangle 14"/>
          <p:cNvSpPr/>
          <p:nvPr/>
        </p:nvSpPr>
        <p:spPr>
          <a:xfrm>
            <a:off x="594360" y="2724912"/>
            <a:ext cx="5074920" cy="804672"/>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798064"/>
            <a:ext cx="4846320" cy="256032"/>
          </a:xfrm>
          <a:prstGeom prst="rect">
            <a:avLst/>
          </a:prstGeom>
          <a:noFill/>
        </p:spPr>
        <p:txBody>
          <a:bodyPr wrap="square">
            <a:spAutoFit/>
          </a:bodyPr>
          <a:lstStyle/>
          <a:p>
            <a:pPr algn="l"/>
            <a:r>
              <a:rPr sz="1000" b="1" i="0">
                <a:solidFill>
                  <a:srgbClr val="F39C12"/>
                </a:solidFill>
              </a:rPr>
              <a:t>システムプロンプト構築</a:t>
            </a:r>
          </a:p>
        </p:txBody>
      </p:sp>
      <p:sp>
        <p:nvSpPr>
          <p:cNvPr id="17" name="TextBox 16"/>
          <p:cNvSpPr txBox="1"/>
          <p:nvPr/>
        </p:nvSpPr>
        <p:spPr>
          <a:xfrm>
            <a:off x="731520" y="3108960"/>
            <a:ext cx="4846320" cy="365760"/>
          </a:xfrm>
          <a:prstGeom prst="rect">
            <a:avLst/>
          </a:prstGeom>
          <a:noFill/>
        </p:spPr>
        <p:txBody>
          <a:bodyPr wrap="square">
            <a:spAutoFit/>
          </a:bodyPr>
          <a:lstStyle/>
          <a:p>
            <a:pPr algn="l"/>
            <a:r>
              <a:rPr sz="950" b="0" i="0">
                <a:solidFill>
                  <a:srgbClr val="CCD6E0"/>
                </a:solidFill>
              </a:rPr>
              <a:t>RCA(8件)+エラー分析(5件)から13フィールドを注入 + ランク付けルール + ソリューションスキーマ</a:t>
            </a:r>
          </a:p>
        </p:txBody>
      </p:sp>
      <p:sp>
        <p:nvSpPr>
          <p:cNvPr id="18" name="Rectangle 17"/>
          <p:cNvSpPr/>
          <p:nvPr/>
        </p:nvSpPr>
        <p:spPr>
          <a:xfrm>
            <a:off x="274320" y="3621024"/>
            <a:ext cx="320040" cy="80467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3822191"/>
            <a:ext cx="320040" cy="365760"/>
          </a:xfrm>
          <a:prstGeom prst="rect">
            <a:avLst/>
          </a:prstGeom>
          <a:noFill/>
        </p:spPr>
        <p:txBody>
          <a:bodyPr wrap="square">
            <a:spAutoFit/>
          </a:bodyPr>
          <a:lstStyle/>
          <a:p>
            <a:pPr algn="ctr"/>
            <a:r>
              <a:rPr sz="1800" b="1" i="0">
                <a:solidFill>
                  <a:srgbClr val="FFFFFF"/>
                </a:solidFill>
              </a:rPr>
              <a:t>3</a:t>
            </a:r>
          </a:p>
        </p:txBody>
      </p:sp>
      <p:sp>
        <p:nvSpPr>
          <p:cNvPr id="20" name="Rectangle 19"/>
          <p:cNvSpPr/>
          <p:nvPr/>
        </p:nvSpPr>
        <p:spPr>
          <a:xfrm>
            <a:off x="594360" y="3621024"/>
            <a:ext cx="5074920" cy="804672"/>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694176"/>
            <a:ext cx="4846320" cy="256032"/>
          </a:xfrm>
          <a:prstGeom prst="rect">
            <a:avLst/>
          </a:prstGeom>
          <a:noFill/>
        </p:spPr>
        <p:txBody>
          <a:bodyPr wrap="square">
            <a:spAutoFit/>
          </a:bodyPr>
          <a:lstStyle/>
          <a:p>
            <a:pPr algn="l"/>
            <a:r>
              <a:rPr sz="1000" b="1" i="0">
                <a:solidFill>
                  <a:srgbClr val="F39C12"/>
                </a:solidFill>
              </a:rPr>
              <a:t>GPT-4o呼び出し</a:t>
            </a:r>
          </a:p>
        </p:txBody>
      </p:sp>
      <p:sp>
        <p:nvSpPr>
          <p:cNvPr id="22" name="TextBox 21"/>
          <p:cNvSpPr txBox="1"/>
          <p:nvPr/>
        </p:nvSpPr>
        <p:spPr>
          <a:xfrm>
            <a:off x="731520" y="4005072"/>
            <a:ext cx="4846320" cy="365760"/>
          </a:xfrm>
          <a:prstGeom prst="rect">
            <a:avLst/>
          </a:prstGeom>
          <a:noFill/>
        </p:spPr>
        <p:txBody>
          <a:bodyPr wrap="square">
            <a:spAutoFit/>
          </a:bodyPr>
          <a:lstStyle/>
          <a:p>
            <a:pPr algn="l"/>
            <a:r>
              <a:rPr sz="950" b="0" i="0">
                <a:solidFill>
                  <a:srgbClr val="CCD6E0"/>
                </a:solidFill>
              </a:rPr>
              <a:t>temperature=0.0  ·  1〜4件のみ — パディング防止ルールをプロンプトで強制</a:t>
            </a:r>
          </a:p>
        </p:txBody>
      </p:sp>
      <p:sp>
        <p:nvSpPr>
          <p:cNvPr id="23" name="Rectangle 22"/>
          <p:cNvSpPr/>
          <p:nvPr/>
        </p:nvSpPr>
        <p:spPr>
          <a:xfrm>
            <a:off x="274320" y="4517136"/>
            <a:ext cx="320040" cy="80467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4320" y="4718303"/>
            <a:ext cx="320040" cy="365760"/>
          </a:xfrm>
          <a:prstGeom prst="rect">
            <a:avLst/>
          </a:prstGeom>
          <a:noFill/>
        </p:spPr>
        <p:txBody>
          <a:bodyPr wrap="square">
            <a:spAutoFit/>
          </a:bodyPr>
          <a:lstStyle/>
          <a:p>
            <a:pPr algn="ctr"/>
            <a:r>
              <a:rPr sz="1800" b="1" i="0">
                <a:solidFill>
                  <a:srgbClr val="FFFFFF"/>
                </a:solidFill>
              </a:rPr>
              <a:t>4</a:t>
            </a:r>
          </a:p>
        </p:txBody>
      </p:sp>
      <p:sp>
        <p:nvSpPr>
          <p:cNvPr id="25" name="Rectangle 24"/>
          <p:cNvSpPr/>
          <p:nvPr/>
        </p:nvSpPr>
        <p:spPr>
          <a:xfrm>
            <a:off x="594360" y="4517136"/>
            <a:ext cx="5074920" cy="804672"/>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590288"/>
            <a:ext cx="4846320" cy="256032"/>
          </a:xfrm>
          <a:prstGeom prst="rect">
            <a:avLst/>
          </a:prstGeom>
          <a:noFill/>
        </p:spPr>
        <p:txBody>
          <a:bodyPr wrap="square">
            <a:spAutoFit/>
          </a:bodyPr>
          <a:lstStyle/>
          <a:p>
            <a:pPr algn="l"/>
            <a:r>
              <a:rPr sz="1000" b="1" i="0">
                <a:solidFill>
                  <a:srgbClr val="F39C12"/>
                </a:solidFill>
              </a:rPr>
              <a:t>Pydanticバリデーション</a:t>
            </a:r>
          </a:p>
        </p:txBody>
      </p:sp>
      <p:sp>
        <p:nvSpPr>
          <p:cNvPr id="27" name="TextBox 26"/>
          <p:cNvSpPr txBox="1"/>
          <p:nvPr/>
        </p:nvSpPr>
        <p:spPr>
          <a:xfrm>
            <a:off x="731520" y="4901183"/>
            <a:ext cx="4846320" cy="365760"/>
          </a:xfrm>
          <a:prstGeom prst="rect">
            <a:avLst/>
          </a:prstGeom>
          <a:noFill/>
        </p:spPr>
        <p:txBody>
          <a:bodyPr wrap="square">
            <a:spAutoFit/>
          </a:bodyPr>
          <a:lstStyle/>
          <a:p>
            <a:pPr algn="l"/>
            <a:r>
              <a:rPr sz="950" b="0" i="0">
                <a:solidFill>
                  <a:srgbClr val="CCD6E0"/>
                </a:solidFill>
              </a:rPr>
              <a:t>model_validatorがランクの1〜N連番を確認 — ギャップや重複は拒否</a:t>
            </a:r>
          </a:p>
        </p:txBody>
      </p:sp>
      <p:sp>
        <p:nvSpPr>
          <p:cNvPr id="28" name="TextBox 27"/>
          <p:cNvSpPr txBox="1"/>
          <p:nvPr/>
        </p:nvSpPr>
        <p:spPr>
          <a:xfrm>
            <a:off x="274320" y="5166360"/>
            <a:ext cx="5486400" cy="256032"/>
          </a:xfrm>
          <a:prstGeom prst="rect">
            <a:avLst/>
          </a:prstGeom>
          <a:noFill/>
        </p:spPr>
        <p:txBody>
          <a:bodyPr wrap="square">
            <a:spAutoFit/>
          </a:bodyPr>
          <a:lstStyle/>
          <a:p>
            <a:pPr algn="l"/>
            <a:r>
              <a:rPr sz="1000" b="1" i="0">
                <a:solidFill>
                  <a:srgbClr val="2E86AB"/>
                </a:solidFill>
              </a:rPr>
              <a:t>ランク付けルール</a:t>
            </a:r>
          </a:p>
        </p:txBody>
      </p:sp>
      <p:sp>
        <p:nvSpPr>
          <p:cNvPr id="29" name="Rectangle 28"/>
          <p:cNvSpPr/>
          <p:nvPr/>
        </p:nvSpPr>
        <p:spPr>
          <a:xfrm>
            <a:off x="274320" y="5440680"/>
            <a:ext cx="914400" cy="2743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4320" y="5477256"/>
            <a:ext cx="914400" cy="201168"/>
          </a:xfrm>
          <a:prstGeom prst="rect">
            <a:avLst/>
          </a:prstGeom>
          <a:noFill/>
        </p:spPr>
        <p:txBody>
          <a:bodyPr wrap="square">
            <a:spAutoFit/>
          </a:bodyPr>
          <a:lstStyle/>
          <a:p>
            <a:pPr algn="ctr"/>
            <a:r>
              <a:rPr sz="950" b="1" i="0">
                <a:solidFill>
                  <a:srgbClr val="FFFFFF"/>
                </a:solidFill>
              </a:rPr>
              <a:t>ランク1</a:t>
            </a:r>
          </a:p>
        </p:txBody>
      </p:sp>
      <p:sp>
        <p:nvSpPr>
          <p:cNvPr id="31" name="TextBox 30"/>
          <p:cNvSpPr txBox="1"/>
          <p:nvPr/>
        </p:nvSpPr>
        <p:spPr>
          <a:xfrm>
            <a:off x="1234440" y="5477256"/>
            <a:ext cx="4434840" cy="219456"/>
          </a:xfrm>
          <a:prstGeom prst="rect">
            <a:avLst/>
          </a:prstGeom>
          <a:noFill/>
        </p:spPr>
        <p:txBody>
          <a:bodyPr wrap="square">
            <a:spAutoFit/>
          </a:bodyPr>
          <a:lstStyle/>
          <a:p>
            <a:pPr algn="l"/>
            <a:r>
              <a:rPr sz="950" b="0" i="0">
                <a:solidFill>
                  <a:srgbClr val="FFFFFF"/>
                </a:solidFill>
              </a:rPr>
              <a:t>根本原因を直接修正 — addresses_root_cause=True</a:t>
            </a:r>
          </a:p>
        </p:txBody>
      </p:sp>
      <p:sp>
        <p:nvSpPr>
          <p:cNvPr id="32" name="Rectangle 31"/>
          <p:cNvSpPr/>
          <p:nvPr/>
        </p:nvSpPr>
        <p:spPr>
          <a:xfrm>
            <a:off x="274320" y="5760720"/>
            <a:ext cx="914400" cy="27432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4320" y="5797296"/>
            <a:ext cx="914400" cy="201168"/>
          </a:xfrm>
          <a:prstGeom prst="rect">
            <a:avLst/>
          </a:prstGeom>
          <a:noFill/>
        </p:spPr>
        <p:txBody>
          <a:bodyPr wrap="square">
            <a:spAutoFit/>
          </a:bodyPr>
          <a:lstStyle/>
          <a:p>
            <a:pPr algn="ctr"/>
            <a:r>
              <a:rPr sz="950" b="1" i="0">
                <a:solidFill>
                  <a:srgbClr val="FFFFFF"/>
                </a:solidFill>
              </a:rPr>
              <a:t>ランク2</a:t>
            </a:r>
          </a:p>
        </p:txBody>
      </p:sp>
      <p:sp>
        <p:nvSpPr>
          <p:cNvPr id="34" name="TextBox 33"/>
          <p:cNvSpPr txBox="1"/>
          <p:nvPr/>
        </p:nvSpPr>
        <p:spPr>
          <a:xfrm>
            <a:off x="1234440" y="5797296"/>
            <a:ext cx="4434840" cy="219456"/>
          </a:xfrm>
          <a:prstGeom prst="rect">
            <a:avLst/>
          </a:prstGeom>
          <a:noFill/>
        </p:spPr>
        <p:txBody>
          <a:bodyPr wrap="square">
            <a:spAutoFit/>
          </a:bodyPr>
          <a:lstStyle/>
          <a:p>
            <a:pPr algn="l"/>
            <a:r>
              <a:rPr sz="950" b="0" i="0">
                <a:solidFill>
                  <a:srgbClr val="FFFFFF"/>
                </a:solidFill>
              </a:rPr>
              <a:t>最も重大な二次的懸念または伝播防止</a:t>
            </a:r>
          </a:p>
        </p:txBody>
      </p:sp>
      <p:sp>
        <p:nvSpPr>
          <p:cNvPr id="35" name="Rectangle 34"/>
          <p:cNvSpPr/>
          <p:nvPr/>
        </p:nvSpPr>
        <p:spPr>
          <a:xfrm>
            <a:off x="274320" y="6080759"/>
            <a:ext cx="914400" cy="2743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74320" y="6117336"/>
            <a:ext cx="914400" cy="201168"/>
          </a:xfrm>
          <a:prstGeom prst="rect">
            <a:avLst/>
          </a:prstGeom>
          <a:noFill/>
        </p:spPr>
        <p:txBody>
          <a:bodyPr wrap="square">
            <a:spAutoFit/>
          </a:bodyPr>
          <a:lstStyle/>
          <a:p>
            <a:pPr algn="ctr"/>
            <a:r>
              <a:rPr sz="950" b="1" i="0">
                <a:solidFill>
                  <a:srgbClr val="FFFFFF"/>
                </a:solidFill>
              </a:rPr>
              <a:t>ランク3</a:t>
            </a:r>
          </a:p>
        </p:txBody>
      </p:sp>
      <p:sp>
        <p:nvSpPr>
          <p:cNvPr id="37" name="TextBox 36"/>
          <p:cNvSpPr txBox="1"/>
          <p:nvPr/>
        </p:nvSpPr>
        <p:spPr>
          <a:xfrm>
            <a:off x="1234440" y="6117336"/>
            <a:ext cx="4434840" cy="219456"/>
          </a:xfrm>
          <a:prstGeom prst="rect">
            <a:avLst/>
          </a:prstGeom>
          <a:noFill/>
        </p:spPr>
        <p:txBody>
          <a:bodyPr wrap="square">
            <a:spAutoFit/>
          </a:bodyPr>
          <a:lstStyle/>
          <a:p>
            <a:pPr algn="l"/>
            <a:r>
              <a:rPr sz="950" b="0" i="0">
                <a:solidFill>
                  <a:srgbClr val="FFFFFF"/>
                </a:solidFill>
              </a:rPr>
              <a:t>寄与要因または回復力の改善</a:t>
            </a:r>
          </a:p>
        </p:txBody>
      </p:sp>
      <p:sp>
        <p:nvSpPr>
          <p:cNvPr id="38" name="Rectangle 37"/>
          <p:cNvSpPr/>
          <p:nvPr/>
        </p:nvSpPr>
        <p:spPr>
          <a:xfrm>
            <a:off x="274320" y="6400799"/>
            <a:ext cx="914400" cy="2743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74320" y="6437375"/>
            <a:ext cx="914400" cy="201168"/>
          </a:xfrm>
          <a:prstGeom prst="rect">
            <a:avLst/>
          </a:prstGeom>
          <a:noFill/>
        </p:spPr>
        <p:txBody>
          <a:bodyPr wrap="square">
            <a:spAutoFit/>
          </a:bodyPr>
          <a:lstStyle/>
          <a:p>
            <a:pPr algn="ctr"/>
            <a:r>
              <a:rPr sz="950" b="1" i="0">
                <a:solidFill>
                  <a:srgbClr val="FFFFFF"/>
                </a:solidFill>
              </a:rPr>
              <a:t>ランク4</a:t>
            </a:r>
          </a:p>
        </p:txBody>
      </p:sp>
      <p:sp>
        <p:nvSpPr>
          <p:cNvPr id="40" name="TextBox 39"/>
          <p:cNvSpPr txBox="1"/>
          <p:nvPr/>
        </p:nvSpPr>
        <p:spPr>
          <a:xfrm>
            <a:off x="1234440" y="6437375"/>
            <a:ext cx="4434840" cy="219456"/>
          </a:xfrm>
          <a:prstGeom prst="rect">
            <a:avLst/>
          </a:prstGeom>
          <a:noFill/>
        </p:spPr>
        <p:txBody>
          <a:bodyPr wrap="square">
            <a:spAutoFit/>
          </a:bodyPr>
          <a:lstStyle/>
          <a:p>
            <a:pPr algn="l"/>
            <a:r>
              <a:rPr sz="950" b="0" i="0">
                <a:solidFill>
                  <a:srgbClr val="FFFFFF"/>
                </a:solidFill>
              </a:rPr>
              <a:t>将来の再発防止策（本当に有益な場合のみ）</a:t>
            </a:r>
          </a:p>
        </p:txBody>
      </p:sp>
      <p:sp>
        <p:nvSpPr>
          <p:cNvPr id="41" name="TextBox 40"/>
          <p:cNvSpPr txBox="1"/>
          <p:nvPr/>
        </p:nvSpPr>
        <p:spPr>
          <a:xfrm>
            <a:off x="6126480" y="1536192"/>
            <a:ext cx="5760720" cy="256032"/>
          </a:xfrm>
          <a:prstGeom prst="rect">
            <a:avLst/>
          </a:prstGeom>
          <a:noFill/>
        </p:spPr>
        <p:txBody>
          <a:bodyPr wrap="square">
            <a:spAutoFit/>
          </a:bodyPr>
          <a:lstStyle/>
          <a:p>
            <a:pPr algn="l"/>
            <a:r>
              <a:rPr sz="1000" b="1" i="0">
                <a:solidFill>
                  <a:srgbClr val="2E86AB"/>
                </a:solidFill>
              </a:rPr>
              <a:t>出力: Solutionスキーマ</a:t>
            </a:r>
          </a:p>
        </p:txBody>
      </p:sp>
      <p:sp>
        <p:nvSpPr>
          <p:cNvPr id="42" name="Rectangle 41"/>
          <p:cNvSpPr/>
          <p:nvPr/>
        </p:nvSpPr>
        <p:spPr>
          <a:xfrm>
            <a:off x="6126480" y="1828800"/>
            <a:ext cx="5760720" cy="475488"/>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63640" y="1856231"/>
            <a:ext cx="2194560" cy="201168"/>
          </a:xfrm>
          <a:prstGeom prst="rect">
            <a:avLst/>
          </a:prstGeom>
          <a:noFill/>
        </p:spPr>
        <p:txBody>
          <a:bodyPr wrap="square">
            <a:spAutoFit/>
          </a:bodyPr>
          <a:lstStyle/>
          <a:p>
            <a:pPr algn="l"/>
            <a:r>
              <a:rPr sz="950" b="1" i="0">
                <a:solidFill>
                  <a:srgbClr val="F39C12"/>
                </a:solidFill>
              </a:rPr>
              <a:t>rank</a:t>
            </a:r>
          </a:p>
        </p:txBody>
      </p:sp>
      <p:sp>
        <p:nvSpPr>
          <p:cNvPr id="44" name="TextBox 43"/>
          <p:cNvSpPr txBox="1"/>
          <p:nvPr/>
        </p:nvSpPr>
        <p:spPr>
          <a:xfrm>
            <a:off x="6263640" y="2084832"/>
            <a:ext cx="5577840" cy="182880"/>
          </a:xfrm>
          <a:prstGeom prst="rect">
            <a:avLst/>
          </a:prstGeom>
          <a:noFill/>
        </p:spPr>
        <p:txBody>
          <a:bodyPr wrap="square">
            <a:spAutoFit/>
          </a:bodyPr>
          <a:lstStyle/>
          <a:p>
            <a:pPr algn="l"/>
            <a:r>
              <a:rPr sz="900" b="0" i="0">
                <a:solidFill>
                  <a:srgbClr val="FFFFFF"/>
                </a:solidFill>
              </a:rPr>
              <a:t>int 1–4  — ユニーク・連番（Pydantic検証）</a:t>
            </a:r>
          </a:p>
        </p:txBody>
      </p:sp>
      <p:sp>
        <p:nvSpPr>
          <p:cNvPr id="45" name="Rectangle 44"/>
          <p:cNvSpPr/>
          <p:nvPr/>
        </p:nvSpPr>
        <p:spPr>
          <a:xfrm>
            <a:off x="6126480" y="2340864"/>
            <a:ext cx="5760720" cy="475488"/>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63640" y="2368296"/>
            <a:ext cx="2194560" cy="201168"/>
          </a:xfrm>
          <a:prstGeom prst="rect">
            <a:avLst/>
          </a:prstGeom>
          <a:noFill/>
        </p:spPr>
        <p:txBody>
          <a:bodyPr wrap="square">
            <a:spAutoFit/>
          </a:bodyPr>
          <a:lstStyle/>
          <a:p>
            <a:pPr algn="l"/>
            <a:r>
              <a:rPr sz="950" b="1" i="0">
                <a:solidFill>
                  <a:srgbClr val="F39C12"/>
                </a:solidFill>
              </a:rPr>
              <a:t>title</a:t>
            </a:r>
          </a:p>
        </p:txBody>
      </p:sp>
      <p:sp>
        <p:nvSpPr>
          <p:cNvPr id="47" name="TextBox 46"/>
          <p:cNvSpPr txBox="1"/>
          <p:nvPr/>
        </p:nvSpPr>
        <p:spPr>
          <a:xfrm>
            <a:off x="6263640" y="2596896"/>
            <a:ext cx="5577840" cy="182880"/>
          </a:xfrm>
          <a:prstGeom prst="rect">
            <a:avLst/>
          </a:prstGeom>
          <a:noFill/>
        </p:spPr>
        <p:txBody>
          <a:bodyPr wrap="square">
            <a:spAutoFit/>
          </a:bodyPr>
          <a:lstStyle/>
          <a:p>
            <a:pPr algn="l"/>
            <a:r>
              <a:rPr sz="900" b="0" i="0">
                <a:solidFill>
                  <a:srgbClr val="FFFFFF"/>
                </a:solidFill>
              </a:rPr>
              <a:t>str  最大120文字  — 短い実行可能タイトル</a:t>
            </a:r>
          </a:p>
        </p:txBody>
      </p:sp>
      <p:sp>
        <p:nvSpPr>
          <p:cNvPr id="48" name="Rectangle 47"/>
          <p:cNvSpPr/>
          <p:nvPr/>
        </p:nvSpPr>
        <p:spPr>
          <a:xfrm>
            <a:off x="6126480" y="2852928"/>
            <a:ext cx="5760720" cy="475488"/>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63640" y="2880360"/>
            <a:ext cx="2194560" cy="201168"/>
          </a:xfrm>
          <a:prstGeom prst="rect">
            <a:avLst/>
          </a:prstGeom>
          <a:noFill/>
        </p:spPr>
        <p:txBody>
          <a:bodyPr wrap="square">
            <a:spAutoFit/>
          </a:bodyPr>
          <a:lstStyle/>
          <a:p>
            <a:pPr algn="l"/>
            <a:r>
              <a:rPr sz="950" b="1" i="0">
                <a:solidFill>
                  <a:srgbClr val="F39C12"/>
                </a:solidFill>
              </a:rPr>
              <a:t>description</a:t>
            </a:r>
          </a:p>
        </p:txBody>
      </p:sp>
      <p:sp>
        <p:nvSpPr>
          <p:cNvPr id="50" name="TextBox 49"/>
          <p:cNvSpPr txBox="1"/>
          <p:nvPr/>
        </p:nvSpPr>
        <p:spPr>
          <a:xfrm>
            <a:off x="6263640" y="3108960"/>
            <a:ext cx="5577840" cy="182880"/>
          </a:xfrm>
          <a:prstGeom prst="rect">
            <a:avLst/>
          </a:prstGeom>
          <a:noFill/>
        </p:spPr>
        <p:txBody>
          <a:bodyPr wrap="square">
            <a:spAutoFit/>
          </a:bodyPr>
          <a:lstStyle/>
          <a:p>
            <a:pPr algn="l"/>
            <a:r>
              <a:rPr sz="900" b="0" i="0">
                <a:solidFill>
                  <a:srgbClr val="FFFFFF"/>
                </a:solidFill>
              </a:rPr>
              <a:t>str  — 詳細アクション + 根本原因への対処理由</a:t>
            </a:r>
          </a:p>
        </p:txBody>
      </p:sp>
      <p:sp>
        <p:nvSpPr>
          <p:cNvPr id="51" name="Rectangle 50"/>
          <p:cNvSpPr/>
          <p:nvPr/>
        </p:nvSpPr>
        <p:spPr>
          <a:xfrm>
            <a:off x="6126480" y="3364992"/>
            <a:ext cx="5760720" cy="475488"/>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63640" y="3392424"/>
            <a:ext cx="2194560" cy="201168"/>
          </a:xfrm>
          <a:prstGeom prst="rect">
            <a:avLst/>
          </a:prstGeom>
          <a:noFill/>
        </p:spPr>
        <p:txBody>
          <a:bodyPr wrap="square">
            <a:spAutoFit/>
          </a:bodyPr>
          <a:lstStyle/>
          <a:p>
            <a:pPr algn="l"/>
            <a:r>
              <a:rPr sz="950" b="1" i="0">
                <a:solidFill>
                  <a:srgbClr val="F39C12"/>
                </a:solidFill>
              </a:rPr>
              <a:t>category</a:t>
            </a:r>
          </a:p>
        </p:txBody>
      </p:sp>
      <p:sp>
        <p:nvSpPr>
          <p:cNvPr id="53" name="TextBox 52"/>
          <p:cNvSpPr txBox="1"/>
          <p:nvPr/>
        </p:nvSpPr>
        <p:spPr>
          <a:xfrm>
            <a:off x="6263640" y="3621024"/>
            <a:ext cx="5577840" cy="182880"/>
          </a:xfrm>
          <a:prstGeom prst="rect">
            <a:avLst/>
          </a:prstGeom>
          <a:noFill/>
        </p:spPr>
        <p:txBody>
          <a:bodyPr wrap="square">
            <a:spAutoFit/>
          </a:bodyPr>
          <a:lstStyle/>
          <a:p>
            <a:pPr algn="l"/>
            <a:r>
              <a:rPr sz="900" b="0" i="0">
                <a:solidFill>
                  <a:srgbClr val="FFFFFF"/>
                </a:solidFill>
              </a:rPr>
              <a:t>config_change | code_fix | infrastructure | scaling | retry_logic | fallback | monitoring | ...</a:t>
            </a:r>
          </a:p>
        </p:txBody>
      </p:sp>
      <p:sp>
        <p:nvSpPr>
          <p:cNvPr id="54" name="Rectangle 53"/>
          <p:cNvSpPr/>
          <p:nvPr/>
        </p:nvSpPr>
        <p:spPr>
          <a:xfrm>
            <a:off x="6126480" y="3877056"/>
            <a:ext cx="5760720" cy="475488"/>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263640" y="3904488"/>
            <a:ext cx="2194560" cy="201168"/>
          </a:xfrm>
          <a:prstGeom prst="rect">
            <a:avLst/>
          </a:prstGeom>
          <a:noFill/>
        </p:spPr>
        <p:txBody>
          <a:bodyPr wrap="square">
            <a:spAutoFit/>
          </a:bodyPr>
          <a:lstStyle/>
          <a:p>
            <a:pPr algn="l"/>
            <a:r>
              <a:rPr sz="950" b="1" i="0">
                <a:solidFill>
                  <a:srgbClr val="F39C12"/>
                </a:solidFill>
              </a:rPr>
              <a:t>effort</a:t>
            </a:r>
          </a:p>
        </p:txBody>
      </p:sp>
      <p:sp>
        <p:nvSpPr>
          <p:cNvPr id="56" name="TextBox 55"/>
          <p:cNvSpPr txBox="1"/>
          <p:nvPr/>
        </p:nvSpPr>
        <p:spPr>
          <a:xfrm>
            <a:off x="6263640" y="4133088"/>
            <a:ext cx="5577840" cy="182880"/>
          </a:xfrm>
          <a:prstGeom prst="rect">
            <a:avLst/>
          </a:prstGeom>
          <a:noFill/>
        </p:spPr>
        <p:txBody>
          <a:bodyPr wrap="square">
            <a:spAutoFit/>
          </a:bodyPr>
          <a:lstStyle/>
          <a:p>
            <a:pPr algn="l"/>
            <a:r>
              <a:rPr sz="900" b="0" i="0">
                <a:solidFill>
                  <a:srgbClr val="FFFFFF"/>
                </a:solidFill>
              </a:rPr>
              <a:t>quick_fix | low | medium | high</a:t>
            </a:r>
          </a:p>
        </p:txBody>
      </p:sp>
      <p:sp>
        <p:nvSpPr>
          <p:cNvPr id="57" name="Rectangle 56"/>
          <p:cNvSpPr/>
          <p:nvPr/>
        </p:nvSpPr>
        <p:spPr>
          <a:xfrm>
            <a:off x="6126480" y="4389120"/>
            <a:ext cx="5760720" cy="475488"/>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263640" y="4416552"/>
            <a:ext cx="2194560" cy="201168"/>
          </a:xfrm>
          <a:prstGeom prst="rect">
            <a:avLst/>
          </a:prstGeom>
          <a:noFill/>
        </p:spPr>
        <p:txBody>
          <a:bodyPr wrap="square">
            <a:spAutoFit/>
          </a:bodyPr>
          <a:lstStyle/>
          <a:p>
            <a:pPr algn="l"/>
            <a:r>
              <a:rPr sz="950" b="1" i="0">
                <a:solidFill>
                  <a:srgbClr val="F39C12"/>
                </a:solidFill>
              </a:rPr>
              <a:t>addresses_root_cause</a:t>
            </a:r>
          </a:p>
        </p:txBody>
      </p:sp>
      <p:sp>
        <p:nvSpPr>
          <p:cNvPr id="59" name="TextBox 58"/>
          <p:cNvSpPr txBox="1"/>
          <p:nvPr/>
        </p:nvSpPr>
        <p:spPr>
          <a:xfrm>
            <a:off x="6263640" y="4645152"/>
            <a:ext cx="5577840" cy="182880"/>
          </a:xfrm>
          <a:prstGeom prst="rect">
            <a:avLst/>
          </a:prstGeom>
          <a:noFill/>
        </p:spPr>
        <p:txBody>
          <a:bodyPr wrap="square">
            <a:spAutoFit/>
          </a:bodyPr>
          <a:lstStyle/>
          <a:p>
            <a:pPr algn="l"/>
            <a:r>
              <a:rPr sz="900" b="0" i="0">
                <a:solidFill>
                  <a:srgbClr val="FFFFFF"/>
                </a:solidFill>
              </a:rPr>
              <a:t>bool  — 根本原因を直接修正するソリューションのみTrue</a:t>
            </a:r>
          </a:p>
        </p:txBody>
      </p:sp>
      <p:sp>
        <p:nvSpPr>
          <p:cNvPr id="60" name="Rectangle 59"/>
          <p:cNvSpPr/>
          <p:nvPr/>
        </p:nvSpPr>
        <p:spPr>
          <a:xfrm>
            <a:off x="6126480" y="4901184"/>
            <a:ext cx="5760720" cy="475488"/>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263640" y="4928616"/>
            <a:ext cx="2194560" cy="201168"/>
          </a:xfrm>
          <a:prstGeom prst="rect">
            <a:avLst/>
          </a:prstGeom>
          <a:noFill/>
        </p:spPr>
        <p:txBody>
          <a:bodyPr wrap="square">
            <a:spAutoFit/>
          </a:bodyPr>
          <a:lstStyle/>
          <a:p>
            <a:pPr algn="l"/>
            <a:r>
              <a:rPr sz="950" b="1" i="0">
                <a:solidFill>
                  <a:srgbClr val="F39C12"/>
                </a:solidFill>
              </a:rPr>
              <a:t>affected_components</a:t>
            </a:r>
          </a:p>
        </p:txBody>
      </p:sp>
      <p:sp>
        <p:nvSpPr>
          <p:cNvPr id="62" name="TextBox 61"/>
          <p:cNvSpPr txBox="1"/>
          <p:nvPr/>
        </p:nvSpPr>
        <p:spPr>
          <a:xfrm>
            <a:off x="6263640" y="5157216"/>
            <a:ext cx="5577840" cy="182880"/>
          </a:xfrm>
          <a:prstGeom prst="rect">
            <a:avLst/>
          </a:prstGeom>
          <a:noFill/>
        </p:spPr>
        <p:txBody>
          <a:bodyPr wrap="square">
            <a:spAutoFit/>
          </a:bodyPr>
          <a:lstStyle/>
          <a:p>
            <a:pPr algn="l"/>
            <a:r>
              <a:rPr sz="900" b="0" i="0">
                <a:solidFill>
                  <a:srgbClr val="FFFFFF"/>
                </a:solidFill>
              </a:rPr>
              <a:t>list[str]  — このソリューションが対象とするコンポーネント</a:t>
            </a:r>
          </a:p>
        </p:txBody>
      </p:sp>
      <p:sp>
        <p:nvSpPr>
          <p:cNvPr id="63" name="Rectangle 62"/>
          <p:cNvSpPr/>
          <p:nvPr/>
        </p:nvSpPr>
        <p:spPr>
          <a:xfrm>
            <a:off x="6126480" y="5413248"/>
            <a:ext cx="5760720" cy="475488"/>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263640" y="5440680"/>
            <a:ext cx="2194560" cy="201168"/>
          </a:xfrm>
          <a:prstGeom prst="rect">
            <a:avLst/>
          </a:prstGeom>
          <a:noFill/>
        </p:spPr>
        <p:txBody>
          <a:bodyPr wrap="square">
            <a:spAutoFit/>
          </a:bodyPr>
          <a:lstStyle/>
          <a:p>
            <a:pPr algn="l"/>
            <a:r>
              <a:rPr sz="950" b="1" i="0">
                <a:solidFill>
                  <a:srgbClr val="F39C12"/>
                </a:solidFill>
              </a:rPr>
              <a:t>expected_outcome</a:t>
            </a:r>
          </a:p>
        </p:txBody>
      </p:sp>
      <p:sp>
        <p:nvSpPr>
          <p:cNvPr id="65" name="TextBox 64"/>
          <p:cNvSpPr txBox="1"/>
          <p:nvPr/>
        </p:nvSpPr>
        <p:spPr>
          <a:xfrm>
            <a:off x="6263640" y="5669280"/>
            <a:ext cx="5577840" cy="182880"/>
          </a:xfrm>
          <a:prstGeom prst="rect">
            <a:avLst/>
          </a:prstGeom>
          <a:noFill/>
        </p:spPr>
        <p:txBody>
          <a:bodyPr wrap="square">
            <a:spAutoFit/>
          </a:bodyPr>
          <a:lstStyle/>
          <a:p>
            <a:pPr algn="l"/>
            <a:r>
              <a:rPr sz="900" b="0" i="0">
                <a:solidFill>
                  <a:srgbClr val="FFFFFF"/>
                </a:solidFill>
              </a:rPr>
              <a:t>str  — 実装後に期待される改善</a:t>
            </a:r>
          </a:p>
        </p:txBody>
      </p:sp>
      <p:sp>
        <p:nvSpPr>
          <p:cNvPr id="66" name="Rectangle 65"/>
          <p:cNvSpPr/>
          <p:nvPr/>
        </p:nvSpPr>
        <p:spPr>
          <a:xfrm>
            <a:off x="6126480" y="5925312"/>
            <a:ext cx="5760720" cy="475488"/>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263640" y="5952744"/>
            <a:ext cx="2194560" cy="201168"/>
          </a:xfrm>
          <a:prstGeom prst="rect">
            <a:avLst/>
          </a:prstGeom>
          <a:noFill/>
        </p:spPr>
        <p:txBody>
          <a:bodyPr wrap="square">
            <a:spAutoFit/>
          </a:bodyPr>
          <a:lstStyle/>
          <a:p>
            <a:pPr algn="l"/>
            <a:r>
              <a:rPr sz="950" b="1" i="0">
                <a:solidFill>
                  <a:srgbClr val="F39C12"/>
                </a:solidFill>
              </a:rPr>
              <a:t>error_ids</a:t>
            </a:r>
          </a:p>
        </p:txBody>
      </p:sp>
      <p:sp>
        <p:nvSpPr>
          <p:cNvPr id="68" name="TextBox 67"/>
          <p:cNvSpPr txBox="1"/>
          <p:nvPr/>
        </p:nvSpPr>
        <p:spPr>
          <a:xfrm>
            <a:off x="6263640" y="6181344"/>
            <a:ext cx="5577840" cy="182880"/>
          </a:xfrm>
          <a:prstGeom prst="rect">
            <a:avLst/>
          </a:prstGeom>
          <a:noFill/>
        </p:spPr>
        <p:txBody>
          <a:bodyPr wrap="square">
            <a:spAutoFit/>
          </a:bodyPr>
          <a:lstStyle/>
          <a:p>
            <a:pPr algn="l"/>
            <a:r>
              <a:rPr sz="900" b="0" i="0">
                <a:solidFill>
                  <a:srgbClr val="FFFFFF"/>
                </a:solidFill>
              </a:rPr>
              <a:t>list[str]  — ErrorAnalysisのエラーIDへの参照（ERR-001等）</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685800"/>
          </a:xfrm>
          <a:prstGeom prst="rect">
            <a:avLst/>
          </a:prstGeom>
          <a:solidFill>
            <a:srgbClr val="1A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502920"/>
          </a:xfrm>
          <a:prstGeom prst="rect">
            <a:avLst/>
          </a:prstGeom>
          <a:noFill/>
        </p:spPr>
        <p:txBody>
          <a:bodyPr wrap="square">
            <a:spAutoFit/>
          </a:bodyPr>
          <a:lstStyle/>
          <a:p>
            <a:pPr algn="l"/>
            <a:r>
              <a:rPr sz="2000" b="1" i="0">
                <a:solidFill>
                  <a:srgbClr val="2E86AB"/>
                </a:solidFill>
              </a:rPr>
              <a:t>エンドツーエンド パイプラインデータフロー</a:t>
            </a:r>
          </a:p>
        </p:txBody>
      </p:sp>
      <p:sp>
        <p:nvSpPr>
          <p:cNvPr id="4" name="TextBox 3"/>
          <p:cNvSpPr txBox="1"/>
          <p:nvPr/>
        </p:nvSpPr>
        <p:spPr>
          <a:xfrm>
            <a:off x="274320" y="713232"/>
            <a:ext cx="11430000" cy="320040"/>
          </a:xfrm>
          <a:prstGeom prst="rect">
            <a:avLst/>
          </a:prstGeom>
          <a:noFill/>
        </p:spPr>
        <p:txBody>
          <a:bodyPr wrap="square">
            <a:spAutoFit/>
          </a:bodyPr>
          <a:lstStyle/>
          <a:p>
            <a:pPr algn="l"/>
            <a:r>
              <a:rPr sz="1100" b="0" i="1">
                <a:solidFill>
                  <a:srgbClr val="CCD6E0"/>
                </a:solidFill>
              </a:rPr>
              <a:t>各エージェントが受け取るデータ、外部から取得するデータ、次のエージェントへ渡すデータ</a:t>
            </a:r>
          </a:p>
        </p:txBody>
      </p:sp>
      <p:sp>
        <p:nvSpPr>
          <p:cNvPr id="5" name="Rectangle 4"/>
          <p:cNvSpPr/>
          <p:nvPr/>
        </p:nvSpPr>
        <p:spPr>
          <a:xfrm>
            <a:off x="274320" y="914400"/>
            <a:ext cx="1920240" cy="320040"/>
          </a:xfrm>
          <a:prstGeom prst="rect">
            <a:avLst/>
          </a:prstGeom>
          <a:solidFill>
            <a:srgbClr val="1A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950976"/>
            <a:ext cx="1828800" cy="274320"/>
          </a:xfrm>
          <a:prstGeom prst="rect">
            <a:avLst/>
          </a:prstGeom>
          <a:noFill/>
        </p:spPr>
        <p:txBody>
          <a:bodyPr wrap="square">
            <a:spAutoFit/>
          </a:bodyPr>
          <a:lstStyle/>
          <a:p>
            <a:pPr algn="l"/>
            <a:r>
              <a:rPr sz="950" b="1" i="0">
                <a:solidFill>
                  <a:srgbClr val="FFFFFF"/>
                </a:solidFill>
              </a:rPr>
              <a:t>エージェント</a:t>
            </a:r>
          </a:p>
        </p:txBody>
      </p:sp>
      <p:sp>
        <p:nvSpPr>
          <p:cNvPr id="7" name="Rectangle 6"/>
          <p:cNvSpPr/>
          <p:nvPr/>
        </p:nvSpPr>
        <p:spPr>
          <a:xfrm>
            <a:off x="2194560" y="914400"/>
            <a:ext cx="2926080" cy="320040"/>
          </a:xfrm>
          <a:prstGeom prst="rect">
            <a:avLst/>
          </a:prstGeom>
          <a:solidFill>
            <a:srgbClr val="1A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67712" y="950976"/>
            <a:ext cx="2834640" cy="274320"/>
          </a:xfrm>
          <a:prstGeom prst="rect">
            <a:avLst/>
          </a:prstGeom>
          <a:noFill/>
        </p:spPr>
        <p:txBody>
          <a:bodyPr wrap="square">
            <a:spAutoFit/>
          </a:bodyPr>
          <a:lstStyle/>
          <a:p>
            <a:pPr algn="l"/>
            <a:r>
              <a:rPr sz="950" b="1" i="0">
                <a:solidFill>
                  <a:srgbClr val="FFFFFF"/>
                </a:solidFill>
              </a:rPr>
              <a:t>前エージェントから受け取る</a:t>
            </a:r>
          </a:p>
        </p:txBody>
      </p:sp>
      <p:sp>
        <p:nvSpPr>
          <p:cNvPr id="9" name="Rectangle 8"/>
          <p:cNvSpPr/>
          <p:nvPr/>
        </p:nvSpPr>
        <p:spPr>
          <a:xfrm>
            <a:off x="5120640" y="914400"/>
            <a:ext cx="3108960" cy="320040"/>
          </a:xfrm>
          <a:prstGeom prst="rect">
            <a:avLst/>
          </a:prstGeom>
          <a:solidFill>
            <a:srgbClr val="1A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93792" y="950976"/>
            <a:ext cx="3017520" cy="274320"/>
          </a:xfrm>
          <a:prstGeom prst="rect">
            <a:avLst/>
          </a:prstGeom>
          <a:noFill/>
        </p:spPr>
        <p:txBody>
          <a:bodyPr wrap="square">
            <a:spAutoFit/>
          </a:bodyPr>
          <a:lstStyle/>
          <a:p>
            <a:pPr algn="l"/>
            <a:r>
              <a:rPr sz="950" b="1" i="0">
                <a:solidFill>
                  <a:srgbClr val="FFFFFF"/>
                </a:solidFill>
              </a:rPr>
              <a:t>外部取得</a:t>
            </a:r>
          </a:p>
        </p:txBody>
      </p:sp>
      <p:sp>
        <p:nvSpPr>
          <p:cNvPr id="11" name="Rectangle 10"/>
          <p:cNvSpPr/>
          <p:nvPr/>
        </p:nvSpPr>
        <p:spPr>
          <a:xfrm>
            <a:off x="8229600" y="914400"/>
            <a:ext cx="3657600" cy="320040"/>
          </a:xfrm>
          <a:prstGeom prst="rect">
            <a:avLst/>
          </a:prstGeom>
          <a:solidFill>
            <a:srgbClr val="1A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02752" y="950976"/>
            <a:ext cx="3566160" cy="274320"/>
          </a:xfrm>
          <a:prstGeom prst="rect">
            <a:avLst/>
          </a:prstGeom>
          <a:noFill/>
        </p:spPr>
        <p:txBody>
          <a:bodyPr wrap="square">
            <a:spAutoFit/>
          </a:bodyPr>
          <a:lstStyle/>
          <a:p>
            <a:pPr algn="l"/>
            <a:r>
              <a:rPr sz="950" b="1" i="0">
                <a:solidFill>
                  <a:srgbClr val="FFFFFF"/>
                </a:solidFill>
              </a:rPr>
              <a:t>次エージェントへ渡す</a:t>
            </a:r>
          </a:p>
        </p:txBody>
      </p:sp>
      <p:sp>
        <p:nvSpPr>
          <p:cNvPr id="13" name="Rectangle 12"/>
          <p:cNvSpPr/>
          <p:nvPr/>
        </p:nvSpPr>
        <p:spPr>
          <a:xfrm>
            <a:off x="274320" y="1234440"/>
            <a:ext cx="1920240"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1508760"/>
            <a:ext cx="1920240" cy="365760"/>
          </a:xfrm>
          <a:prstGeom prst="rect">
            <a:avLst/>
          </a:prstGeom>
          <a:noFill/>
        </p:spPr>
        <p:txBody>
          <a:bodyPr wrap="square">
            <a:spAutoFit/>
          </a:bodyPr>
          <a:lstStyle/>
          <a:p>
            <a:pPr algn="ctr"/>
            <a:r>
              <a:rPr sz="1100" b="1" i="0">
                <a:solidFill>
                  <a:srgbClr val="FFFFFF"/>
                </a:solidFill>
              </a:rPr>
              <a:t>正規化</a:t>
            </a:r>
          </a:p>
        </p:txBody>
      </p:sp>
      <p:sp>
        <p:nvSpPr>
          <p:cNvPr id="15" name="Rectangle 14"/>
          <p:cNvSpPr/>
          <p:nvPr/>
        </p:nvSpPr>
        <p:spPr>
          <a:xfrm>
            <a:off x="2194560" y="1234440"/>
            <a:ext cx="2926080" cy="9601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86000" y="1307592"/>
            <a:ext cx="2743200" cy="822960"/>
          </a:xfrm>
          <a:prstGeom prst="rect">
            <a:avLst/>
          </a:prstGeom>
          <a:noFill/>
        </p:spPr>
        <p:txBody>
          <a:bodyPr wrap="square">
            <a:spAutoFit/>
          </a:bodyPr>
          <a:lstStyle/>
          <a:p>
            <a:pPr algn="l"/>
            <a:r>
              <a:rPr sz="900" b="0" i="0">
                <a:solidFill>
                  <a:srgbClr val="FFFFFF"/>
                </a:solidFill>
              </a:rPr>
              <a:t>タイムスタンプ
trace_id?
agent_name</a:t>
            </a:r>
          </a:p>
        </p:txBody>
      </p:sp>
      <p:sp>
        <p:nvSpPr>
          <p:cNvPr id="17" name="Rectangle 16"/>
          <p:cNvSpPr/>
          <p:nvPr/>
        </p:nvSpPr>
        <p:spPr>
          <a:xfrm>
            <a:off x="5120640" y="1234440"/>
            <a:ext cx="3108960" cy="960120"/>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12080" y="1307592"/>
            <a:ext cx="2926080" cy="822960"/>
          </a:xfrm>
          <a:prstGeom prst="rect">
            <a:avLst/>
          </a:prstGeom>
          <a:noFill/>
        </p:spPr>
        <p:txBody>
          <a:bodyPr wrap="square">
            <a:spAutoFit/>
          </a:bodyPr>
          <a:lstStyle/>
          <a:p>
            <a:pPr algn="l"/>
            <a:r>
              <a:rPr sz="900" b="0" i="0">
                <a:solidFill>
                  <a:srgbClr val="27AE60"/>
                </a:solidFill>
              </a:rPr>
              <a:t>Langfuse（trace_idあり）
Prometheus（trace_idなし）</a:t>
            </a:r>
          </a:p>
        </p:txBody>
      </p:sp>
      <p:sp>
        <p:nvSpPr>
          <p:cNvPr id="19" name="Rectangle 18"/>
          <p:cNvSpPr/>
          <p:nvPr/>
        </p:nvSpPr>
        <p:spPr>
          <a:xfrm>
            <a:off x="8229600" y="1234440"/>
            <a:ext cx="3749039" cy="9601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1307592"/>
            <a:ext cx="3566160" cy="822960"/>
          </a:xfrm>
          <a:prstGeom prst="rect">
            <a:avLst/>
          </a:prstGeom>
          <a:noFill/>
        </p:spPr>
        <p:txBody>
          <a:bodyPr wrap="square">
            <a:spAutoFit/>
          </a:bodyPr>
          <a:lstStyle/>
          <a:p>
            <a:pPr algn="l"/>
            <a:r>
              <a:rPr sz="900" b="0" i="0">
                <a:solidFill>
                  <a:srgbClr val="FFFFFF"/>
                </a:solidFill>
              </a:rPr>
              <a:t>NormalizedIncident
error_type、signals、
entities、confidence</a:t>
            </a:r>
          </a:p>
        </p:txBody>
      </p:sp>
      <p:sp>
        <p:nvSpPr>
          <p:cNvPr id="21" name="Rectangle 20"/>
          <p:cNvSpPr/>
          <p:nvPr/>
        </p:nvSpPr>
        <p:spPr>
          <a:xfrm>
            <a:off x="274320" y="2231136"/>
            <a:ext cx="1920240"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4320" y="2505456"/>
            <a:ext cx="1920240" cy="365760"/>
          </a:xfrm>
          <a:prstGeom prst="rect">
            <a:avLst/>
          </a:prstGeom>
          <a:noFill/>
        </p:spPr>
        <p:txBody>
          <a:bodyPr wrap="square">
            <a:spAutoFit/>
          </a:bodyPr>
          <a:lstStyle/>
          <a:p>
            <a:pPr algn="ctr"/>
            <a:r>
              <a:rPr sz="1100" b="1" i="0">
                <a:solidFill>
                  <a:srgbClr val="FFFFFF"/>
                </a:solidFill>
              </a:rPr>
              <a:t>相関分析</a:t>
            </a:r>
          </a:p>
        </p:txBody>
      </p:sp>
      <p:sp>
        <p:nvSpPr>
          <p:cNvPr id="23" name="Rectangle 22"/>
          <p:cNvSpPr/>
          <p:nvPr/>
        </p:nvSpPr>
        <p:spPr>
          <a:xfrm>
            <a:off x="2194560" y="2231136"/>
            <a:ext cx="2926080" cy="960120"/>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286000" y="2304288"/>
            <a:ext cx="2743200" cy="822960"/>
          </a:xfrm>
          <a:prstGeom prst="rect">
            <a:avLst/>
          </a:prstGeom>
          <a:noFill/>
        </p:spPr>
        <p:txBody>
          <a:bodyPr wrap="square">
            <a:spAutoFit/>
          </a:bodyPr>
          <a:lstStyle/>
          <a:p>
            <a:pPr algn="l"/>
            <a:r>
              <a:rPr sz="900" b="0" i="0">
                <a:solidFill>
                  <a:srgbClr val="FFFFFF"/>
                </a:solidFill>
              </a:rPr>
              <a:t>NormalizedIncident
trace_id?
agent_name</a:t>
            </a:r>
          </a:p>
        </p:txBody>
      </p:sp>
      <p:sp>
        <p:nvSpPr>
          <p:cNvPr id="25" name="Rectangle 24"/>
          <p:cNvSpPr/>
          <p:nvPr/>
        </p:nvSpPr>
        <p:spPr>
          <a:xfrm>
            <a:off x="5120640" y="2231136"/>
            <a:ext cx="3108960" cy="960120"/>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12080" y="2304288"/>
            <a:ext cx="2926080" cy="822960"/>
          </a:xfrm>
          <a:prstGeom prst="rect">
            <a:avLst/>
          </a:prstGeom>
          <a:noFill/>
        </p:spPr>
        <p:txBody>
          <a:bodyPr wrap="square">
            <a:spAutoFit/>
          </a:bodyPr>
          <a:lstStyle/>
          <a:p>
            <a:pPr algn="l"/>
            <a:r>
              <a:rPr sz="900" b="0" i="0">
                <a:solidFill>
                  <a:srgbClr val="FFFFFF"/>
                </a:solidFill>
              </a:rPr>
              <a:t>Prometheus（常時）
Langfuse（trace_idあり）</a:t>
            </a:r>
          </a:p>
        </p:txBody>
      </p:sp>
      <p:sp>
        <p:nvSpPr>
          <p:cNvPr id="27" name="Rectangle 26"/>
          <p:cNvSpPr/>
          <p:nvPr/>
        </p:nvSpPr>
        <p:spPr>
          <a:xfrm>
            <a:off x="8229600" y="2231136"/>
            <a:ext cx="3749039" cy="960120"/>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21040" y="2304288"/>
            <a:ext cx="3566160" cy="822960"/>
          </a:xfrm>
          <a:prstGeom prst="rect">
            <a:avLst/>
          </a:prstGeom>
          <a:noFill/>
        </p:spPr>
        <p:txBody>
          <a:bodyPr wrap="square">
            <a:spAutoFit/>
          </a:bodyPr>
          <a:lstStyle/>
          <a:p>
            <a:pPr algn="l"/>
            <a:r>
              <a:rPr sz="900" b="0" i="0">
                <a:solidFill>
                  <a:srgbClr val="FFFFFF"/>
                </a:solidFill>
              </a:rPr>
              <a:t>CorrelationResult
因果連鎖、タイムライン、
analysis_target  ←重要</a:t>
            </a:r>
          </a:p>
        </p:txBody>
      </p:sp>
      <p:sp>
        <p:nvSpPr>
          <p:cNvPr id="29" name="Rectangle 28"/>
          <p:cNvSpPr/>
          <p:nvPr/>
        </p:nvSpPr>
        <p:spPr>
          <a:xfrm>
            <a:off x="274320" y="3227832"/>
            <a:ext cx="1920240"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4320" y="3502152"/>
            <a:ext cx="1920240" cy="365760"/>
          </a:xfrm>
          <a:prstGeom prst="rect">
            <a:avLst/>
          </a:prstGeom>
          <a:noFill/>
        </p:spPr>
        <p:txBody>
          <a:bodyPr wrap="square">
            <a:spAutoFit/>
          </a:bodyPr>
          <a:lstStyle/>
          <a:p>
            <a:pPr algn="ctr"/>
            <a:r>
              <a:rPr sz="1100" b="1" i="0">
                <a:solidFill>
                  <a:srgbClr val="FFFFFF"/>
                </a:solidFill>
              </a:rPr>
              <a:t>エラー分析</a:t>
            </a:r>
          </a:p>
        </p:txBody>
      </p:sp>
      <p:sp>
        <p:nvSpPr>
          <p:cNvPr id="31" name="Rectangle 30"/>
          <p:cNvSpPr/>
          <p:nvPr/>
        </p:nvSpPr>
        <p:spPr>
          <a:xfrm>
            <a:off x="2194560" y="3227832"/>
            <a:ext cx="2926080" cy="9601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286000" y="3300984"/>
            <a:ext cx="2743200" cy="822960"/>
          </a:xfrm>
          <a:prstGeom prst="rect">
            <a:avLst/>
          </a:prstGeom>
          <a:noFill/>
        </p:spPr>
        <p:txBody>
          <a:bodyPr wrap="square">
            <a:spAutoFit/>
          </a:bodyPr>
          <a:lstStyle/>
          <a:p>
            <a:pPr algn="l"/>
            <a:r>
              <a:rPr sz="900" b="0" i="0">
                <a:solidFill>
                  <a:srgbClr val="FFFFFF"/>
                </a:solidFill>
              </a:rPr>
              <a:t>CorrelationResult
NormalizedIncident
trace_id? + agent_name</a:t>
            </a:r>
          </a:p>
        </p:txBody>
      </p:sp>
      <p:sp>
        <p:nvSpPr>
          <p:cNvPr id="33" name="Rectangle 32"/>
          <p:cNvSpPr/>
          <p:nvPr/>
        </p:nvSpPr>
        <p:spPr>
          <a:xfrm>
            <a:off x="5120640" y="3227832"/>
            <a:ext cx="3108960" cy="9601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212080" y="3300984"/>
            <a:ext cx="2926080" cy="822960"/>
          </a:xfrm>
          <a:prstGeom prst="rect">
            <a:avLst/>
          </a:prstGeom>
          <a:noFill/>
        </p:spPr>
        <p:txBody>
          <a:bodyPr wrap="square">
            <a:spAutoFit/>
          </a:bodyPr>
          <a:lstStyle/>
          <a:p>
            <a:pPr algn="l"/>
            <a:r>
              <a:rPr sz="900" b="0" i="0">
                <a:solidFill>
                  <a:srgbClr val="FFFFFF"/>
                </a:solidFill>
              </a:rPr>
              <a:t>Langfuse（Agent/Unk時）
Prometheus（Infra/Unk時）</a:t>
            </a:r>
          </a:p>
        </p:txBody>
      </p:sp>
      <p:sp>
        <p:nvSpPr>
          <p:cNvPr id="35" name="Rectangle 34"/>
          <p:cNvSpPr/>
          <p:nvPr/>
        </p:nvSpPr>
        <p:spPr>
          <a:xfrm>
            <a:off x="8229600" y="3227832"/>
            <a:ext cx="3749039" cy="9601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21040" y="3300984"/>
            <a:ext cx="3566160" cy="822960"/>
          </a:xfrm>
          <a:prstGeom prst="rect">
            <a:avLst/>
          </a:prstGeom>
          <a:noFill/>
        </p:spPr>
        <p:txBody>
          <a:bodyPr wrap="square">
            <a:spAutoFit/>
          </a:bodyPr>
          <a:lstStyle/>
          <a:p>
            <a:pPr algn="l"/>
            <a:r>
              <a:rPr sz="900" b="0" i="0">
                <a:solidFill>
                  <a:srgbClr val="FFFFFF"/>
                </a:solidFill>
              </a:rPr>
              <a:t>ErrorAnalysisResult
ID付きエラー、
パターン、rca_target</a:t>
            </a:r>
          </a:p>
        </p:txBody>
      </p:sp>
      <p:sp>
        <p:nvSpPr>
          <p:cNvPr id="37" name="Rectangle 36"/>
          <p:cNvSpPr/>
          <p:nvPr/>
        </p:nvSpPr>
        <p:spPr>
          <a:xfrm>
            <a:off x="274320" y="4224528"/>
            <a:ext cx="1920240"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4320" y="4498848"/>
            <a:ext cx="1920240" cy="365760"/>
          </a:xfrm>
          <a:prstGeom prst="rect">
            <a:avLst/>
          </a:prstGeom>
          <a:noFill/>
        </p:spPr>
        <p:txBody>
          <a:bodyPr wrap="square">
            <a:spAutoFit/>
          </a:bodyPr>
          <a:lstStyle/>
          <a:p>
            <a:pPr algn="ctr"/>
            <a:r>
              <a:rPr sz="1100" b="1" i="0">
                <a:solidFill>
                  <a:srgbClr val="FFFFFF"/>
                </a:solidFill>
              </a:rPr>
              <a:t>根本原因分析</a:t>
            </a:r>
          </a:p>
        </p:txBody>
      </p:sp>
      <p:sp>
        <p:nvSpPr>
          <p:cNvPr id="39" name="Rectangle 38"/>
          <p:cNvSpPr/>
          <p:nvPr/>
        </p:nvSpPr>
        <p:spPr>
          <a:xfrm>
            <a:off x="2194560" y="4224528"/>
            <a:ext cx="2926080" cy="960120"/>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286000" y="4297680"/>
            <a:ext cx="2743200" cy="822960"/>
          </a:xfrm>
          <a:prstGeom prst="rect">
            <a:avLst/>
          </a:prstGeom>
          <a:noFill/>
        </p:spPr>
        <p:txBody>
          <a:bodyPr wrap="square">
            <a:spAutoFit/>
          </a:bodyPr>
          <a:lstStyle/>
          <a:p>
            <a:pPr algn="l"/>
            <a:r>
              <a:rPr sz="900" b="0" i="0">
                <a:solidFill>
                  <a:srgbClr val="FFFFFF"/>
                </a:solidFill>
              </a:rPr>
              <a:t>ErrorAnalysisResult
NormalizedIncident
rca_target + trace_id?</a:t>
            </a:r>
          </a:p>
        </p:txBody>
      </p:sp>
      <p:sp>
        <p:nvSpPr>
          <p:cNvPr id="41" name="Rectangle 40"/>
          <p:cNvSpPr/>
          <p:nvPr/>
        </p:nvSpPr>
        <p:spPr>
          <a:xfrm>
            <a:off x="5120640" y="4224528"/>
            <a:ext cx="3108960" cy="960120"/>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212080" y="4297680"/>
            <a:ext cx="2926080" cy="822960"/>
          </a:xfrm>
          <a:prstGeom prst="rect">
            <a:avLst/>
          </a:prstGeom>
          <a:noFill/>
        </p:spPr>
        <p:txBody>
          <a:bodyPr wrap="square">
            <a:spAutoFit/>
          </a:bodyPr>
          <a:lstStyle/>
          <a:p>
            <a:pPr algn="l"/>
            <a:r>
              <a:rPr sz="900" b="0" i="0">
                <a:solidFill>
                  <a:srgbClr val="FFFFFF"/>
                </a:solidFill>
              </a:rPr>
              <a:t>Langfuse（Agent/Unk時）
Prometheus（Infra/Unk時）</a:t>
            </a:r>
          </a:p>
        </p:txBody>
      </p:sp>
      <p:sp>
        <p:nvSpPr>
          <p:cNvPr id="43" name="Rectangle 42"/>
          <p:cNvSpPr/>
          <p:nvPr/>
        </p:nvSpPr>
        <p:spPr>
          <a:xfrm>
            <a:off x="8229600" y="4224528"/>
            <a:ext cx="3749039" cy="960120"/>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321040" y="4297680"/>
            <a:ext cx="3566160" cy="822960"/>
          </a:xfrm>
          <a:prstGeom prst="rect">
            <a:avLst/>
          </a:prstGeom>
          <a:noFill/>
        </p:spPr>
        <p:txBody>
          <a:bodyPr wrap="square">
            <a:spAutoFit/>
          </a:bodyPr>
          <a:lstStyle/>
          <a:p>
            <a:pPr algn="l"/>
            <a:r>
              <a:rPr sz="900" b="0" i="0">
                <a:solidFill>
                  <a:srgbClr val="FFFFFF"/>
                </a:solidFill>
              </a:rPr>
              <a:t>RCAResult
root_cause、causal_chain
five_why_analysis</a:t>
            </a:r>
          </a:p>
        </p:txBody>
      </p:sp>
      <p:sp>
        <p:nvSpPr>
          <p:cNvPr id="45" name="Rectangle 44"/>
          <p:cNvSpPr/>
          <p:nvPr/>
        </p:nvSpPr>
        <p:spPr>
          <a:xfrm>
            <a:off x="274320" y="5221224"/>
            <a:ext cx="1920240"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74320" y="5495544"/>
            <a:ext cx="1920240" cy="365760"/>
          </a:xfrm>
          <a:prstGeom prst="rect">
            <a:avLst/>
          </a:prstGeom>
          <a:noFill/>
        </p:spPr>
        <p:txBody>
          <a:bodyPr wrap="square">
            <a:spAutoFit/>
          </a:bodyPr>
          <a:lstStyle/>
          <a:p>
            <a:pPr algn="ctr"/>
            <a:r>
              <a:rPr sz="1100" b="1" i="0">
                <a:solidFill>
                  <a:srgbClr val="FFFFFF"/>
                </a:solidFill>
              </a:rPr>
              <a:t>推奨</a:t>
            </a:r>
          </a:p>
        </p:txBody>
      </p:sp>
      <p:sp>
        <p:nvSpPr>
          <p:cNvPr id="47" name="Rectangle 46"/>
          <p:cNvSpPr/>
          <p:nvPr/>
        </p:nvSpPr>
        <p:spPr>
          <a:xfrm>
            <a:off x="2194560" y="5221224"/>
            <a:ext cx="2926080" cy="9601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286000" y="5294376"/>
            <a:ext cx="2743200" cy="822960"/>
          </a:xfrm>
          <a:prstGeom prst="rect">
            <a:avLst/>
          </a:prstGeom>
          <a:noFill/>
        </p:spPr>
        <p:txBody>
          <a:bodyPr wrap="square">
            <a:spAutoFit/>
          </a:bodyPr>
          <a:lstStyle/>
          <a:p>
            <a:pPr algn="l"/>
            <a:r>
              <a:rPr sz="900" b="0" i="0">
                <a:solidFill>
                  <a:srgbClr val="FFFFFF"/>
                </a:solidFill>
              </a:rPr>
              <a:t>ErrorAnalysisResult
RCAResult
agent_name</a:t>
            </a:r>
          </a:p>
        </p:txBody>
      </p:sp>
      <p:sp>
        <p:nvSpPr>
          <p:cNvPr id="49" name="Rectangle 48"/>
          <p:cNvSpPr/>
          <p:nvPr/>
        </p:nvSpPr>
        <p:spPr>
          <a:xfrm>
            <a:off x="5120640" y="5221224"/>
            <a:ext cx="3108960" cy="960120"/>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212080" y="5294376"/>
            <a:ext cx="2926080" cy="822960"/>
          </a:xfrm>
          <a:prstGeom prst="rect">
            <a:avLst/>
          </a:prstGeom>
          <a:noFill/>
        </p:spPr>
        <p:txBody>
          <a:bodyPr wrap="square">
            <a:spAutoFit/>
          </a:bodyPr>
          <a:lstStyle/>
          <a:p>
            <a:pPr algn="l"/>
            <a:r>
              <a:rPr sz="900" b="0" i="0">
                <a:solidFill>
                  <a:srgbClr val="27AE60"/>
                </a:solidFill>
              </a:rPr>
              <a:t>なし — 統合のみ</a:t>
            </a:r>
          </a:p>
        </p:txBody>
      </p:sp>
      <p:sp>
        <p:nvSpPr>
          <p:cNvPr id="51" name="Rectangle 50"/>
          <p:cNvSpPr/>
          <p:nvPr/>
        </p:nvSpPr>
        <p:spPr>
          <a:xfrm>
            <a:off x="8229600" y="5221224"/>
            <a:ext cx="3749039" cy="9601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321040" y="5294376"/>
            <a:ext cx="3566160" cy="822960"/>
          </a:xfrm>
          <a:prstGeom prst="rect">
            <a:avLst/>
          </a:prstGeom>
          <a:noFill/>
        </p:spPr>
        <p:txBody>
          <a:bodyPr wrap="square">
            <a:spAutoFit/>
          </a:bodyPr>
          <a:lstStyle/>
          <a:p>
            <a:pPr algn="l"/>
            <a:r>
              <a:rPr sz="900" b="0" i="0">
                <a:solidFill>
                  <a:srgbClr val="FFFFFF"/>
                </a:solidFill>
              </a:rPr>
              <a:t>RecommendationResult
1〜4件のランク付きソリューション
工数 + カテゴリ</a:t>
            </a:r>
          </a:p>
        </p:txBody>
      </p:sp>
      <p:sp>
        <p:nvSpPr>
          <p:cNvPr id="53" name="TextBox 52"/>
          <p:cNvSpPr txBox="1"/>
          <p:nvPr/>
        </p:nvSpPr>
        <p:spPr>
          <a:xfrm>
            <a:off x="274320" y="6327648"/>
            <a:ext cx="11612880" cy="256032"/>
          </a:xfrm>
          <a:prstGeom prst="rect">
            <a:avLst/>
          </a:prstGeom>
          <a:noFill/>
        </p:spPr>
        <p:txBody>
          <a:bodyPr wrap="square">
            <a:spAutoFit/>
          </a:bodyPr>
          <a:lstStyle/>
          <a:p>
            <a:pPr algn="ctr"/>
            <a:r>
              <a:rPr sz="900" b="0" i="1">
                <a:solidFill>
                  <a:srgbClr val="CCD6E0"/>
                </a:solidFill>
              </a:rPr>
              <a:t>外部データは必要な各エージェントが独立して取得 — 共有ログキャッシュなし。再取得により各エージェントが特定の分析タスクに対して完全かつフィルタリングされていない証拠を得られる。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685800"/>
          </a:xfrm>
          <a:prstGeom prst="rect">
            <a:avLst/>
          </a:prstGeom>
          <a:solidFill>
            <a:srgbClr val="1A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502920"/>
          </a:xfrm>
          <a:prstGeom prst="rect">
            <a:avLst/>
          </a:prstGeom>
          <a:noFill/>
        </p:spPr>
        <p:txBody>
          <a:bodyPr wrap="square">
            <a:spAutoFit/>
          </a:bodyPr>
          <a:lstStyle/>
          <a:p>
            <a:pPr algn="l"/>
            <a:r>
              <a:rPr sz="2000" b="1" i="0">
                <a:solidFill>
                  <a:srgbClr val="2E86AB"/>
                </a:solidFill>
              </a:rPr>
              <a:t>効率性と主要な設計方針</a:t>
            </a:r>
          </a:p>
        </p:txBody>
      </p:sp>
      <p:sp>
        <p:nvSpPr>
          <p:cNvPr id="4" name="Rectangle 3"/>
          <p:cNvSpPr/>
          <p:nvPr/>
        </p:nvSpPr>
        <p:spPr>
          <a:xfrm>
            <a:off x="274320" y="960120"/>
            <a:ext cx="5760720" cy="1572768"/>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960120"/>
            <a:ext cx="73152" cy="157276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1051560"/>
            <a:ext cx="5440680" cy="274320"/>
          </a:xfrm>
          <a:prstGeom prst="rect">
            <a:avLst/>
          </a:prstGeom>
          <a:noFill/>
        </p:spPr>
        <p:txBody>
          <a:bodyPr wrap="square">
            <a:spAutoFit/>
          </a:bodyPr>
          <a:lstStyle/>
          <a:p>
            <a:pPr algn="l"/>
            <a:r>
              <a:rPr sz="1100" b="1" i="0">
                <a:solidFill>
                  <a:srgbClr val="27AE60"/>
                </a:solidFill>
              </a:rPr>
              <a:t>NO_ERROR短絡処理</a:t>
            </a:r>
          </a:p>
        </p:txBody>
      </p:sp>
      <p:sp>
        <p:nvSpPr>
          <p:cNvPr id="7" name="TextBox 6"/>
          <p:cNvSpPr txBox="1"/>
          <p:nvPr/>
        </p:nvSpPr>
        <p:spPr>
          <a:xfrm>
            <a:off x="475488" y="1371600"/>
            <a:ext cx="5440680" cy="1051560"/>
          </a:xfrm>
          <a:prstGeom prst="rect">
            <a:avLst/>
          </a:prstGeom>
          <a:noFill/>
        </p:spPr>
        <p:txBody>
          <a:bodyPr wrap="square">
            <a:spAutoFit/>
          </a:bodyPr>
          <a:lstStyle/>
          <a:p>
            <a:pPr algn="l"/>
            <a:r>
              <a:rPr sz="950" b="0" i="0">
                <a:solidFill>
                  <a:srgbClr val="FFFFFF"/>
                </a:solidFill>
              </a:rPr>
              <a:t>正規化の前LLMスキャン: エラー信号未検出 → 即時返却、全5エージェントをスキップ。最も頻繁な本番ケース（正常トレース）。実行ごとに約$0.10〜$0.30を節約。</a:t>
            </a:r>
          </a:p>
        </p:txBody>
      </p:sp>
      <p:sp>
        <p:nvSpPr>
          <p:cNvPr id="8" name="Rectangle 7"/>
          <p:cNvSpPr/>
          <p:nvPr/>
        </p:nvSpPr>
        <p:spPr>
          <a:xfrm>
            <a:off x="6263640" y="960120"/>
            <a:ext cx="5760720" cy="1572768"/>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63640" y="960120"/>
            <a:ext cx="73152" cy="1572768"/>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4807" y="1051560"/>
            <a:ext cx="5440680" cy="274320"/>
          </a:xfrm>
          <a:prstGeom prst="rect">
            <a:avLst/>
          </a:prstGeom>
          <a:noFill/>
        </p:spPr>
        <p:txBody>
          <a:bodyPr wrap="square">
            <a:spAutoFit/>
          </a:bodyPr>
          <a:lstStyle/>
          <a:p>
            <a:pPr algn="l"/>
            <a:r>
              <a:rPr sz="1100" b="1" i="0">
                <a:solidFill>
                  <a:srgbClr val="2E86AB"/>
                </a:solidFill>
              </a:rPr>
              <a:t>スキーマ駆動LLM契約</a:t>
            </a:r>
          </a:p>
        </p:txBody>
      </p:sp>
      <p:sp>
        <p:nvSpPr>
          <p:cNvPr id="11" name="TextBox 10"/>
          <p:cNvSpPr txBox="1"/>
          <p:nvPr/>
        </p:nvSpPr>
        <p:spPr>
          <a:xfrm>
            <a:off x="6464807" y="1371600"/>
            <a:ext cx="5440680" cy="1051560"/>
          </a:xfrm>
          <a:prstGeom prst="rect">
            <a:avLst/>
          </a:prstGeom>
          <a:noFill/>
        </p:spPr>
        <p:txBody>
          <a:bodyPr wrap="square">
            <a:spAutoFit/>
          </a:bodyPr>
          <a:lstStyle/>
          <a:p>
            <a:pPr algn="l"/>
            <a:r>
              <a:rPr sz="950" b="0" i="0">
                <a:solidFill>
                  <a:srgbClr val="FFFFFF"/>
                </a:solidFill>
              </a:rPr>
              <a:t>全Pydanticモデルがmodel_json_schema()でJSONスキーマを自動生成し、システムプロンプトに注入。新しいフィールドの追加がLLM契約を自動更新 — 手動JSONメンテナンス不要。</a:t>
            </a:r>
          </a:p>
        </p:txBody>
      </p:sp>
      <p:sp>
        <p:nvSpPr>
          <p:cNvPr id="12" name="Rectangle 11"/>
          <p:cNvSpPr/>
          <p:nvPr/>
        </p:nvSpPr>
        <p:spPr>
          <a:xfrm>
            <a:off x="274320" y="2651760"/>
            <a:ext cx="5760720" cy="1572768"/>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2651760"/>
            <a:ext cx="73152" cy="1572768"/>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8" y="2743200"/>
            <a:ext cx="5440680" cy="274320"/>
          </a:xfrm>
          <a:prstGeom prst="rect">
            <a:avLst/>
          </a:prstGeom>
          <a:noFill/>
        </p:spPr>
        <p:txBody>
          <a:bodyPr wrap="square">
            <a:spAutoFit/>
          </a:bodyPr>
          <a:lstStyle/>
          <a:p>
            <a:pPr algn="l"/>
            <a:r>
              <a:rPr sz="1100" b="1" i="0">
                <a:solidFill>
                  <a:srgbClr val="F39C12"/>
                </a:solidFill>
              </a:rPr>
              <a:t>エラーIDクロス参照</a:t>
            </a:r>
          </a:p>
        </p:txBody>
      </p:sp>
      <p:sp>
        <p:nvSpPr>
          <p:cNvPr id="15" name="TextBox 14"/>
          <p:cNvSpPr txBox="1"/>
          <p:nvPr/>
        </p:nvSpPr>
        <p:spPr>
          <a:xfrm>
            <a:off x="475488" y="3063240"/>
            <a:ext cx="5440680" cy="1051560"/>
          </a:xfrm>
          <a:prstGeom prst="rect">
            <a:avLst/>
          </a:prstGeom>
          <a:noFill/>
        </p:spPr>
        <p:txBody>
          <a:bodyPr wrap="square">
            <a:spAutoFit/>
          </a:bodyPr>
          <a:lstStyle/>
          <a:p>
            <a:pPr algn="l"/>
            <a:r>
              <a:rPr sz="950" b="0" i="0">
                <a:solidFill>
                  <a:srgbClr val="FFFFFF"/>
                </a:solidFill>
              </a:rPr>
              <a:t>エラー分析が各個別エラーにERR-001、ERR-002...を割り当て。RCAは因果連鎖とroot_cause.error_idsでこれらのIDを参照。推奨は各solution.error_idsで参照。完全なエラーオブジェクトを再埋め込みせず軽量にリンク。</a:t>
            </a:r>
          </a:p>
        </p:txBody>
      </p:sp>
      <p:sp>
        <p:nvSpPr>
          <p:cNvPr id="16" name="Rectangle 15"/>
          <p:cNvSpPr/>
          <p:nvPr/>
        </p:nvSpPr>
        <p:spPr>
          <a:xfrm>
            <a:off x="6263640" y="2651760"/>
            <a:ext cx="5760720" cy="1572768"/>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2651760"/>
            <a:ext cx="73152" cy="157276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64807" y="2743200"/>
            <a:ext cx="5440680" cy="274320"/>
          </a:xfrm>
          <a:prstGeom prst="rect">
            <a:avLst/>
          </a:prstGeom>
          <a:noFill/>
        </p:spPr>
        <p:txBody>
          <a:bodyPr wrap="square">
            <a:spAutoFit/>
          </a:bodyPr>
          <a:lstStyle/>
          <a:p>
            <a:pPr algn="l"/>
            <a:r>
              <a:rPr sz="1100" b="1" i="0">
                <a:solidFill>
                  <a:srgbClr val="C0392B"/>
                </a:solidFill>
              </a:rPr>
              <a:t>ルーティング決定の前方伝播</a:t>
            </a:r>
          </a:p>
        </p:txBody>
      </p:sp>
      <p:sp>
        <p:nvSpPr>
          <p:cNvPr id="19" name="TextBox 18"/>
          <p:cNvSpPr txBox="1"/>
          <p:nvPr/>
        </p:nvSpPr>
        <p:spPr>
          <a:xfrm>
            <a:off x="6464807" y="3063240"/>
            <a:ext cx="5440680" cy="1051560"/>
          </a:xfrm>
          <a:prstGeom prst="rect">
            <a:avLst/>
          </a:prstGeom>
          <a:noFill/>
        </p:spPr>
        <p:txBody>
          <a:bodyPr wrap="square">
            <a:spAutoFit/>
          </a:bodyPr>
          <a:lstStyle/>
          <a:p>
            <a:pPr algn="l"/>
            <a:r>
              <a:rPr sz="950" b="0" i="0">
                <a:solidFill>
                  <a:srgbClr val="FFFFFF"/>
                </a:solidFill>
              </a:rPr>
              <a:t>相関分析がanalysis_targetを一度設定。エラー分析がrca_targetとしてパススルー。RCAがrca_targetを読み取る。各下流エージェントが状況を再分析することなくルーティング決定を継承。</a:t>
            </a:r>
          </a:p>
        </p:txBody>
      </p:sp>
      <p:sp>
        <p:nvSpPr>
          <p:cNvPr id="20" name="Rectangle 19"/>
          <p:cNvSpPr/>
          <p:nvPr/>
        </p:nvSpPr>
        <p:spPr>
          <a:xfrm>
            <a:off x="274320" y="4343400"/>
            <a:ext cx="5760720" cy="1572768"/>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74320" y="4343400"/>
            <a:ext cx="73152" cy="157276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5488" y="4434840"/>
            <a:ext cx="5440680" cy="274320"/>
          </a:xfrm>
          <a:prstGeom prst="rect">
            <a:avLst/>
          </a:prstGeom>
          <a:noFill/>
        </p:spPr>
        <p:txBody>
          <a:bodyPr wrap="square">
            <a:spAutoFit/>
          </a:bodyPr>
          <a:lstStyle/>
          <a:p>
            <a:pPr algn="l"/>
            <a:r>
              <a:rPr sz="1100" b="1" i="0">
                <a:solidFill>
                  <a:srgbClr val="27AE60"/>
                </a:solidFill>
              </a:rPr>
              <a:t>グレースフルデグラデーション</a:t>
            </a:r>
          </a:p>
        </p:txBody>
      </p:sp>
      <p:sp>
        <p:nvSpPr>
          <p:cNvPr id="23" name="TextBox 22"/>
          <p:cNvSpPr txBox="1"/>
          <p:nvPr/>
        </p:nvSpPr>
        <p:spPr>
          <a:xfrm>
            <a:off x="475488" y="4754880"/>
            <a:ext cx="5440680" cy="1051560"/>
          </a:xfrm>
          <a:prstGeom prst="rect">
            <a:avLst/>
          </a:prstGeom>
          <a:noFill/>
        </p:spPr>
        <p:txBody>
          <a:bodyPr wrap="square">
            <a:spAutoFit/>
          </a:bodyPr>
          <a:lstStyle/>
          <a:p>
            <a:pPr algn="l"/>
            <a:r>
              <a:rPr sz="950" b="0" i="0">
                <a:solidFill>
                  <a:srgbClr val="FFFFFF"/>
                </a:solidFill>
              </a:rPr>
              <a:t>全ての外部ソース障害（Langfuse・Prometheus）がWARNプレースホルダーエントリを生成。LLMにデータ欠損を明示し、信頼度を低く設定するよう指示。エージェントはエラーを返さず、パイプラインは常に完了する。</a:t>
            </a:r>
          </a:p>
        </p:txBody>
      </p:sp>
      <p:sp>
        <p:nvSpPr>
          <p:cNvPr id="24" name="Rectangle 23"/>
          <p:cNvSpPr/>
          <p:nvPr/>
        </p:nvSpPr>
        <p:spPr>
          <a:xfrm>
            <a:off x="6263640" y="4343400"/>
            <a:ext cx="5760720" cy="1572768"/>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3640" y="4343400"/>
            <a:ext cx="73152" cy="1572768"/>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64807" y="4434840"/>
            <a:ext cx="5440680" cy="274320"/>
          </a:xfrm>
          <a:prstGeom prst="rect">
            <a:avLst/>
          </a:prstGeom>
          <a:noFill/>
        </p:spPr>
        <p:txBody>
          <a:bodyPr wrap="square">
            <a:spAutoFit/>
          </a:bodyPr>
          <a:lstStyle/>
          <a:p>
            <a:pPr algn="l"/>
            <a:r>
              <a:rPr sz="1100" b="1" i="0">
                <a:solidFill>
                  <a:srgbClr val="2E86AB"/>
                </a:solidFill>
              </a:rPr>
              <a:t>5つのなぜスキーマ強制</a:t>
            </a:r>
          </a:p>
        </p:txBody>
      </p:sp>
      <p:sp>
        <p:nvSpPr>
          <p:cNvPr id="27" name="TextBox 26"/>
          <p:cNvSpPr txBox="1"/>
          <p:nvPr/>
        </p:nvSpPr>
        <p:spPr>
          <a:xfrm>
            <a:off x="6464807" y="4754880"/>
            <a:ext cx="5440680" cy="1051560"/>
          </a:xfrm>
          <a:prstGeom prst="rect">
            <a:avLst/>
          </a:prstGeom>
          <a:noFill/>
        </p:spPr>
        <p:txBody>
          <a:bodyPr wrap="square">
            <a:spAutoFit/>
          </a:bodyPr>
          <a:lstStyle/>
          <a:p>
            <a:pPr algn="l"/>
            <a:r>
              <a:rPr sz="950" b="0" i="0">
                <a:solidFill>
                  <a:srgbClr val="FFFFFF"/>
                </a:solidFill>
              </a:rPr>
              <a:t>FiveWhyAnalysis.whysがPydanticでmin_length=5、max_length=5。LLMは5ステップ未満も超過も返却不可。プロンプトが正確な連鎖方法論を定義。各ステップで証拠が必須。</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685800"/>
          </a:xfrm>
          <a:prstGeom prst="rect">
            <a:avLst/>
          </a:prstGeom>
          <a:solidFill>
            <a:srgbClr val="1A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502920"/>
          </a:xfrm>
          <a:prstGeom prst="rect">
            <a:avLst/>
          </a:prstGeom>
          <a:noFill/>
        </p:spPr>
        <p:txBody>
          <a:bodyPr wrap="square">
            <a:spAutoFit/>
          </a:bodyPr>
          <a:lstStyle/>
          <a:p>
            <a:pPr algn="l"/>
            <a:r>
              <a:rPr sz="2000" b="1" i="0">
                <a:solidFill>
                  <a:srgbClr val="2E86AB"/>
                </a:solidFill>
              </a:rPr>
              <a:t>まとめ — クイックリファレンス</a:t>
            </a:r>
          </a:p>
        </p:txBody>
      </p:sp>
      <p:sp>
        <p:nvSpPr>
          <p:cNvPr id="4" name="TextBox 3"/>
          <p:cNvSpPr txBox="1"/>
          <p:nvPr/>
        </p:nvSpPr>
        <p:spPr>
          <a:xfrm>
            <a:off x="274320" y="713232"/>
            <a:ext cx="11430000" cy="320040"/>
          </a:xfrm>
          <a:prstGeom prst="rect">
            <a:avLst/>
          </a:prstGeom>
          <a:noFill/>
        </p:spPr>
        <p:txBody>
          <a:bodyPr wrap="square">
            <a:spAutoFit/>
          </a:bodyPr>
          <a:lstStyle/>
          <a:p>
            <a:pPr algn="l"/>
            <a:r>
              <a:rPr sz="1100" b="0" i="1">
                <a:solidFill>
                  <a:srgbClr val="CCD6E0"/>
                </a:solidFill>
              </a:rPr>
              <a:t>5つのエージェントを一覧で確認</a:t>
            </a:r>
          </a:p>
        </p:txBody>
      </p:sp>
      <p:sp>
        <p:nvSpPr>
          <p:cNvPr id="5" name="Rectangle 4"/>
          <p:cNvSpPr/>
          <p:nvPr/>
        </p:nvSpPr>
        <p:spPr>
          <a:xfrm>
            <a:off x="137160" y="914400"/>
            <a:ext cx="2011680" cy="320040"/>
          </a:xfrm>
          <a:prstGeom prst="rect">
            <a:avLst/>
          </a:prstGeom>
          <a:solidFill>
            <a:srgbClr val="1A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0311" y="950976"/>
            <a:ext cx="1920240" cy="274320"/>
          </a:xfrm>
          <a:prstGeom prst="rect">
            <a:avLst/>
          </a:prstGeom>
          <a:noFill/>
        </p:spPr>
        <p:txBody>
          <a:bodyPr wrap="square">
            <a:spAutoFit/>
          </a:bodyPr>
          <a:lstStyle/>
          <a:p>
            <a:pPr algn="l"/>
            <a:r>
              <a:rPr sz="950" b="1" i="0">
                <a:solidFill>
                  <a:srgbClr val="FFFFFF"/>
                </a:solidFill>
              </a:rPr>
              <a:t>エージェント</a:t>
            </a:r>
          </a:p>
        </p:txBody>
      </p:sp>
      <p:sp>
        <p:nvSpPr>
          <p:cNvPr id="7" name="Rectangle 6"/>
          <p:cNvSpPr/>
          <p:nvPr/>
        </p:nvSpPr>
        <p:spPr>
          <a:xfrm>
            <a:off x="2148840" y="914400"/>
            <a:ext cx="1828800" cy="320040"/>
          </a:xfrm>
          <a:prstGeom prst="rect">
            <a:avLst/>
          </a:prstGeom>
          <a:solidFill>
            <a:srgbClr val="1A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21992" y="950976"/>
            <a:ext cx="1737360" cy="274320"/>
          </a:xfrm>
          <a:prstGeom prst="rect">
            <a:avLst/>
          </a:prstGeom>
          <a:noFill/>
        </p:spPr>
        <p:txBody>
          <a:bodyPr wrap="square">
            <a:spAutoFit/>
          </a:bodyPr>
          <a:lstStyle/>
          <a:p>
            <a:pPr algn="l"/>
            <a:r>
              <a:rPr sz="950" b="1" i="0">
                <a:solidFill>
                  <a:srgbClr val="FFFFFF"/>
                </a:solidFill>
              </a:rPr>
              <a:t>データソース</a:t>
            </a:r>
          </a:p>
        </p:txBody>
      </p:sp>
      <p:sp>
        <p:nvSpPr>
          <p:cNvPr id="9" name="Rectangle 8"/>
          <p:cNvSpPr/>
          <p:nvPr/>
        </p:nvSpPr>
        <p:spPr>
          <a:xfrm>
            <a:off x="3977639" y="914400"/>
            <a:ext cx="2286000" cy="320040"/>
          </a:xfrm>
          <a:prstGeom prst="rect">
            <a:avLst/>
          </a:prstGeom>
          <a:solidFill>
            <a:srgbClr val="1A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50791" y="950976"/>
            <a:ext cx="2194560" cy="274320"/>
          </a:xfrm>
          <a:prstGeom prst="rect">
            <a:avLst/>
          </a:prstGeom>
          <a:noFill/>
        </p:spPr>
        <p:txBody>
          <a:bodyPr wrap="square">
            <a:spAutoFit/>
          </a:bodyPr>
          <a:lstStyle/>
          <a:p>
            <a:pPr algn="l"/>
            <a:r>
              <a:rPr sz="950" b="1" i="0">
                <a:solidFill>
                  <a:srgbClr val="FFFFFF"/>
                </a:solidFill>
              </a:rPr>
              <a:t>主要出力</a:t>
            </a:r>
          </a:p>
        </p:txBody>
      </p:sp>
      <p:sp>
        <p:nvSpPr>
          <p:cNvPr id="11" name="Rectangle 10"/>
          <p:cNvSpPr/>
          <p:nvPr/>
        </p:nvSpPr>
        <p:spPr>
          <a:xfrm>
            <a:off x="6263640" y="914400"/>
            <a:ext cx="2286000" cy="320040"/>
          </a:xfrm>
          <a:prstGeom prst="rect">
            <a:avLst/>
          </a:prstGeom>
          <a:solidFill>
            <a:srgbClr val="1A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36792" y="950976"/>
            <a:ext cx="2194560" cy="274320"/>
          </a:xfrm>
          <a:prstGeom prst="rect">
            <a:avLst/>
          </a:prstGeom>
          <a:noFill/>
        </p:spPr>
        <p:txBody>
          <a:bodyPr wrap="square">
            <a:spAutoFit/>
          </a:bodyPr>
          <a:lstStyle/>
          <a:p>
            <a:pPr algn="l"/>
            <a:r>
              <a:rPr sz="950" b="1" i="0">
                <a:solidFill>
                  <a:srgbClr val="FFFFFF"/>
                </a:solidFill>
              </a:rPr>
              <a:t>重要フィールド</a:t>
            </a:r>
          </a:p>
        </p:txBody>
      </p:sp>
      <p:sp>
        <p:nvSpPr>
          <p:cNvPr id="13" name="Rectangle 12"/>
          <p:cNvSpPr/>
          <p:nvPr/>
        </p:nvSpPr>
        <p:spPr>
          <a:xfrm>
            <a:off x="8549640" y="914400"/>
            <a:ext cx="3474720" cy="320040"/>
          </a:xfrm>
          <a:prstGeom prst="rect">
            <a:avLst/>
          </a:prstGeom>
          <a:solidFill>
            <a:srgbClr val="1A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22792" y="950976"/>
            <a:ext cx="3383279" cy="274320"/>
          </a:xfrm>
          <a:prstGeom prst="rect">
            <a:avLst/>
          </a:prstGeom>
          <a:noFill/>
        </p:spPr>
        <p:txBody>
          <a:bodyPr wrap="square">
            <a:spAutoFit/>
          </a:bodyPr>
          <a:lstStyle/>
          <a:p>
            <a:pPr algn="l"/>
            <a:r>
              <a:rPr sz="950" b="1" i="0">
                <a:solidFill>
                  <a:srgbClr val="FFFFFF"/>
                </a:solidFill>
              </a:rPr>
              <a:t>スコープ境界</a:t>
            </a:r>
          </a:p>
        </p:txBody>
      </p:sp>
      <p:sp>
        <p:nvSpPr>
          <p:cNvPr id="15" name="Rectangle 14"/>
          <p:cNvSpPr/>
          <p:nvPr/>
        </p:nvSpPr>
        <p:spPr>
          <a:xfrm>
            <a:off x="137160" y="1234440"/>
            <a:ext cx="2011680" cy="804672"/>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0311" y="1271016"/>
            <a:ext cx="1920240" cy="758952"/>
          </a:xfrm>
          <a:prstGeom prst="rect">
            <a:avLst/>
          </a:prstGeom>
          <a:noFill/>
        </p:spPr>
        <p:txBody>
          <a:bodyPr wrap="square">
            <a:spAutoFit/>
          </a:bodyPr>
          <a:lstStyle/>
          <a:p>
            <a:pPr algn="l"/>
            <a:r>
              <a:rPr sz="950" b="0" i="0">
                <a:solidFill>
                  <a:srgbClr val="FFFFFF"/>
                </a:solidFill>
              </a:rPr>
              <a:t>1  正規化</a:t>
            </a:r>
          </a:p>
        </p:txBody>
      </p:sp>
      <p:sp>
        <p:nvSpPr>
          <p:cNvPr id="17" name="Rectangle 16"/>
          <p:cNvSpPr/>
          <p:nvPr/>
        </p:nvSpPr>
        <p:spPr>
          <a:xfrm>
            <a:off x="2148840" y="1234440"/>
            <a:ext cx="1828800" cy="804672"/>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21992" y="1271016"/>
            <a:ext cx="1737360" cy="758952"/>
          </a:xfrm>
          <a:prstGeom prst="rect">
            <a:avLst/>
          </a:prstGeom>
          <a:noFill/>
        </p:spPr>
        <p:txBody>
          <a:bodyPr wrap="square">
            <a:spAutoFit/>
          </a:bodyPr>
          <a:lstStyle/>
          <a:p>
            <a:pPr algn="l"/>
            <a:r>
              <a:rPr sz="950" b="0" i="0">
                <a:solidFill>
                  <a:srgbClr val="FFFFFF"/>
                </a:solidFill>
              </a:rPr>
              <a:t>Langfuse または Prometheus
（相互排他 — 両方同時は使用しない）</a:t>
            </a:r>
          </a:p>
        </p:txBody>
      </p:sp>
      <p:sp>
        <p:nvSpPr>
          <p:cNvPr id="19" name="Rectangle 18"/>
          <p:cNvSpPr/>
          <p:nvPr/>
        </p:nvSpPr>
        <p:spPr>
          <a:xfrm>
            <a:off x="3977639" y="1234440"/>
            <a:ext cx="2286000" cy="804672"/>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50791" y="1271016"/>
            <a:ext cx="2194560" cy="758952"/>
          </a:xfrm>
          <a:prstGeom prst="rect">
            <a:avLst/>
          </a:prstGeom>
          <a:noFill/>
        </p:spPr>
        <p:txBody>
          <a:bodyPr wrap="square">
            <a:spAutoFit/>
          </a:bodyPr>
          <a:lstStyle/>
          <a:p>
            <a:pPr algn="l"/>
            <a:r>
              <a:rPr sz="950" b="0" i="0">
                <a:solidFill>
                  <a:srgbClr val="FFFFFF"/>
                </a:solidFill>
              </a:rPr>
              <a:t>NormalizedIncident</a:t>
            </a:r>
          </a:p>
        </p:txBody>
      </p:sp>
      <p:sp>
        <p:nvSpPr>
          <p:cNvPr id="21" name="Rectangle 20"/>
          <p:cNvSpPr/>
          <p:nvPr/>
        </p:nvSpPr>
        <p:spPr>
          <a:xfrm>
            <a:off x="6263640" y="1234440"/>
            <a:ext cx="2286000" cy="804672"/>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36792" y="1271016"/>
            <a:ext cx="2194560" cy="758952"/>
          </a:xfrm>
          <a:prstGeom prst="rect">
            <a:avLst/>
          </a:prstGeom>
          <a:noFill/>
        </p:spPr>
        <p:txBody>
          <a:bodyPr wrap="square">
            <a:spAutoFit/>
          </a:bodyPr>
          <a:lstStyle/>
          <a:p>
            <a:pPr algn="l"/>
            <a:r>
              <a:rPr sz="950" b="0" i="0">
                <a:solidFill>
                  <a:srgbClr val="FFFFFF"/>
                </a:solidFill>
              </a:rPr>
              <a:t>error_type</a:t>
            </a:r>
          </a:p>
        </p:txBody>
      </p:sp>
      <p:sp>
        <p:nvSpPr>
          <p:cNvPr id="23" name="Rectangle 22"/>
          <p:cNvSpPr/>
          <p:nvPr/>
        </p:nvSpPr>
        <p:spPr>
          <a:xfrm>
            <a:off x="8549640" y="1234440"/>
            <a:ext cx="3474720" cy="804672"/>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22792" y="1271016"/>
            <a:ext cx="3383279" cy="758952"/>
          </a:xfrm>
          <a:prstGeom prst="rect">
            <a:avLst/>
          </a:prstGeom>
          <a:noFill/>
        </p:spPr>
        <p:txBody>
          <a:bodyPr wrap="square">
            <a:spAutoFit/>
          </a:bodyPr>
          <a:lstStyle/>
          <a:p>
            <a:pPr algn="l"/>
            <a:r>
              <a:rPr sz="950" b="0" i="0">
                <a:solidFill>
                  <a:srgbClr val="FFFFFF"/>
                </a:solidFill>
              </a:rPr>
              <a:t>エラー分類のみ — 因果関係なし</a:t>
            </a:r>
          </a:p>
        </p:txBody>
      </p:sp>
      <p:sp>
        <p:nvSpPr>
          <p:cNvPr id="25" name="Rectangle 24"/>
          <p:cNvSpPr/>
          <p:nvPr/>
        </p:nvSpPr>
        <p:spPr>
          <a:xfrm>
            <a:off x="137160" y="2057400"/>
            <a:ext cx="2011680" cy="804672"/>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10311" y="2093976"/>
            <a:ext cx="1920240" cy="758952"/>
          </a:xfrm>
          <a:prstGeom prst="rect">
            <a:avLst/>
          </a:prstGeom>
          <a:noFill/>
        </p:spPr>
        <p:txBody>
          <a:bodyPr wrap="square">
            <a:spAutoFit/>
          </a:bodyPr>
          <a:lstStyle/>
          <a:p>
            <a:pPr algn="l"/>
            <a:r>
              <a:rPr sz="950" b="0" i="0">
                <a:solidFill>
                  <a:srgbClr val="FFFFFF"/>
                </a:solidFill>
              </a:rPr>
              <a:t>2  相関分析</a:t>
            </a:r>
          </a:p>
        </p:txBody>
      </p:sp>
      <p:sp>
        <p:nvSpPr>
          <p:cNvPr id="27" name="Rectangle 26"/>
          <p:cNvSpPr/>
          <p:nvPr/>
        </p:nvSpPr>
        <p:spPr>
          <a:xfrm>
            <a:off x="2148840" y="2057400"/>
            <a:ext cx="1828800" cy="804672"/>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221992" y="2093976"/>
            <a:ext cx="1737360" cy="758952"/>
          </a:xfrm>
          <a:prstGeom prst="rect">
            <a:avLst/>
          </a:prstGeom>
          <a:noFill/>
        </p:spPr>
        <p:txBody>
          <a:bodyPr wrap="square">
            <a:spAutoFit/>
          </a:bodyPr>
          <a:lstStyle/>
          <a:p>
            <a:pPr algn="l"/>
            <a:r>
              <a:rPr sz="950" b="0" i="0">
                <a:solidFill>
                  <a:srgbClr val="FFFFFF"/>
                </a:solidFill>
              </a:rPr>
              <a:t>Prometheus（常時）
+ Langfuse（trace_idあり）</a:t>
            </a:r>
          </a:p>
        </p:txBody>
      </p:sp>
      <p:sp>
        <p:nvSpPr>
          <p:cNvPr id="29" name="Rectangle 28"/>
          <p:cNvSpPr/>
          <p:nvPr/>
        </p:nvSpPr>
        <p:spPr>
          <a:xfrm>
            <a:off x="3977639" y="2057400"/>
            <a:ext cx="2286000" cy="804672"/>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050791" y="2093976"/>
            <a:ext cx="2194560" cy="758952"/>
          </a:xfrm>
          <a:prstGeom prst="rect">
            <a:avLst/>
          </a:prstGeom>
          <a:noFill/>
        </p:spPr>
        <p:txBody>
          <a:bodyPr wrap="square">
            <a:spAutoFit/>
          </a:bodyPr>
          <a:lstStyle/>
          <a:p>
            <a:pPr algn="l"/>
            <a:r>
              <a:rPr sz="950" b="0" i="0">
                <a:solidFill>
                  <a:srgbClr val="FFFFFF"/>
                </a:solidFill>
              </a:rPr>
              <a:t>CorrelationResult</a:t>
            </a:r>
          </a:p>
        </p:txBody>
      </p:sp>
      <p:sp>
        <p:nvSpPr>
          <p:cNvPr id="31" name="Rectangle 30"/>
          <p:cNvSpPr/>
          <p:nvPr/>
        </p:nvSpPr>
        <p:spPr>
          <a:xfrm>
            <a:off x="6263640" y="2057400"/>
            <a:ext cx="2286000" cy="804672"/>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36792" y="2093976"/>
            <a:ext cx="2194560" cy="758952"/>
          </a:xfrm>
          <a:prstGeom prst="rect">
            <a:avLst/>
          </a:prstGeom>
          <a:noFill/>
        </p:spPr>
        <p:txBody>
          <a:bodyPr wrap="square">
            <a:spAutoFit/>
          </a:bodyPr>
          <a:lstStyle/>
          <a:p>
            <a:pPr algn="l"/>
            <a:r>
              <a:rPr sz="950" b="0" i="0">
                <a:solidFill>
                  <a:srgbClr val="FFFFFF"/>
                </a:solidFill>
              </a:rPr>
              <a:t>analysis_target</a:t>
            </a:r>
          </a:p>
        </p:txBody>
      </p:sp>
      <p:sp>
        <p:nvSpPr>
          <p:cNvPr id="33" name="Rectangle 32"/>
          <p:cNvSpPr/>
          <p:nvPr/>
        </p:nvSpPr>
        <p:spPr>
          <a:xfrm>
            <a:off x="8549640" y="2057400"/>
            <a:ext cx="3474720" cy="804672"/>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22792" y="2093976"/>
            <a:ext cx="3383279" cy="758952"/>
          </a:xfrm>
          <a:prstGeom prst="rect">
            <a:avLst/>
          </a:prstGeom>
          <a:noFill/>
        </p:spPr>
        <p:txBody>
          <a:bodyPr wrap="square">
            <a:spAutoFit/>
          </a:bodyPr>
          <a:lstStyle/>
          <a:p>
            <a:pPr algn="l"/>
            <a:r>
              <a:rPr sz="950" b="0" i="0">
                <a:solidFill>
                  <a:srgbClr val="FFFFFF"/>
                </a:solidFill>
              </a:rPr>
              <a:t>因果グラフのみ — エラー詳細なし</a:t>
            </a:r>
          </a:p>
        </p:txBody>
      </p:sp>
      <p:sp>
        <p:nvSpPr>
          <p:cNvPr id="35" name="Rectangle 34"/>
          <p:cNvSpPr/>
          <p:nvPr/>
        </p:nvSpPr>
        <p:spPr>
          <a:xfrm>
            <a:off x="137160" y="2880360"/>
            <a:ext cx="2011680" cy="804672"/>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10311" y="2916936"/>
            <a:ext cx="1920240" cy="758952"/>
          </a:xfrm>
          <a:prstGeom prst="rect">
            <a:avLst/>
          </a:prstGeom>
          <a:noFill/>
        </p:spPr>
        <p:txBody>
          <a:bodyPr wrap="square">
            <a:spAutoFit/>
          </a:bodyPr>
          <a:lstStyle/>
          <a:p>
            <a:pPr algn="l"/>
            <a:r>
              <a:rPr sz="950" b="0" i="0">
                <a:solidFill>
                  <a:srgbClr val="FFFFFF"/>
                </a:solidFill>
              </a:rPr>
              <a:t>3  エラー分析</a:t>
            </a:r>
          </a:p>
        </p:txBody>
      </p:sp>
      <p:sp>
        <p:nvSpPr>
          <p:cNvPr id="37" name="Rectangle 36"/>
          <p:cNvSpPr/>
          <p:nvPr/>
        </p:nvSpPr>
        <p:spPr>
          <a:xfrm>
            <a:off x="2148840" y="2880360"/>
            <a:ext cx="1828800" cy="804672"/>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221992" y="2916936"/>
            <a:ext cx="1737360" cy="758952"/>
          </a:xfrm>
          <a:prstGeom prst="rect">
            <a:avLst/>
          </a:prstGeom>
          <a:noFill/>
        </p:spPr>
        <p:txBody>
          <a:bodyPr wrap="square">
            <a:spAutoFit/>
          </a:bodyPr>
          <a:lstStyle/>
          <a:p>
            <a:pPr algn="l"/>
            <a:r>
              <a:rPr sz="950" b="0" i="0">
                <a:solidFill>
                  <a:srgbClr val="FFFFFF"/>
                </a:solidFill>
              </a:rPr>
              <a:t>Langfuse または Prometheus
（analysis_targetに基づく）</a:t>
            </a:r>
          </a:p>
        </p:txBody>
      </p:sp>
      <p:sp>
        <p:nvSpPr>
          <p:cNvPr id="39" name="Rectangle 38"/>
          <p:cNvSpPr/>
          <p:nvPr/>
        </p:nvSpPr>
        <p:spPr>
          <a:xfrm>
            <a:off x="3977639" y="2880360"/>
            <a:ext cx="2286000" cy="804672"/>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050791" y="2916936"/>
            <a:ext cx="2194560" cy="758952"/>
          </a:xfrm>
          <a:prstGeom prst="rect">
            <a:avLst/>
          </a:prstGeom>
          <a:noFill/>
        </p:spPr>
        <p:txBody>
          <a:bodyPr wrap="square">
            <a:spAutoFit/>
          </a:bodyPr>
          <a:lstStyle/>
          <a:p>
            <a:pPr algn="l"/>
            <a:r>
              <a:rPr sz="950" b="0" i="0">
                <a:solidFill>
                  <a:srgbClr val="FFFFFF"/>
                </a:solidFill>
              </a:rPr>
              <a:t>ErrorAnalysisResult</a:t>
            </a:r>
          </a:p>
        </p:txBody>
      </p:sp>
      <p:sp>
        <p:nvSpPr>
          <p:cNvPr id="41" name="Rectangle 40"/>
          <p:cNvSpPr/>
          <p:nvPr/>
        </p:nvSpPr>
        <p:spPr>
          <a:xfrm>
            <a:off x="6263640" y="2880360"/>
            <a:ext cx="2286000" cy="804672"/>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36792" y="2916936"/>
            <a:ext cx="2194560" cy="758952"/>
          </a:xfrm>
          <a:prstGeom prst="rect">
            <a:avLst/>
          </a:prstGeom>
          <a:noFill/>
        </p:spPr>
        <p:txBody>
          <a:bodyPr wrap="square">
            <a:spAutoFit/>
          </a:bodyPr>
          <a:lstStyle/>
          <a:p>
            <a:pPr algn="l"/>
            <a:r>
              <a:rPr sz="950" b="0" i="0">
                <a:solidFill>
                  <a:srgbClr val="FFFFFF"/>
                </a:solidFill>
              </a:rPr>
              <a:t>error_ids (ERR-N)</a:t>
            </a:r>
          </a:p>
        </p:txBody>
      </p:sp>
      <p:sp>
        <p:nvSpPr>
          <p:cNvPr id="43" name="Rectangle 42"/>
          <p:cNvSpPr/>
          <p:nvPr/>
        </p:nvSpPr>
        <p:spPr>
          <a:xfrm>
            <a:off x="8549640" y="2880360"/>
            <a:ext cx="3474720" cy="804672"/>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22792" y="2916936"/>
            <a:ext cx="3383279" cy="758952"/>
          </a:xfrm>
          <a:prstGeom prst="rect">
            <a:avLst/>
          </a:prstGeom>
          <a:noFill/>
        </p:spPr>
        <p:txBody>
          <a:bodyPr wrap="square">
            <a:spAutoFit/>
          </a:bodyPr>
          <a:lstStyle/>
          <a:p>
            <a:pPr algn="l"/>
            <a:r>
              <a:rPr sz="950" b="0" i="0">
                <a:solidFill>
                  <a:srgbClr val="FFFFFF"/>
                </a:solidFill>
              </a:rPr>
              <a:t>エラー抽出のみ — 根本原因なし</a:t>
            </a:r>
          </a:p>
        </p:txBody>
      </p:sp>
      <p:sp>
        <p:nvSpPr>
          <p:cNvPr id="45" name="Rectangle 44"/>
          <p:cNvSpPr/>
          <p:nvPr/>
        </p:nvSpPr>
        <p:spPr>
          <a:xfrm>
            <a:off x="137160" y="3703320"/>
            <a:ext cx="2011680" cy="804672"/>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10311" y="3739896"/>
            <a:ext cx="1920240" cy="758952"/>
          </a:xfrm>
          <a:prstGeom prst="rect">
            <a:avLst/>
          </a:prstGeom>
          <a:noFill/>
        </p:spPr>
        <p:txBody>
          <a:bodyPr wrap="square">
            <a:spAutoFit/>
          </a:bodyPr>
          <a:lstStyle/>
          <a:p>
            <a:pPr algn="l"/>
            <a:r>
              <a:rPr sz="950" b="0" i="0">
                <a:solidFill>
                  <a:srgbClr val="FFFFFF"/>
                </a:solidFill>
              </a:rPr>
              <a:t>4  根本原因分析</a:t>
            </a:r>
          </a:p>
        </p:txBody>
      </p:sp>
      <p:sp>
        <p:nvSpPr>
          <p:cNvPr id="47" name="Rectangle 46"/>
          <p:cNvSpPr/>
          <p:nvPr/>
        </p:nvSpPr>
        <p:spPr>
          <a:xfrm>
            <a:off x="2148840" y="3703320"/>
            <a:ext cx="1828800" cy="804672"/>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221992" y="3739896"/>
            <a:ext cx="1737360" cy="758952"/>
          </a:xfrm>
          <a:prstGeom prst="rect">
            <a:avLst/>
          </a:prstGeom>
          <a:noFill/>
        </p:spPr>
        <p:txBody>
          <a:bodyPr wrap="square">
            <a:spAutoFit/>
          </a:bodyPr>
          <a:lstStyle/>
          <a:p>
            <a:pPr algn="l"/>
            <a:r>
              <a:rPr sz="950" b="0" i="0">
                <a:solidFill>
                  <a:srgbClr val="FFFFFF"/>
                </a:solidFill>
              </a:rPr>
              <a:t>Langfuse または Prometheus
（rca_targetに基づく）</a:t>
            </a:r>
          </a:p>
        </p:txBody>
      </p:sp>
      <p:sp>
        <p:nvSpPr>
          <p:cNvPr id="49" name="Rectangle 48"/>
          <p:cNvSpPr/>
          <p:nvPr/>
        </p:nvSpPr>
        <p:spPr>
          <a:xfrm>
            <a:off x="3977639" y="3703320"/>
            <a:ext cx="2286000" cy="804672"/>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050791" y="3739896"/>
            <a:ext cx="2194560" cy="758952"/>
          </a:xfrm>
          <a:prstGeom prst="rect">
            <a:avLst/>
          </a:prstGeom>
          <a:noFill/>
        </p:spPr>
        <p:txBody>
          <a:bodyPr wrap="square">
            <a:spAutoFit/>
          </a:bodyPr>
          <a:lstStyle/>
          <a:p>
            <a:pPr algn="l"/>
            <a:r>
              <a:rPr sz="950" b="0" i="0">
                <a:solidFill>
                  <a:srgbClr val="FFFFFF"/>
                </a:solidFill>
              </a:rPr>
              <a:t>RCAResult</a:t>
            </a:r>
          </a:p>
        </p:txBody>
      </p:sp>
      <p:sp>
        <p:nvSpPr>
          <p:cNvPr id="51" name="Rectangle 50"/>
          <p:cNvSpPr/>
          <p:nvPr/>
        </p:nvSpPr>
        <p:spPr>
          <a:xfrm>
            <a:off x="6263640" y="3703320"/>
            <a:ext cx="2286000" cy="804672"/>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36792" y="3739896"/>
            <a:ext cx="2194560" cy="758952"/>
          </a:xfrm>
          <a:prstGeom prst="rect">
            <a:avLst/>
          </a:prstGeom>
          <a:noFill/>
        </p:spPr>
        <p:txBody>
          <a:bodyPr wrap="square">
            <a:spAutoFit/>
          </a:bodyPr>
          <a:lstStyle/>
          <a:p>
            <a:pPr algn="l"/>
            <a:r>
              <a:rPr sz="950" b="0" i="0">
                <a:solidFill>
                  <a:srgbClr val="FFFFFF"/>
                </a:solidFill>
              </a:rPr>
              <a:t>five_why_analysis</a:t>
            </a:r>
          </a:p>
        </p:txBody>
      </p:sp>
      <p:sp>
        <p:nvSpPr>
          <p:cNvPr id="53" name="Rectangle 52"/>
          <p:cNvSpPr/>
          <p:nvPr/>
        </p:nvSpPr>
        <p:spPr>
          <a:xfrm>
            <a:off x="8549640" y="3703320"/>
            <a:ext cx="3474720" cy="804672"/>
          </a:xfrm>
          <a:prstGeom prst="rect">
            <a:avLst/>
          </a:prstGeom>
          <a:solidFill>
            <a:srgbClr val="1E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622792" y="3739896"/>
            <a:ext cx="3383279" cy="758952"/>
          </a:xfrm>
          <a:prstGeom prst="rect">
            <a:avLst/>
          </a:prstGeom>
          <a:noFill/>
        </p:spPr>
        <p:txBody>
          <a:bodyPr wrap="square">
            <a:spAutoFit/>
          </a:bodyPr>
          <a:lstStyle/>
          <a:p>
            <a:pPr algn="l"/>
            <a:r>
              <a:rPr sz="950" b="0" i="0">
                <a:solidFill>
                  <a:srgbClr val="FFFFFF"/>
                </a:solidFill>
              </a:rPr>
              <a:t>根本原因のみ — 推奨なし</a:t>
            </a:r>
          </a:p>
        </p:txBody>
      </p:sp>
      <p:sp>
        <p:nvSpPr>
          <p:cNvPr id="55" name="Rectangle 54"/>
          <p:cNvSpPr/>
          <p:nvPr/>
        </p:nvSpPr>
        <p:spPr>
          <a:xfrm>
            <a:off x="137160" y="4526280"/>
            <a:ext cx="2011680" cy="804672"/>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10311" y="4562856"/>
            <a:ext cx="1920240" cy="758952"/>
          </a:xfrm>
          <a:prstGeom prst="rect">
            <a:avLst/>
          </a:prstGeom>
          <a:noFill/>
        </p:spPr>
        <p:txBody>
          <a:bodyPr wrap="square">
            <a:spAutoFit/>
          </a:bodyPr>
          <a:lstStyle/>
          <a:p>
            <a:pPr algn="l"/>
            <a:r>
              <a:rPr sz="950" b="0" i="0">
                <a:solidFill>
                  <a:srgbClr val="FFFFFF"/>
                </a:solidFill>
              </a:rPr>
              <a:t>5  推奨</a:t>
            </a:r>
          </a:p>
        </p:txBody>
      </p:sp>
      <p:sp>
        <p:nvSpPr>
          <p:cNvPr id="57" name="Rectangle 56"/>
          <p:cNvSpPr/>
          <p:nvPr/>
        </p:nvSpPr>
        <p:spPr>
          <a:xfrm>
            <a:off x="2148840" y="4526280"/>
            <a:ext cx="1828800" cy="804672"/>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221992" y="4562856"/>
            <a:ext cx="1737360" cy="758952"/>
          </a:xfrm>
          <a:prstGeom prst="rect">
            <a:avLst/>
          </a:prstGeom>
          <a:noFill/>
        </p:spPr>
        <p:txBody>
          <a:bodyPr wrap="square">
            <a:spAutoFit/>
          </a:bodyPr>
          <a:lstStyle/>
          <a:p>
            <a:pPr algn="l"/>
            <a:r>
              <a:rPr sz="950" b="0" i="0">
                <a:solidFill>
                  <a:srgbClr val="FFFFFF"/>
                </a:solidFill>
              </a:rPr>
              <a:t>なし
（統合のみ）</a:t>
            </a:r>
          </a:p>
        </p:txBody>
      </p:sp>
      <p:sp>
        <p:nvSpPr>
          <p:cNvPr id="59" name="Rectangle 58"/>
          <p:cNvSpPr/>
          <p:nvPr/>
        </p:nvSpPr>
        <p:spPr>
          <a:xfrm>
            <a:off x="3977639" y="4526280"/>
            <a:ext cx="2286000" cy="804672"/>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050791" y="4562856"/>
            <a:ext cx="2194560" cy="758952"/>
          </a:xfrm>
          <a:prstGeom prst="rect">
            <a:avLst/>
          </a:prstGeom>
          <a:noFill/>
        </p:spPr>
        <p:txBody>
          <a:bodyPr wrap="square">
            <a:spAutoFit/>
          </a:bodyPr>
          <a:lstStyle/>
          <a:p>
            <a:pPr algn="l"/>
            <a:r>
              <a:rPr sz="950" b="0" i="0">
                <a:solidFill>
                  <a:srgbClr val="FFFFFF"/>
                </a:solidFill>
              </a:rPr>
              <a:t>RecommendationResult</a:t>
            </a:r>
          </a:p>
        </p:txBody>
      </p:sp>
      <p:sp>
        <p:nvSpPr>
          <p:cNvPr id="61" name="Rectangle 60"/>
          <p:cNvSpPr/>
          <p:nvPr/>
        </p:nvSpPr>
        <p:spPr>
          <a:xfrm>
            <a:off x="6263640" y="4526280"/>
            <a:ext cx="2286000" cy="804672"/>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336792" y="4562856"/>
            <a:ext cx="2194560" cy="758952"/>
          </a:xfrm>
          <a:prstGeom prst="rect">
            <a:avLst/>
          </a:prstGeom>
          <a:noFill/>
        </p:spPr>
        <p:txBody>
          <a:bodyPr wrap="square">
            <a:spAutoFit/>
          </a:bodyPr>
          <a:lstStyle/>
          <a:p>
            <a:pPr algn="l"/>
            <a:r>
              <a:rPr sz="950" b="0" i="0">
                <a:solidFill>
                  <a:srgbClr val="FFFFFF"/>
                </a:solidFill>
              </a:rPr>
              <a:t>rank + error_ids</a:t>
            </a:r>
          </a:p>
        </p:txBody>
      </p:sp>
      <p:sp>
        <p:nvSpPr>
          <p:cNvPr id="63" name="Rectangle 62"/>
          <p:cNvSpPr/>
          <p:nvPr/>
        </p:nvSpPr>
        <p:spPr>
          <a:xfrm>
            <a:off x="8549640" y="4526280"/>
            <a:ext cx="3474720" cy="804672"/>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622792" y="4562856"/>
            <a:ext cx="3383279" cy="758952"/>
          </a:xfrm>
          <a:prstGeom prst="rect">
            <a:avLst/>
          </a:prstGeom>
          <a:noFill/>
        </p:spPr>
        <p:txBody>
          <a:bodyPr wrap="square">
            <a:spAutoFit/>
          </a:bodyPr>
          <a:lstStyle/>
          <a:p>
            <a:pPr algn="l"/>
            <a:r>
              <a:rPr sz="950" b="0" i="0">
                <a:solidFill>
                  <a:srgbClr val="FFFFFF"/>
                </a:solidFill>
              </a:rPr>
              <a:t>ソリューションのみ — 診断なし</a:t>
            </a:r>
          </a:p>
        </p:txBody>
      </p:sp>
      <p:sp>
        <p:nvSpPr>
          <p:cNvPr id="65" name="Rectangle 64"/>
          <p:cNvSpPr/>
          <p:nvPr/>
        </p:nvSpPr>
        <p:spPr>
          <a:xfrm>
            <a:off x="137160" y="5440680"/>
            <a:ext cx="1965960" cy="11887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37160" y="5504688"/>
            <a:ext cx="1965960" cy="594360"/>
          </a:xfrm>
          <a:prstGeom prst="rect">
            <a:avLst/>
          </a:prstGeom>
          <a:noFill/>
        </p:spPr>
        <p:txBody>
          <a:bodyPr wrap="square">
            <a:spAutoFit/>
          </a:bodyPr>
          <a:lstStyle/>
          <a:p>
            <a:pPr algn="ctr"/>
            <a:r>
              <a:rPr sz="3000" b="1" i="0">
                <a:solidFill>
                  <a:srgbClr val="2E86AB"/>
                </a:solidFill>
              </a:rPr>
              <a:t>5</a:t>
            </a:r>
          </a:p>
        </p:txBody>
      </p:sp>
      <p:sp>
        <p:nvSpPr>
          <p:cNvPr id="67" name="TextBox 66"/>
          <p:cNvSpPr txBox="1"/>
          <p:nvPr/>
        </p:nvSpPr>
        <p:spPr>
          <a:xfrm>
            <a:off x="137160" y="6099048"/>
            <a:ext cx="1965960" cy="457200"/>
          </a:xfrm>
          <a:prstGeom prst="rect">
            <a:avLst/>
          </a:prstGeom>
          <a:noFill/>
        </p:spPr>
        <p:txBody>
          <a:bodyPr wrap="square">
            <a:spAutoFit/>
          </a:bodyPr>
          <a:lstStyle/>
          <a:p>
            <a:pPr algn="ctr"/>
            <a:r>
              <a:rPr sz="850" b="0" i="0">
                <a:solidFill>
                  <a:srgbClr val="CCD6E0"/>
                </a:solidFill>
              </a:rPr>
              <a:t>パイプライン内
エージェント数</a:t>
            </a:r>
          </a:p>
        </p:txBody>
      </p:sp>
      <p:sp>
        <p:nvSpPr>
          <p:cNvPr id="68" name="Rectangle 67"/>
          <p:cNvSpPr/>
          <p:nvPr/>
        </p:nvSpPr>
        <p:spPr>
          <a:xfrm>
            <a:off x="2148840" y="5440680"/>
            <a:ext cx="1965960" cy="11887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148840" y="5504688"/>
            <a:ext cx="1965960" cy="594360"/>
          </a:xfrm>
          <a:prstGeom prst="rect">
            <a:avLst/>
          </a:prstGeom>
          <a:noFill/>
        </p:spPr>
        <p:txBody>
          <a:bodyPr wrap="square">
            <a:spAutoFit/>
          </a:bodyPr>
          <a:lstStyle/>
          <a:p>
            <a:pPr algn="ctr"/>
            <a:r>
              <a:rPr sz="3000" b="1" i="0">
                <a:solidFill>
                  <a:srgbClr val="2E86AB"/>
                </a:solidFill>
              </a:rPr>
              <a:t>2</a:t>
            </a:r>
          </a:p>
        </p:txBody>
      </p:sp>
      <p:sp>
        <p:nvSpPr>
          <p:cNvPr id="70" name="TextBox 69"/>
          <p:cNvSpPr txBox="1"/>
          <p:nvPr/>
        </p:nvSpPr>
        <p:spPr>
          <a:xfrm>
            <a:off x="2148840" y="6099048"/>
            <a:ext cx="1965960" cy="457200"/>
          </a:xfrm>
          <a:prstGeom prst="rect">
            <a:avLst/>
          </a:prstGeom>
          <a:noFill/>
        </p:spPr>
        <p:txBody>
          <a:bodyPr wrap="square">
            <a:spAutoFit/>
          </a:bodyPr>
          <a:lstStyle/>
          <a:p>
            <a:pPr algn="ctr"/>
            <a:r>
              <a:rPr sz="850" b="0" i="0">
                <a:solidFill>
                  <a:srgbClr val="CCD6E0"/>
                </a:solidFill>
              </a:rPr>
              <a:t>外部データソース
（Langfuse + Prometheus）</a:t>
            </a:r>
          </a:p>
        </p:txBody>
      </p:sp>
      <p:sp>
        <p:nvSpPr>
          <p:cNvPr id="71" name="Rectangle 70"/>
          <p:cNvSpPr/>
          <p:nvPr/>
        </p:nvSpPr>
        <p:spPr>
          <a:xfrm>
            <a:off x="4160520" y="5440680"/>
            <a:ext cx="1965960" cy="11887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160520" y="5504688"/>
            <a:ext cx="1965960" cy="594360"/>
          </a:xfrm>
          <a:prstGeom prst="rect">
            <a:avLst/>
          </a:prstGeom>
          <a:noFill/>
        </p:spPr>
        <p:txBody>
          <a:bodyPr wrap="square">
            <a:spAutoFit/>
          </a:bodyPr>
          <a:lstStyle/>
          <a:p>
            <a:pPr algn="ctr"/>
            <a:r>
              <a:rPr sz="3000" b="1" i="0">
                <a:solidFill>
                  <a:srgbClr val="2E86AB"/>
                </a:solidFill>
              </a:rPr>
              <a:t>6</a:t>
            </a:r>
          </a:p>
        </p:txBody>
      </p:sp>
      <p:sp>
        <p:nvSpPr>
          <p:cNvPr id="73" name="TextBox 72"/>
          <p:cNvSpPr txBox="1"/>
          <p:nvPr/>
        </p:nvSpPr>
        <p:spPr>
          <a:xfrm>
            <a:off x="4160520" y="6099048"/>
            <a:ext cx="1965960" cy="457200"/>
          </a:xfrm>
          <a:prstGeom prst="rect">
            <a:avLst/>
          </a:prstGeom>
          <a:noFill/>
        </p:spPr>
        <p:txBody>
          <a:bodyPr wrap="square">
            <a:spAutoFit/>
          </a:bodyPr>
          <a:lstStyle/>
          <a:p>
            <a:pPr algn="ctr"/>
            <a:r>
              <a:rPr sz="850" b="0" i="0">
                <a:solidFill>
                  <a:srgbClr val="CCD6E0"/>
                </a:solidFill>
              </a:rPr>
              <a:t>Prometheusフェッチ毎の
PromQLクエリ数</a:t>
            </a:r>
          </a:p>
        </p:txBody>
      </p:sp>
      <p:sp>
        <p:nvSpPr>
          <p:cNvPr id="74" name="Rectangle 73"/>
          <p:cNvSpPr/>
          <p:nvPr/>
        </p:nvSpPr>
        <p:spPr>
          <a:xfrm>
            <a:off x="6172200" y="5440680"/>
            <a:ext cx="1965960" cy="11887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172200" y="5504688"/>
            <a:ext cx="1965960" cy="594360"/>
          </a:xfrm>
          <a:prstGeom prst="rect">
            <a:avLst/>
          </a:prstGeom>
          <a:noFill/>
        </p:spPr>
        <p:txBody>
          <a:bodyPr wrap="square">
            <a:spAutoFit/>
          </a:bodyPr>
          <a:lstStyle/>
          <a:p>
            <a:pPr algn="ctr"/>
            <a:r>
              <a:rPr sz="3000" b="1" i="0">
                <a:solidFill>
                  <a:srgbClr val="2E86AB"/>
                </a:solidFill>
              </a:rPr>
              <a:t>0.0</a:t>
            </a:r>
          </a:p>
        </p:txBody>
      </p:sp>
      <p:sp>
        <p:nvSpPr>
          <p:cNvPr id="76" name="TextBox 75"/>
          <p:cNvSpPr txBox="1"/>
          <p:nvPr/>
        </p:nvSpPr>
        <p:spPr>
          <a:xfrm>
            <a:off x="6172200" y="6099048"/>
            <a:ext cx="1965960" cy="457200"/>
          </a:xfrm>
          <a:prstGeom prst="rect">
            <a:avLst/>
          </a:prstGeom>
          <a:noFill/>
        </p:spPr>
        <p:txBody>
          <a:bodyPr wrap="square">
            <a:spAutoFit/>
          </a:bodyPr>
          <a:lstStyle/>
          <a:p>
            <a:pPr algn="ctr"/>
            <a:r>
              <a:rPr sz="850" b="0" i="0">
                <a:solidFill>
                  <a:srgbClr val="CCD6E0"/>
                </a:solidFill>
              </a:rPr>
              <a:t>LLM temperature
（決定論的出力）</a:t>
            </a:r>
          </a:p>
        </p:txBody>
      </p:sp>
      <p:sp>
        <p:nvSpPr>
          <p:cNvPr id="77" name="Rectangle 76"/>
          <p:cNvSpPr/>
          <p:nvPr/>
        </p:nvSpPr>
        <p:spPr>
          <a:xfrm>
            <a:off x="8183880" y="5440680"/>
            <a:ext cx="1965960" cy="11887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183880" y="5504688"/>
            <a:ext cx="1965960" cy="594360"/>
          </a:xfrm>
          <a:prstGeom prst="rect">
            <a:avLst/>
          </a:prstGeom>
          <a:noFill/>
        </p:spPr>
        <p:txBody>
          <a:bodyPr wrap="square">
            <a:spAutoFit/>
          </a:bodyPr>
          <a:lstStyle/>
          <a:p>
            <a:pPr algn="ctr"/>
            <a:r>
              <a:rPr sz="3000" b="1" i="0">
                <a:solidFill>
                  <a:srgbClr val="2E86AB"/>
                </a:solidFill>
              </a:rPr>
              <a:t>5</a:t>
            </a:r>
          </a:p>
        </p:txBody>
      </p:sp>
      <p:sp>
        <p:nvSpPr>
          <p:cNvPr id="79" name="TextBox 78"/>
          <p:cNvSpPr txBox="1"/>
          <p:nvPr/>
        </p:nvSpPr>
        <p:spPr>
          <a:xfrm>
            <a:off x="8183880" y="6099048"/>
            <a:ext cx="1965960" cy="457200"/>
          </a:xfrm>
          <a:prstGeom prst="rect">
            <a:avLst/>
          </a:prstGeom>
          <a:noFill/>
        </p:spPr>
        <p:txBody>
          <a:bodyPr wrap="square">
            <a:spAutoFit/>
          </a:bodyPr>
          <a:lstStyle/>
          <a:p>
            <a:pPr algn="ctr"/>
            <a:r>
              <a:rPr sz="850" b="0" i="0">
                <a:solidFill>
                  <a:srgbClr val="CCD6E0"/>
                </a:solidFill>
              </a:rPr>
              <a:t>5つのなぜ分析の
WhyStepレスポンス数</a:t>
            </a:r>
          </a:p>
        </p:txBody>
      </p:sp>
      <p:sp>
        <p:nvSpPr>
          <p:cNvPr id="80" name="Rectangle 79"/>
          <p:cNvSpPr/>
          <p:nvPr/>
        </p:nvSpPr>
        <p:spPr>
          <a:xfrm>
            <a:off x="10195560" y="5440680"/>
            <a:ext cx="1965960" cy="1188720"/>
          </a:xfrm>
          <a:prstGeom prst="rect">
            <a:avLst/>
          </a:prstGeom>
          <a:solidFill>
            <a:srgbClr val="162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0195560" y="5504688"/>
            <a:ext cx="1965960" cy="594360"/>
          </a:xfrm>
          <a:prstGeom prst="rect">
            <a:avLst/>
          </a:prstGeom>
          <a:noFill/>
        </p:spPr>
        <p:txBody>
          <a:bodyPr wrap="square">
            <a:spAutoFit/>
          </a:bodyPr>
          <a:lstStyle/>
          <a:p>
            <a:pPr algn="ctr"/>
            <a:r>
              <a:rPr sz="3000" b="1" i="0">
                <a:solidFill>
                  <a:srgbClr val="2E86AB"/>
                </a:solidFill>
              </a:rPr>
              <a:t>1–4</a:t>
            </a:r>
          </a:p>
        </p:txBody>
      </p:sp>
      <p:sp>
        <p:nvSpPr>
          <p:cNvPr id="82" name="TextBox 81"/>
          <p:cNvSpPr txBox="1"/>
          <p:nvPr/>
        </p:nvSpPr>
        <p:spPr>
          <a:xfrm>
            <a:off x="10195560" y="6099048"/>
            <a:ext cx="1965960" cy="457200"/>
          </a:xfrm>
          <a:prstGeom prst="rect">
            <a:avLst/>
          </a:prstGeom>
          <a:noFill/>
        </p:spPr>
        <p:txBody>
          <a:bodyPr wrap="square">
            <a:spAutoFit/>
          </a:bodyPr>
          <a:lstStyle/>
          <a:p>
            <a:pPr algn="ctr"/>
            <a:r>
              <a:rPr sz="850" b="0" i="0">
                <a:solidFill>
                  <a:srgbClr val="CCD6E0"/>
                </a:solidFill>
              </a:rPr>
              <a:t>推奨エージェントの
ランク付きソリューション数</a:t>
            </a:r>
          </a:p>
        </p:txBody>
      </p:sp>
      <p:sp>
        <p:nvSpPr>
          <p:cNvPr id="83" name="TextBox 82"/>
          <p:cNvSpPr txBox="1"/>
          <p:nvPr/>
        </p:nvSpPr>
        <p:spPr>
          <a:xfrm>
            <a:off x="274320" y="6565392"/>
            <a:ext cx="11612880" cy="256032"/>
          </a:xfrm>
          <a:prstGeom prst="rect">
            <a:avLst/>
          </a:prstGeom>
          <a:noFill/>
        </p:spPr>
        <p:txBody>
          <a:bodyPr wrap="square">
            <a:spAutoFit/>
          </a:bodyPr>
          <a:lstStyle/>
          <a:p>
            <a:pPr algn="ctr"/>
            <a:r>
              <a:rPr sz="900" b="0" i="1">
                <a:solidFill>
                  <a:srgbClr val="CCD6E0"/>
                </a:solidFill>
              </a:rPr>
              <a:t>調査パイプライン  ·  マルチエージェント可観測性システム  ·  Prodapt AIチーム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